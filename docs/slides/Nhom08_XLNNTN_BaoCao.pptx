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Số bản ghi</c:v>
                </c:pt>
              </c:strCache>
            </c:strRef>
          </c:tx>
          <c:spPr>
            <a:solidFill>
              <a:srgbClr val="2C5F8A"/>
            </a:solidFill>
            <a:effectLst/>
          </c:spPr>
          <c:invertIfNegative val="0"/>
          <c:dLbls>
            <c:numFmt formatCode="[&gt;=1000]#&quot;.&quot;##0;0" sourceLinked="0"/>
            <c:txPr>
              <a:bodyPr/>
              <a:lstStyle/>
              <a:p>
                <a:pPr>
                  <a:defRPr b="0" i="0" strike="noStrike" sz="1400" u="none">
                    <a:solidFill>
                      <a:srgbClr val="16222C"/>
                    </a:solidFill>
                    <a:latin typeface="Calibri"/>
                  </a:defRPr>
                </a:pPr>
              </a:p>
            </c:txPr>
            <c:showLegendKey val="0"/>
            <c:showVal val="1"/>
            <c:showCatName val="0"/>
            <c:showSerName val="0"/>
            <c:showPercent val="0"/>
            <c:showBubbleSize val="0"/>
            <c:showLeaderLines val="0"/>
          </c:dLbls>
          <c:cat>
            <c:multiLvlStrRef>
              <c:f>Sheet1!$A$2:$A$7</c:f>
              <c:multiLvlStrCache>
                <c:ptCount val="6"/>
                <c:lvl>
                  <c:pt idx="0">
                    <c:v>Câu hỏi nằm ở cả train và test</c:v>
                  </c:pt>
                  <c:pt idx="1">
                    <c:v>Câu hỏi bị lặp dòng</c:v>
                  </c:pt>
                  <c:pt idx="2">
                    <c:v>Điều luật rỗng nội dung</c:v>
                  </c:pt>
                  <c:pt idx="3">
                    <c:v>Điều bị nhân đôi vì nd và nđ</c:v>
                  </c:pt>
                  <c:pt idx="4">
                    <c:v>Cặp điều luật gần trùng</c:v>
                  </c:pt>
                  <c:pt idx="5">
                    <c:v>Điều luật trùng nguyên văn</c:v>
                  </c:pt>
                </c:lvl>
              </c:multiLvlStrCache>
            </c:multiLvlStrRef>
          </c:cat>
          <c:val>
            <c:numRef>
              <c:f>Sheet1!$B$2:$B$7</c:f>
              <c:numCache>
                <c:formatCode>General</c:formatCode>
                <c:ptCount val="6"/>
                <c:pt idx="0">
                  <c:v>26</c:v>
                </c:pt>
                <c:pt idx="1">
                  <c:v>93</c:v>
                </c:pt>
                <c:pt idx="2">
                  <c:v>357</c:v>
                </c:pt>
                <c:pt idx="3">
                  <c:v>780</c:v>
                </c:pt>
                <c:pt idx="4">
                  <c:v>871</c:v>
                </c:pt>
                <c:pt idx="5">
                  <c:v>1467</c:v>
                </c:pt>
              </c:numCache>
            </c:numRef>
          </c:val>
        </c:ser>
        <c:dLbls>
          <c:numFmt formatCode="[&gt;=1000]#&quot;.&quot;##0;0" sourceLinked="0"/>
          <c:txPr>
            <a:bodyPr/>
            <a:lstStyle/>
            <a:p>
              <a:pPr>
                <a:defRPr b="0" i="0" strike="noStrike" sz="1400" u="none">
                  <a:solidFill>
                    <a:srgbClr val="16222C"/>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16222C"/>
                </a:solidFill>
                <a:latin typeface="Calibri"/>
              </a:defRPr>
            </a:pPr>
            <a:endParaRPr lang="en-US"/>
          </a:p>
        </c:txPr>
        <c:crossAx val="2094734552"/>
        <c:crosses val="autoZero"/>
        <c:auto val="1"/>
        <c:lblAlgn val="ctr"/>
        <c:noMultiLvlLbl val="1"/>
      </c:catAx>
      <c:valAx>
        <c:axId val="2094734552"/>
        <c:scaling>
          <c:logBase val="10"/>
          <c:orientation val="minMax"/>
          <c:min val="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 140 từ, vừa mô hình</c:v>
                </c:pt>
              </c:strCache>
            </c:strRef>
          </c:tx>
          <c:spPr>
            <a:solidFill>
              <a:srgbClr val="2C5F8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Sheet1!$A$2:$A$52</c:f>
              <c:multiLvlStrCache>
                <c:ptCount val="51"/>
                <c:lvl>
                  <c:pt idx="0">
                    <c:v>0</c:v>
                  </c:pt>
                  <c:pt idx="1">
                    <c:v>20</c:v>
                  </c:pt>
                  <c:pt idx="2">
                    <c:v>40</c:v>
                  </c:pt>
                  <c:pt idx="3">
                    <c:v>60</c:v>
                  </c:pt>
                  <c:pt idx="4">
                    <c:v>80</c:v>
                  </c:pt>
                  <c:pt idx="5">
                    <c:v>100</c:v>
                  </c:pt>
                  <c:pt idx="6">
                    <c:v>120</c:v>
                  </c:pt>
                  <c:pt idx="7">
                    <c:v>140</c:v>
                  </c:pt>
                  <c:pt idx="8">
                    <c:v>160</c:v>
                  </c:pt>
                  <c:pt idx="9">
                    <c:v>180</c:v>
                  </c:pt>
                  <c:pt idx="10">
                    <c:v>200</c:v>
                  </c:pt>
                  <c:pt idx="11">
                    <c:v>220</c:v>
                  </c:pt>
                  <c:pt idx="12">
                    <c:v>240</c:v>
                  </c:pt>
                  <c:pt idx="13">
                    <c:v>260</c:v>
                  </c:pt>
                  <c:pt idx="14">
                    <c:v>280</c:v>
                  </c:pt>
                  <c:pt idx="15">
                    <c:v>300</c:v>
                  </c:pt>
                  <c:pt idx="16">
                    <c:v>320</c:v>
                  </c:pt>
                  <c:pt idx="17">
                    <c:v>340</c:v>
                  </c:pt>
                  <c:pt idx="18">
                    <c:v>360</c:v>
                  </c:pt>
                  <c:pt idx="19">
                    <c:v>380</c:v>
                  </c:pt>
                  <c:pt idx="20">
                    <c:v>400</c:v>
                  </c:pt>
                  <c:pt idx="21">
                    <c:v>420</c:v>
                  </c:pt>
                  <c:pt idx="22">
                    <c:v>440</c:v>
                  </c:pt>
                  <c:pt idx="23">
                    <c:v>460</c:v>
                  </c:pt>
                  <c:pt idx="24">
                    <c:v>480</c:v>
                  </c:pt>
                  <c:pt idx="25">
                    <c:v>500</c:v>
                  </c:pt>
                  <c:pt idx="26">
                    <c:v>520</c:v>
                  </c:pt>
                  <c:pt idx="27">
                    <c:v>540</c:v>
                  </c:pt>
                  <c:pt idx="28">
                    <c:v>560</c:v>
                  </c:pt>
                  <c:pt idx="29">
                    <c:v>580</c:v>
                  </c:pt>
                  <c:pt idx="30">
                    <c:v>600</c:v>
                  </c:pt>
                  <c:pt idx="31">
                    <c:v>620</c:v>
                  </c:pt>
                  <c:pt idx="32">
                    <c:v>640</c:v>
                  </c:pt>
                  <c:pt idx="33">
                    <c:v>660</c:v>
                  </c:pt>
                  <c:pt idx="34">
                    <c:v>680</c:v>
                  </c:pt>
                  <c:pt idx="35">
                    <c:v>700</c:v>
                  </c:pt>
                  <c:pt idx="36">
                    <c:v>720</c:v>
                  </c:pt>
                  <c:pt idx="37">
                    <c:v>740</c:v>
                  </c:pt>
                  <c:pt idx="38">
                    <c:v>760</c:v>
                  </c:pt>
                  <c:pt idx="39">
                    <c:v>780</c:v>
                  </c:pt>
                  <c:pt idx="40">
                    <c:v>800</c:v>
                  </c:pt>
                  <c:pt idx="41">
                    <c:v>820</c:v>
                  </c:pt>
                  <c:pt idx="42">
                    <c:v>840</c:v>
                  </c:pt>
                  <c:pt idx="43">
                    <c:v>860</c:v>
                  </c:pt>
                  <c:pt idx="44">
                    <c:v>880</c:v>
                  </c:pt>
                  <c:pt idx="45">
                    <c:v>900</c:v>
                  </c:pt>
                  <c:pt idx="46">
                    <c:v>920</c:v>
                  </c:pt>
                  <c:pt idx="47">
                    <c:v>940</c:v>
                  </c:pt>
                  <c:pt idx="48">
                    <c:v>960</c:v>
                  </c:pt>
                  <c:pt idx="49">
                    <c:v>980</c:v>
                  </c:pt>
                  <c:pt idx="50">
                    <c:v>≥1.000</c:v>
                  </c:pt>
                </c:lvl>
              </c:multiLvlStrCache>
            </c:multiLvlStrRef>
          </c:cat>
          <c:val>
            <c:numRef>
              <c:f>Sheet1!$B$2:$B$52</c:f>
              <c:numCache>
                <c:formatCode>General</c:formatCode>
                <c:ptCount val="51"/>
                <c:pt idx="0">
                  <c:v>1106</c:v>
                </c:pt>
                <c:pt idx="1">
                  <c:v>2478</c:v>
                </c:pt>
                <c:pt idx="2">
                  <c:v>3985</c:v>
                </c:pt>
                <c:pt idx="3">
                  <c:v>4211</c:v>
                </c:pt>
                <c:pt idx="4">
                  <c:v>4148</c:v>
                </c:pt>
                <c:pt idx="5">
                  <c:v>3927</c:v>
                </c:pt>
                <c:pt idx="6">
                  <c:v>3882</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numCache>
            </c:numRef>
          </c:val>
        </c:ser>
        <c:ser>
          <c:idx val="1"/>
          <c:order val="1"/>
          <c:tx>
            <c:strRef>
              <c:f>Sheet1!$C$1</c:f>
              <c:strCache>
                <c:ptCount val="1"/>
                <c:pt idx="0">
                  <c:v>&gt; 140 từ, bị cắt nếu không chia</c:v>
                </c:pt>
              </c:strCache>
            </c:strRef>
          </c:tx>
          <c:spPr>
            <a:solidFill>
              <a:srgbClr val="A820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Sheet1!$A$2:$A$52</c:f>
              <c:multiLvlStrCache>
                <c:ptCount val="51"/>
                <c:lvl>
                  <c:pt idx="0">
                    <c:v>0</c:v>
                  </c:pt>
                  <c:pt idx="1">
                    <c:v>20</c:v>
                  </c:pt>
                  <c:pt idx="2">
                    <c:v>40</c:v>
                  </c:pt>
                  <c:pt idx="3">
                    <c:v>60</c:v>
                  </c:pt>
                  <c:pt idx="4">
                    <c:v>80</c:v>
                  </c:pt>
                  <c:pt idx="5">
                    <c:v>100</c:v>
                  </c:pt>
                  <c:pt idx="6">
                    <c:v>120</c:v>
                  </c:pt>
                  <c:pt idx="7">
                    <c:v>140</c:v>
                  </c:pt>
                  <c:pt idx="8">
                    <c:v>160</c:v>
                  </c:pt>
                  <c:pt idx="9">
                    <c:v>180</c:v>
                  </c:pt>
                  <c:pt idx="10">
                    <c:v>200</c:v>
                  </c:pt>
                  <c:pt idx="11">
                    <c:v>220</c:v>
                  </c:pt>
                  <c:pt idx="12">
                    <c:v>240</c:v>
                  </c:pt>
                  <c:pt idx="13">
                    <c:v>260</c:v>
                  </c:pt>
                  <c:pt idx="14">
                    <c:v>280</c:v>
                  </c:pt>
                  <c:pt idx="15">
                    <c:v>300</c:v>
                  </c:pt>
                  <c:pt idx="16">
                    <c:v>320</c:v>
                  </c:pt>
                  <c:pt idx="17">
                    <c:v>340</c:v>
                  </c:pt>
                  <c:pt idx="18">
                    <c:v>360</c:v>
                  </c:pt>
                  <c:pt idx="19">
                    <c:v>380</c:v>
                  </c:pt>
                  <c:pt idx="20">
                    <c:v>400</c:v>
                  </c:pt>
                  <c:pt idx="21">
                    <c:v>420</c:v>
                  </c:pt>
                  <c:pt idx="22">
                    <c:v>440</c:v>
                  </c:pt>
                  <c:pt idx="23">
                    <c:v>460</c:v>
                  </c:pt>
                  <c:pt idx="24">
                    <c:v>480</c:v>
                  </c:pt>
                  <c:pt idx="25">
                    <c:v>500</c:v>
                  </c:pt>
                  <c:pt idx="26">
                    <c:v>520</c:v>
                  </c:pt>
                  <c:pt idx="27">
                    <c:v>540</c:v>
                  </c:pt>
                  <c:pt idx="28">
                    <c:v>560</c:v>
                  </c:pt>
                  <c:pt idx="29">
                    <c:v>580</c:v>
                  </c:pt>
                  <c:pt idx="30">
                    <c:v>600</c:v>
                  </c:pt>
                  <c:pt idx="31">
                    <c:v>620</c:v>
                  </c:pt>
                  <c:pt idx="32">
                    <c:v>640</c:v>
                  </c:pt>
                  <c:pt idx="33">
                    <c:v>660</c:v>
                  </c:pt>
                  <c:pt idx="34">
                    <c:v>680</c:v>
                  </c:pt>
                  <c:pt idx="35">
                    <c:v>700</c:v>
                  </c:pt>
                  <c:pt idx="36">
                    <c:v>720</c:v>
                  </c:pt>
                  <c:pt idx="37">
                    <c:v>740</c:v>
                  </c:pt>
                  <c:pt idx="38">
                    <c:v>760</c:v>
                  </c:pt>
                  <c:pt idx="39">
                    <c:v>780</c:v>
                  </c:pt>
                  <c:pt idx="40">
                    <c:v>800</c:v>
                  </c:pt>
                  <c:pt idx="41">
                    <c:v>820</c:v>
                  </c:pt>
                  <c:pt idx="42">
                    <c:v>840</c:v>
                  </c:pt>
                  <c:pt idx="43">
                    <c:v>860</c:v>
                  </c:pt>
                  <c:pt idx="44">
                    <c:v>880</c:v>
                  </c:pt>
                  <c:pt idx="45">
                    <c:v>900</c:v>
                  </c:pt>
                  <c:pt idx="46">
                    <c:v>920</c:v>
                  </c:pt>
                  <c:pt idx="47">
                    <c:v>940</c:v>
                  </c:pt>
                  <c:pt idx="48">
                    <c:v>960</c:v>
                  </c:pt>
                  <c:pt idx="49">
                    <c:v>980</c:v>
                  </c:pt>
                  <c:pt idx="50">
                    <c:v>≥1.000</c:v>
                  </c:pt>
                </c:lvl>
              </c:multiLvlStrCache>
            </c:multiLvlStrRef>
          </c:cat>
          <c:val>
            <c:numRef>
              <c:f>Sheet1!$C$2:$C$52</c:f>
              <c:numCache>
                <c:formatCode>General</c:formatCode>
                <c:ptCount val="51"/>
                <c:pt idx="0">
                  <c:v>0</c:v>
                </c:pt>
                <c:pt idx="1">
                  <c:v>0</c:v>
                </c:pt>
                <c:pt idx="2">
                  <c:v>0</c:v>
                </c:pt>
                <c:pt idx="3">
                  <c:v>0</c:v>
                </c:pt>
                <c:pt idx="4">
                  <c:v>0</c:v>
                </c:pt>
                <c:pt idx="5">
                  <c:v>0</c:v>
                </c:pt>
                <c:pt idx="6">
                  <c:v>0</c:v>
                </c:pt>
                <c:pt idx="7">
                  <c:v>3299</c:v>
                </c:pt>
                <c:pt idx="8">
                  <c:v>3110</c:v>
                </c:pt>
                <c:pt idx="9">
                  <c:v>2766</c:v>
                </c:pt>
                <c:pt idx="10">
                  <c:v>2423</c:v>
                </c:pt>
                <c:pt idx="11">
                  <c:v>2229</c:v>
                </c:pt>
                <c:pt idx="12">
                  <c:v>1951</c:v>
                </c:pt>
                <c:pt idx="13">
                  <c:v>1836</c:v>
                </c:pt>
                <c:pt idx="14">
                  <c:v>1536</c:v>
                </c:pt>
                <c:pt idx="15">
                  <c:v>1506</c:v>
                </c:pt>
                <c:pt idx="16">
                  <c:v>1356</c:v>
                </c:pt>
                <c:pt idx="17">
                  <c:v>1175</c:v>
                </c:pt>
                <c:pt idx="18">
                  <c:v>1120</c:v>
                </c:pt>
                <c:pt idx="19">
                  <c:v>1027</c:v>
                </c:pt>
                <c:pt idx="20">
                  <c:v>962</c:v>
                </c:pt>
                <c:pt idx="21">
                  <c:v>851</c:v>
                </c:pt>
                <c:pt idx="22">
                  <c:v>775</c:v>
                </c:pt>
                <c:pt idx="23">
                  <c:v>710</c:v>
                </c:pt>
                <c:pt idx="24">
                  <c:v>650</c:v>
                </c:pt>
                <c:pt idx="25">
                  <c:v>565</c:v>
                </c:pt>
                <c:pt idx="26">
                  <c:v>498</c:v>
                </c:pt>
                <c:pt idx="27">
                  <c:v>497</c:v>
                </c:pt>
                <c:pt idx="28">
                  <c:v>436</c:v>
                </c:pt>
                <c:pt idx="29">
                  <c:v>429</c:v>
                </c:pt>
                <c:pt idx="30">
                  <c:v>381</c:v>
                </c:pt>
                <c:pt idx="31">
                  <c:v>361</c:v>
                </c:pt>
                <c:pt idx="32">
                  <c:v>327</c:v>
                </c:pt>
                <c:pt idx="33">
                  <c:v>328</c:v>
                </c:pt>
                <c:pt idx="34">
                  <c:v>284</c:v>
                </c:pt>
                <c:pt idx="35">
                  <c:v>280</c:v>
                </c:pt>
                <c:pt idx="36">
                  <c:v>265</c:v>
                </c:pt>
                <c:pt idx="37">
                  <c:v>181</c:v>
                </c:pt>
                <c:pt idx="38">
                  <c:v>177</c:v>
                </c:pt>
                <c:pt idx="39">
                  <c:v>185</c:v>
                </c:pt>
                <c:pt idx="40">
                  <c:v>182</c:v>
                </c:pt>
                <c:pt idx="41">
                  <c:v>186</c:v>
                </c:pt>
                <c:pt idx="42">
                  <c:v>153</c:v>
                </c:pt>
                <c:pt idx="43">
                  <c:v>136</c:v>
                </c:pt>
                <c:pt idx="44">
                  <c:v>133</c:v>
                </c:pt>
                <c:pt idx="45">
                  <c:v>121</c:v>
                </c:pt>
                <c:pt idx="46">
                  <c:v>103</c:v>
                </c:pt>
                <c:pt idx="47">
                  <c:v>102</c:v>
                </c:pt>
                <c:pt idx="48">
                  <c:v>92</c:v>
                </c:pt>
                <c:pt idx="49">
                  <c:v>89</c:v>
                </c:pt>
                <c:pt idx="50">
                  <c:v>1915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
        <c:overlap val="100"/>
        <c:axId val="2094734554"/>
        <c:axId val="2094734552"/>
        <c:axId val="2094734556"/>
      </c:barChart>
      <c:catAx>
        <c:axId val="2094734554"/>
        <c:scaling>
          <c:orientation val="minMax"/>
        </c:scaling>
        <c:delete val="0"/>
        <c:axPos val="b"/>
        <c:title>
          <c:tx>
            <c:rich>
              <a:bodyPr/>
              <a:lstStyle/>
              <a:p>
                <a:pPr>
                  <a:defRPr sz="1200" b="0" i="0" u="none" strike="noStrike">
                    <a:solidFill>
                      <a:srgbClr val="77858E"/>
                    </a:solidFill>
                    <a:latin typeface="Arial"/>
                  </a:defRPr>
                </a:pPr>
                <a:r>
                  <a:rPr sz="1200" b="0" i="0" u="none" strike="noStrike">
                    <a:solidFill>
                      <a:srgbClr val="77858E"/>
                    </a:solidFill>
                    <a:latin typeface="Arial"/>
                  </a:rPr>
                  <a:t>Độ dài điều luật (số từ)</a:t>
                </a:r>
              </a:p>
            </c:rich>
          </c:tx>
          <c:layout/>
          <c:overlay val="0"/>
        </c:title>
        <c:numFmt formatCode="General" sourceLinked="1"/>
        <c:majorTickMark val="out"/>
        <c:minorTickMark val="none"/>
        <c:tickLblPos val="low"/>
        <c:spPr>
          <a:ln w="12700" cap="flat">
            <a:solidFill>
              <a:srgbClr val="D9DDD7"/>
            </a:solidFill>
            <a:prstDash val="solid"/>
            <a:round/>
          </a:ln>
        </c:spPr>
        <c:txPr>
          <a:bodyPr/>
          <a:lstStyle/>
          <a:p>
            <a:pPr>
              <a:defRPr sz="1200" b="0" i="0" u="none" strike="noStrike">
                <a:solidFill>
                  <a:srgbClr val="46545F"/>
                </a:solidFill>
                <a:latin typeface="Calibri"/>
              </a:defRPr>
            </a:pPr>
            <a:endParaRPr lang="en-US"/>
          </a:p>
        </c:txPr>
        <c:crossAx val="2094734552"/>
        <c:crosses val="autoZero"/>
        <c:auto val="1"/>
        <c:lblAlgn val="ctr"/>
        <c:noMultiLvlLbl val="1"/>
        <c:tickLblSkip val="10"/>
      </c:catAx>
      <c:valAx>
        <c:axId val="2094734552"/>
        <c:scaling>
          <c:orientation val="minMax"/>
        </c:scaling>
        <c:delete val="0"/>
        <c:axPos val="l"/>
        <c:majorGridlines>
          <c:spPr>
            <a:ln w="9525" cap="flat">
              <a:solidFill>
                <a:srgbClr val="ECEEEB"/>
              </a:solidFill>
              <a:prstDash val="solid"/>
              <a:round/>
            </a:ln>
          </c:spPr>
        </c:majorGridlines>
        <c:numFmt formatCode="[&gt;=1000]#&quot;.&quot;##0;0" sourceLinked="0"/>
        <c:majorTickMark val="out"/>
        <c:minorTickMark val="none"/>
        <c:tickLblPos val="nextTo"/>
        <c:spPr>
          <a:ln w="12700" cap="flat">
            <a:noFill/>
            <a:prstDash val="solid"/>
            <a:round/>
          </a:ln>
        </c:spPr>
        <c:txPr>
          <a:bodyPr/>
          <a:lstStyle/>
          <a:p>
            <a:pPr>
              <a:defRPr sz="1100" b="0" i="0" u="none" strike="noStrike">
                <a:solidFill>
                  <a:srgbClr val="77858E"/>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46545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Recall@1</c:v>
                </c:pt>
              </c:strCache>
            </c:strRef>
          </c:tx>
          <c:spPr>
            <a:solidFill>
              <a:srgbClr val="9FC2DB"/>
            </a:solidFill>
            <a:effectLst/>
          </c:spPr>
          <c:invertIfNegative val="0"/>
          <c:dLbls>
            <c:numFmt formatCode="[=0]&quot;&quot;;0&quot;,&quot;00" sourceLinked="0"/>
            <c:txPr>
              <a:bodyPr/>
              <a:lstStyle/>
              <a:p>
                <a:pPr>
                  <a:defRPr b="0" i="0" strike="noStrike" sz="1300" u="none">
                    <a:solidFill>
                      <a:srgbClr val="16222C"/>
                    </a:solidFill>
                    <a:latin typeface="Calibri"/>
                  </a:defRPr>
                </a:pPr>
              </a:p>
            </c:txPr>
            <c:showLegendKey val="0"/>
            <c:showVal val="1"/>
            <c:showCatName val="0"/>
            <c:showSerName val="0"/>
            <c:showPercent val="0"/>
            <c:showBubbleSize val="0"/>
            <c:showLeaderLines val="0"/>
          </c:dLbls>
          <c:cat>
            <c:multiLvlStrRef>
              <c:f>Sheet1!$A$2:$A$5</c:f>
              <c:multiLvlStrCache>
                <c:ptCount val="4"/>
                <c:lvl>
                  <c:pt idx="0">
                    <c:v>BM25</c:v>
                  </c:pt>
                  <c:pt idx="1">
                    <c:v>Ngữ nghĩa</c:v>
                  </c:pt>
                  <c:pt idx="2">
                    <c:v>RRF</c:v>
                  </c:pt>
                  <c:pt idx="3">
                    <c:v>Hợp nhất trọng số</c:v>
                  </c:pt>
                </c:lvl>
              </c:multiLvlStrCache>
            </c:multiLvlStrRef>
          </c:cat>
          <c:val>
            <c:numRef>
              <c:f>Sheet1!$B$2:$B$5</c:f>
              <c:numCache>
                <c:formatCode>General</c:formatCode>
                <c:ptCount val="4"/>
                <c:pt idx="0">
                  <c:v>4740</c:v>
                </c:pt>
                <c:pt idx="1">
                  <c:v>7811</c:v>
                </c:pt>
                <c:pt idx="2">
                  <c:v>6701</c:v>
                </c:pt>
                <c:pt idx="3">
                  <c:v>7824</c:v>
                </c:pt>
              </c:numCache>
            </c:numRef>
          </c:val>
        </c:ser>
        <c:ser>
          <c:idx val="1"/>
          <c:order val="1"/>
          <c:tx>
            <c:strRef>
              <c:f>Sheet1!$C$1</c:f>
              <c:strCache>
                <c:ptCount val="1"/>
                <c:pt idx="0">
                  <c:v>Recall@10</c:v>
                </c:pt>
              </c:strCache>
            </c:strRef>
          </c:tx>
          <c:spPr>
            <a:solidFill>
              <a:srgbClr val="2C5F8A"/>
            </a:solidFill>
            <a:effectLst/>
          </c:spPr>
          <c:invertIfNegative val="0"/>
          <c:dLbls>
            <c:numFmt formatCode="[=0]&quot;&quot;;0&quot;,&quot;00" sourceLinked="0"/>
            <c:txPr>
              <a:bodyPr/>
              <a:lstStyle/>
              <a:p>
                <a:pPr>
                  <a:defRPr b="0" i="0" strike="noStrike" sz="1300" u="none">
                    <a:solidFill>
                      <a:srgbClr val="16222C"/>
                    </a:solidFill>
                    <a:latin typeface="Calibri"/>
                  </a:defRPr>
                </a:pPr>
              </a:p>
            </c:txPr>
            <c:showLegendKey val="0"/>
            <c:showVal val="1"/>
            <c:showCatName val="0"/>
            <c:showSerName val="0"/>
            <c:showPercent val="0"/>
            <c:showBubbleSize val="0"/>
            <c:showLeaderLines val="0"/>
          </c:dLbls>
          <c:cat>
            <c:multiLvlStrRef>
              <c:f>Sheet1!$A$2:$A$5</c:f>
              <c:multiLvlStrCache>
                <c:ptCount val="4"/>
                <c:lvl>
                  <c:pt idx="0">
                    <c:v>BM25</c:v>
                  </c:pt>
                  <c:pt idx="1">
                    <c:v>Ngữ nghĩa</c:v>
                  </c:pt>
                  <c:pt idx="2">
                    <c:v>RRF</c:v>
                  </c:pt>
                  <c:pt idx="3">
                    <c:v>Hợp nhất trọng số</c:v>
                  </c:pt>
                </c:lvl>
              </c:multiLvlStrCache>
            </c:multiLvlStrRef>
          </c:cat>
          <c:val>
            <c:numRef>
              <c:f>Sheet1!$C$2:$C$5</c:f>
              <c:numCache>
                <c:formatCode>General</c:formatCode>
                <c:ptCount val="4"/>
                <c:pt idx="0">
                  <c:v>8522</c:v>
                </c:pt>
                <c:pt idx="1">
                  <c:v>9721</c:v>
                </c:pt>
                <c:pt idx="2">
                  <c:v>9670</c:v>
                </c:pt>
                <c:pt idx="3">
                  <c:v>9772</c:v>
                </c:pt>
              </c:numCache>
            </c:numRef>
          </c:val>
        </c:ser>
        <c:dLbls>
          <c:numFmt formatCode="[=0]&quot;&quot;;0&quot;,&quot;00" sourceLinked="0"/>
          <c:txPr>
            <a:bodyPr/>
            <a:lstStyle/>
            <a:p>
              <a:pPr>
                <a:defRPr b="0" i="0" strike="noStrike" sz="1300" u="none">
                  <a:solidFill>
                    <a:srgbClr val="16222C"/>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9DDD7"/>
            </a:solidFill>
            <a:prstDash val="solid"/>
            <a:round/>
          </a:ln>
        </c:spPr>
        <c:txPr>
          <a:bodyPr/>
          <a:lstStyle/>
          <a:p>
            <a:pPr>
              <a:defRPr sz="1300" b="0" i="0" u="none" strike="noStrike">
                <a:solidFill>
                  <a:srgbClr val="46545F"/>
                </a:solidFill>
                <a:latin typeface="Calibri"/>
              </a:defRPr>
            </a:pPr>
            <a:endParaRPr lang="en-US"/>
          </a:p>
        </c:txPr>
        <c:crossAx val="2094734552"/>
        <c:crosses val="autoZero"/>
        <c:auto val="1"/>
        <c:lblAlgn val="ctr"/>
        <c:noMultiLvlLbl val="1"/>
      </c:catAx>
      <c:valAx>
        <c:axId val="2094734552"/>
        <c:scaling>
          <c:orientation val="minMax"/>
          <c:max val="11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46545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Câu có dấu</c:v>
                </c:pt>
              </c:strCache>
            </c:strRef>
          </c:tx>
          <c:spPr>
            <a:solidFill>
              <a:srgbClr val="46545F"/>
            </a:solidFill>
            <a:effectLst/>
          </c:spPr>
          <c:invertIfNegative val="0"/>
          <c:dLbls>
            <c:numFmt formatCode="[=0]&quot;&quot;;0&quot;,&quot;00" sourceLinked="0"/>
            <c:txPr>
              <a:bodyPr/>
              <a:lstStyle/>
              <a:p>
                <a:pPr>
                  <a:defRPr b="0" i="0" strike="noStrike" sz="1400" u="none">
                    <a:solidFill>
                      <a:srgbClr val="16222C"/>
                    </a:solidFill>
                    <a:latin typeface="Calibri"/>
                  </a:defRPr>
                </a:pPr>
              </a:p>
            </c:txPr>
            <c:showLegendKey val="0"/>
            <c:showVal val="1"/>
            <c:showCatName val="0"/>
            <c:showSerName val="0"/>
            <c:showPercent val="0"/>
            <c:showBubbleSize val="0"/>
            <c:showLeaderLines val="0"/>
          </c:dLbls>
          <c:cat>
            <c:multiLvlStrRef>
              <c:f>Sheet1!$A$2:$A$4</c:f>
              <c:multiLvlStrCache>
                <c:ptCount val="3"/>
                <c:lvl>
                  <c:pt idx="0">
                    <c:v>BM25</c:v>
                  </c:pt>
                  <c:pt idx="1">
                    <c:v>Ngữ nghĩa</c:v>
                  </c:pt>
                  <c:pt idx="2">
                    <c:v>Hợp nhất</c:v>
                  </c:pt>
                </c:lvl>
              </c:multiLvlStrCache>
            </c:multiLvlStrRef>
          </c:cat>
          <c:val>
            <c:numRef>
              <c:f>Sheet1!$B$2:$B$4</c:f>
              <c:numCache>
                <c:formatCode>General</c:formatCode>
                <c:ptCount val="3"/>
                <c:pt idx="0">
                  <c:v>8522</c:v>
                </c:pt>
                <c:pt idx="1">
                  <c:v>9721</c:v>
                </c:pt>
                <c:pt idx="2">
                  <c:v>9772</c:v>
                </c:pt>
              </c:numCache>
            </c:numRef>
          </c:val>
        </c:ser>
        <c:ser>
          <c:idx val="1"/>
          <c:order val="1"/>
          <c:tx>
            <c:strRef>
              <c:f>Sheet1!$C$1</c:f>
              <c:strCache>
                <c:ptCount val="1"/>
                <c:pt idx="0">
                  <c:v>Cùng câu, bỏ hết dấu</c:v>
                </c:pt>
              </c:strCache>
            </c:strRef>
          </c:tx>
          <c:spPr>
            <a:solidFill>
              <a:srgbClr val="A8202B"/>
            </a:solidFill>
            <a:effectLst/>
          </c:spPr>
          <c:invertIfNegative val="0"/>
          <c:dLbls>
            <c:numFmt formatCode="[=0]&quot;&quot;;0&quot;,&quot;00" sourceLinked="0"/>
            <c:txPr>
              <a:bodyPr/>
              <a:lstStyle/>
              <a:p>
                <a:pPr>
                  <a:defRPr b="0" i="0" strike="noStrike" sz="1400" u="none">
                    <a:solidFill>
                      <a:srgbClr val="16222C"/>
                    </a:solidFill>
                    <a:latin typeface="Calibri"/>
                  </a:defRPr>
                </a:pPr>
              </a:p>
            </c:txPr>
            <c:showLegendKey val="0"/>
            <c:showVal val="1"/>
            <c:showCatName val="0"/>
            <c:showSerName val="0"/>
            <c:showPercent val="0"/>
            <c:showBubbleSize val="0"/>
            <c:showLeaderLines val="0"/>
          </c:dLbls>
          <c:cat>
            <c:multiLvlStrRef>
              <c:f>Sheet1!$A$2:$A$4</c:f>
              <c:multiLvlStrCache>
                <c:ptCount val="3"/>
                <c:lvl>
                  <c:pt idx="0">
                    <c:v>BM25</c:v>
                  </c:pt>
                  <c:pt idx="1">
                    <c:v>Ngữ nghĩa</c:v>
                  </c:pt>
                  <c:pt idx="2">
                    <c:v>Hợp nhất</c:v>
                  </c:pt>
                </c:lvl>
              </c:multiLvlStrCache>
            </c:multiLvlStrRef>
          </c:cat>
          <c:val>
            <c:numRef>
              <c:f>Sheet1!$C$2:$C$4</c:f>
              <c:numCache>
                <c:formatCode>General</c:formatCode>
                <c:ptCount val="3"/>
                <c:pt idx="0">
                  <c:v>622</c:v>
                </c:pt>
                <c:pt idx="1">
                  <c:v>1244</c:v>
                </c:pt>
                <c:pt idx="2">
                  <c:v>1447</c:v>
                </c:pt>
              </c:numCache>
            </c:numRef>
          </c:val>
        </c:ser>
        <c:dLbls>
          <c:numFmt formatCode="[=0]&quot;&quot;;0&quot;,&quot;00" sourceLinked="0"/>
          <c:txPr>
            <a:bodyPr/>
            <a:lstStyle/>
            <a:p>
              <a:pPr>
                <a:defRPr b="0" i="0" strike="noStrike" sz="1400" u="none">
                  <a:solidFill>
                    <a:srgbClr val="16222C"/>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9DDD7"/>
            </a:solidFill>
            <a:prstDash val="solid"/>
            <a:round/>
          </a:ln>
        </c:spPr>
        <c:txPr>
          <a:bodyPr/>
          <a:lstStyle/>
          <a:p>
            <a:pPr>
              <a:defRPr sz="1300" b="0" i="0" u="none" strike="noStrike">
                <a:solidFill>
                  <a:srgbClr val="46545F"/>
                </a:solidFill>
                <a:latin typeface="Calibri"/>
              </a:defRPr>
            </a:pPr>
            <a:endParaRPr lang="en-US"/>
          </a:p>
        </c:txPr>
        <c:crossAx val="2094734552"/>
        <c:crosses val="autoZero"/>
        <c:auto val="1"/>
        <c:lblAlgn val="ctr"/>
        <c:noMultiLvlLbl val="1"/>
      </c:catAx>
      <c:valAx>
        <c:axId val="2094734552"/>
        <c:scaling>
          <c:orientation val="minMax"/>
          <c:max val="11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46545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Có dấu (mốc)</c:v>
                </c:pt>
              </c:strCache>
            </c:strRef>
          </c:tx>
          <c:spPr>
            <a:solidFill>
              <a:srgbClr val="46545F"/>
            </a:solidFill>
            <a:effectLst/>
          </c:spPr>
          <c:invertIfNegative val="0"/>
          <c:dLbls>
            <c:numFmt formatCode="[=0]&quot;&quot;;0&quot;,&quot;00" sourceLinked="0"/>
            <c:txPr>
              <a:bodyPr/>
              <a:lstStyle/>
              <a:p>
                <a:pPr>
                  <a:defRPr b="0" i="0" strike="noStrike" sz="15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Sheet1!$A$2:$A$4</c:f>
              <c:multiLvlStrCache>
                <c:ptCount val="3"/>
                <c:lvl>
                  <c:pt idx="0">
                    <c:v>Có dấu (mốc)</c:v>
                  </c:pt>
                  <c:pt idx="1">
                    <c:v>Không dấu, giữ nguyên</c:v>
                  </c:pt>
                  <c:pt idx="2">
                    <c:v>Không dấu, phục hồi dấu</c:v>
                  </c:pt>
                </c:lvl>
              </c:multiLvlStrCache>
            </c:multiLvlStrRef>
          </c:cat>
          <c:val>
            <c:numRef>
              <c:f>Sheet1!$B$2:$B$4</c:f>
              <c:numCache>
                <c:formatCode>General</c:formatCode>
                <c:ptCount val="3"/>
                <c:pt idx="0">
                  <c:v>9772</c:v>
                </c:pt>
                <c:pt idx="1">
                  <c:v>0</c:v>
                </c:pt>
                <c:pt idx="2">
                  <c:v>0</c:v>
                </c:pt>
              </c:numCache>
            </c:numRef>
          </c:val>
        </c:ser>
        <c:ser>
          <c:idx val="1"/>
          <c:order val="1"/>
          <c:tx>
            <c:strRef>
              <c:f>Sheet1!$C$1</c:f>
              <c:strCache>
                <c:ptCount val="1"/>
                <c:pt idx="0">
                  <c:v>Không dấu, giữ nguyên</c:v>
                </c:pt>
              </c:strCache>
            </c:strRef>
          </c:tx>
          <c:spPr>
            <a:solidFill>
              <a:srgbClr val="A8202B"/>
            </a:solidFill>
            <a:effectLst/>
          </c:spPr>
          <c:invertIfNegative val="0"/>
          <c:dLbls>
            <c:numFmt formatCode="[=0]&quot;&quot;;0&quot;,&quot;00" sourceLinked="0"/>
            <c:txPr>
              <a:bodyPr/>
              <a:lstStyle/>
              <a:p>
                <a:pPr>
                  <a:defRPr b="0" i="0" strike="noStrike" sz="15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Sheet1!$A$2:$A$4</c:f>
              <c:multiLvlStrCache>
                <c:ptCount val="3"/>
                <c:lvl>
                  <c:pt idx="0">
                    <c:v>Có dấu (mốc)</c:v>
                  </c:pt>
                  <c:pt idx="1">
                    <c:v>Không dấu, giữ nguyên</c:v>
                  </c:pt>
                  <c:pt idx="2">
                    <c:v>Không dấu, phục hồi dấu</c:v>
                  </c:pt>
                </c:lvl>
              </c:multiLvlStrCache>
            </c:multiLvlStrRef>
          </c:cat>
          <c:val>
            <c:numRef>
              <c:f>Sheet1!$C$2:$C$4</c:f>
              <c:numCache>
                <c:formatCode>General</c:formatCode>
                <c:ptCount val="3"/>
                <c:pt idx="0">
                  <c:v>0</c:v>
                </c:pt>
                <c:pt idx="1">
                  <c:v>1447</c:v>
                </c:pt>
                <c:pt idx="2">
                  <c:v>0</c:v>
                </c:pt>
              </c:numCache>
            </c:numRef>
          </c:val>
        </c:ser>
        <c:ser>
          <c:idx val="2"/>
          <c:order val="2"/>
          <c:tx>
            <c:strRef>
              <c:f>Sheet1!$D$1</c:f>
              <c:strCache>
                <c:ptCount val="1"/>
                <c:pt idx="0">
                  <c:v>Không dấu, phục hồi dấu</c:v>
                </c:pt>
              </c:strCache>
            </c:strRef>
          </c:tx>
          <c:spPr>
            <a:solidFill>
              <a:srgbClr val="1B6E5A"/>
            </a:solidFill>
            <a:effectLst/>
          </c:spPr>
          <c:invertIfNegative val="0"/>
          <c:dLbls>
            <c:numFmt formatCode="[=0]&quot;&quot;;0&quot;,&quot;00" sourceLinked="0"/>
            <c:txPr>
              <a:bodyPr/>
              <a:lstStyle/>
              <a:p>
                <a:pPr>
                  <a:defRPr b="0" i="0" strike="noStrike" sz="15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Sheet1!$A$2:$A$4</c:f>
              <c:multiLvlStrCache>
                <c:ptCount val="3"/>
                <c:lvl>
                  <c:pt idx="0">
                    <c:v>Có dấu (mốc)</c:v>
                  </c:pt>
                  <c:pt idx="1">
                    <c:v>Không dấu, giữ nguyên</c:v>
                  </c:pt>
                  <c:pt idx="2">
                    <c:v>Không dấu, phục hồi dấu</c:v>
                  </c:pt>
                </c:lvl>
              </c:multiLvlStrCache>
            </c:multiLvlStrRef>
          </c:cat>
          <c:val>
            <c:numRef>
              <c:f>Sheet1!$D$2:$D$4</c:f>
              <c:numCache>
                <c:formatCode>General</c:formatCode>
                <c:ptCount val="3"/>
                <c:pt idx="0">
                  <c:v>0</c:v>
                </c:pt>
                <c:pt idx="1">
                  <c:v>0</c:v>
                </c:pt>
                <c:pt idx="2">
                  <c:v>9670</c:v>
                </c:pt>
              </c:numCache>
            </c:numRef>
          </c:val>
        </c:ser>
        <c:dLbls>
          <c:numFmt formatCode="[=0]&quot;&quot;;0&quot;,&quot;00" sourceLinked="0"/>
          <c:txPr>
            <a:bodyPr/>
            <a:lstStyle/>
            <a:p>
              <a:pPr>
                <a:defRPr b="0" i="0" strike="noStrike" sz="1500" u="none">
                  <a:solidFill>
                    <a:srgbClr val="FFFFFF"/>
                  </a:solidFill>
                  <a:latin typeface="Calibri"/>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9DDD7"/>
            </a:solidFill>
            <a:prstDash val="solid"/>
            <a:round/>
          </a:ln>
        </c:spPr>
        <c:txPr>
          <a:bodyPr/>
          <a:lstStyle/>
          <a:p>
            <a:pPr>
              <a:defRPr sz="1250" b="0" i="0" u="none" strike="noStrike">
                <a:solidFill>
                  <a:srgbClr val="46545F"/>
                </a:solidFill>
                <a:latin typeface="Calibri"/>
              </a:defRPr>
            </a:pPr>
            <a:endParaRPr lang="en-US"/>
          </a:p>
        </c:txPr>
        <c:crossAx val="2094734552"/>
        <c:crosses val="autoZero"/>
        <c:auto val="1"/>
        <c:lblAlgn val="ctr"/>
        <c:noMultiLvlLbl val="1"/>
      </c:catAx>
      <c:valAx>
        <c:axId val="2094734552"/>
        <c:scaling>
          <c:orientation val="minMax"/>
          <c:max val="11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Nửa dấu, giữ nguyên</c:v>
                </c:pt>
              </c:strCache>
            </c:strRef>
          </c:tx>
          <c:spPr>
            <a:solidFill>
              <a:srgbClr val="A8202B"/>
            </a:solidFill>
            <a:effectLst/>
          </c:spPr>
          <c:invertIfNegative val="0"/>
          <c:dLbls>
            <c:numFmt formatCode="[=0]&quot;&quot;;0&quot;,&quot;00" sourceLinked="0"/>
            <c:txPr>
              <a:bodyPr/>
              <a:lstStyle/>
              <a:p>
                <a:pPr>
                  <a:defRPr b="0" i="0" strike="noStrike" sz="15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Sheet1!$A$2:$A$4</c:f>
              <c:multiLvlStrCache>
                <c:ptCount val="3"/>
                <c:lvl>
                  <c:pt idx="0">
                    <c:v>Nửa dấu, giữ nguyên</c:v>
                  </c:pt>
                  <c:pt idx="1">
                    <c:v>Nửa dấu, phục hồi dấu</c:v>
                  </c:pt>
                  <c:pt idx="2">
                    <c:v>Câu đủ dấu, vẫn phục hồi</c:v>
                  </c:pt>
                </c:lvl>
              </c:multiLvlStrCache>
            </c:multiLvlStrRef>
          </c:cat>
          <c:val>
            <c:numRef>
              <c:f>Sheet1!$B$2:$B$4</c:f>
              <c:numCache>
                <c:formatCode>General</c:formatCode>
                <c:ptCount val="3"/>
                <c:pt idx="0">
                  <c:v>7481</c:v>
                </c:pt>
                <c:pt idx="1">
                  <c:v>0</c:v>
                </c:pt>
                <c:pt idx="2">
                  <c:v>0</c:v>
                </c:pt>
              </c:numCache>
            </c:numRef>
          </c:val>
        </c:ser>
        <c:ser>
          <c:idx val="1"/>
          <c:order val="1"/>
          <c:tx>
            <c:strRef>
              <c:f>Sheet1!$C$1</c:f>
              <c:strCache>
                <c:ptCount val="1"/>
                <c:pt idx="0">
                  <c:v>Nửa dấu, phục hồi dấu</c:v>
                </c:pt>
              </c:strCache>
            </c:strRef>
          </c:tx>
          <c:spPr>
            <a:solidFill>
              <a:srgbClr val="1B6E5A"/>
            </a:solidFill>
            <a:effectLst/>
          </c:spPr>
          <c:invertIfNegative val="0"/>
          <c:dLbls>
            <c:numFmt formatCode="[=0]&quot;&quot;;0&quot;,&quot;00" sourceLinked="0"/>
            <c:txPr>
              <a:bodyPr/>
              <a:lstStyle/>
              <a:p>
                <a:pPr>
                  <a:defRPr b="0" i="0" strike="noStrike" sz="15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Sheet1!$A$2:$A$4</c:f>
              <c:multiLvlStrCache>
                <c:ptCount val="3"/>
                <c:lvl>
                  <c:pt idx="0">
                    <c:v>Nửa dấu, giữ nguyên</c:v>
                  </c:pt>
                  <c:pt idx="1">
                    <c:v>Nửa dấu, phục hồi dấu</c:v>
                  </c:pt>
                  <c:pt idx="2">
                    <c:v>Câu đủ dấu, vẫn phục hồi</c:v>
                  </c:pt>
                </c:lvl>
              </c:multiLvlStrCache>
            </c:multiLvlStrRef>
          </c:cat>
          <c:val>
            <c:numRef>
              <c:f>Sheet1!$C$2:$C$4</c:f>
              <c:numCache>
                <c:formatCode>General</c:formatCode>
                <c:ptCount val="3"/>
                <c:pt idx="0">
                  <c:v>0</c:v>
                </c:pt>
                <c:pt idx="1">
                  <c:v>9721</c:v>
                </c:pt>
                <c:pt idx="2">
                  <c:v>0</c:v>
                </c:pt>
              </c:numCache>
            </c:numRef>
          </c:val>
        </c:ser>
        <c:ser>
          <c:idx val="2"/>
          <c:order val="2"/>
          <c:tx>
            <c:strRef>
              <c:f>Sheet1!$D$1</c:f>
              <c:strCache>
                <c:ptCount val="1"/>
                <c:pt idx="0">
                  <c:v>Câu đủ dấu, vẫn phục hồi</c:v>
                </c:pt>
              </c:strCache>
            </c:strRef>
          </c:tx>
          <c:spPr>
            <a:solidFill>
              <a:srgbClr val="46545F"/>
            </a:solidFill>
            <a:effectLst/>
          </c:spPr>
          <c:invertIfNegative val="0"/>
          <c:dLbls>
            <c:numFmt formatCode="[=0]&quot;&quot;;0&quot;,&quot;00" sourceLinked="0"/>
            <c:txPr>
              <a:bodyPr/>
              <a:lstStyle/>
              <a:p>
                <a:pPr>
                  <a:defRPr b="0" i="0" strike="noStrike" sz="15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Sheet1!$A$2:$A$4</c:f>
              <c:multiLvlStrCache>
                <c:ptCount val="3"/>
                <c:lvl>
                  <c:pt idx="0">
                    <c:v>Nửa dấu, giữ nguyên</c:v>
                  </c:pt>
                  <c:pt idx="1">
                    <c:v>Nửa dấu, phục hồi dấu</c:v>
                  </c:pt>
                  <c:pt idx="2">
                    <c:v>Câu đủ dấu, vẫn phục hồi</c:v>
                  </c:pt>
                </c:lvl>
              </c:multiLvlStrCache>
            </c:multiLvlStrRef>
          </c:cat>
          <c:val>
            <c:numRef>
              <c:f>Sheet1!$D$2:$D$4</c:f>
              <c:numCache>
                <c:formatCode>General</c:formatCode>
                <c:ptCount val="3"/>
                <c:pt idx="0">
                  <c:v>0</c:v>
                </c:pt>
                <c:pt idx="1">
                  <c:v>0</c:v>
                </c:pt>
                <c:pt idx="2">
                  <c:v>9772</c:v>
                </c:pt>
              </c:numCache>
            </c:numRef>
          </c:val>
        </c:ser>
        <c:dLbls>
          <c:numFmt formatCode="[=0]&quot;&quot;;0&quot;,&quot;00" sourceLinked="0"/>
          <c:txPr>
            <a:bodyPr/>
            <a:lstStyle/>
            <a:p>
              <a:pPr>
                <a:defRPr b="0" i="0" strike="noStrike" sz="1500" u="none">
                  <a:solidFill>
                    <a:srgbClr val="FFFFFF"/>
                  </a:solidFill>
                  <a:latin typeface="Calibri"/>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9DDD7"/>
            </a:solidFill>
            <a:prstDash val="solid"/>
            <a:round/>
          </a:ln>
        </c:spPr>
        <c:txPr>
          <a:bodyPr/>
          <a:lstStyle/>
          <a:p>
            <a:pPr>
              <a:defRPr sz="1250" b="0" i="0" u="none" strike="noStrike">
                <a:solidFill>
                  <a:srgbClr val="46545F"/>
                </a:solidFill>
                <a:latin typeface="Calibri"/>
              </a:defRPr>
            </a:pPr>
            <a:endParaRPr lang="en-US"/>
          </a:p>
        </c:txPr>
        <c:crossAx val="2094734552"/>
        <c:crosses val="autoZero"/>
        <c:auto val="1"/>
        <c:lblAlgn val="ctr"/>
        <c:noMultiLvlLbl val="1"/>
      </c:catAx>
      <c:valAx>
        <c:axId val="2094734552"/>
        <c:scaling>
          <c:orientation val="minMax"/>
          <c:max val="11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Lê Hoàng Lộc  ·  khoảng 15 giây
Em chào thầy và các bạn. Nhóm 08 gồm Lộc, Tuấn Anh và Thư. Đề tài của nhóm là tìm kiếm điều luật tiếng Việt cho câu hỏi gõ thiếu dấu.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Lê Hoàng Lộc  ·  khoảng 40 giây
Bài toán là: người dân gõ một câu hỏi pháp luật, hệ thống trả về điều luật liên quan trong 61.425 điều của 3.271 văn bản.
Khó ở hai chỗ. Một là người hỏi dùng lời thường còn luật dùng thuật ngữ, như câu nướng bắp trên cầu này, điều luật đúng không trùng với câu hỏi chữ nào.
Hai, cũng là chỗ nhóm tập trung, là nhiều người gõ không dấu, nhất là khi nhắn trên điện thoại. Với máy thì chữ phạt có dấu và chữ phat không dấu là hai chữ khác hẳn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Lê Hoàng Lộc  ·  khoảng 40 giây
Nhóm có đọc lại các nghiên cứu trước. Ghép tìm theo từ khóa với tìm theo ngữ nghĩa thì từ các đội thi Zalo 2021 đến bài ở hội nghị EACL năm nay đều làm rồi, và đều thấy ghép tốt hơn dùng riêng. Nhóm chỉ lặp lại phép so đó thì không có gì mới.
Dòng màu đỏ mới là chỗ nhóm để ý: phục hồi dấu tiếng Việt đã đạt khoảng 97 phần trăm, nhưng người ta đo nó như một bài toán riêng, chưa ai đo xem nó giúp tìm luật được bao nhiêu.
Nếu thầy hỏi: Nhóm đọc hết các bài đó chưa?
Nhóm đọc phần tóm tắt, mã nguồn và model card, không đọc hết toàn văn. Danh sách 27 nguồn ở slide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Lê Hoàng Lộc  ·  khoảng 40 giây
Xếp lại thì ra cái bảng này. Tìm luật trên câu có dấu thì làm nhiều rồi, phục hồi dấu cũng làm rồi. Còn ô đỏ, tìm luật khi câu hỏi mất dấu, thì trong các nguồn nhóm đọc chưa ai đo. Đó là câu hỏi thứ hai.
Câu hỏi thứ nhất là để có một mốc sạch: trên câu có dấu, với dữ liệu đã kiểm tra và mô hình chưa thấy dữ liệu, ghép thêm BM25 được bao nhiêu. Có mốc đó rồi mới đo được mất dấu làm hỏng bao nhiêu.
Nếu thầy hỏi: Chắc chắn chưa ai làm?
Nhóm chỉ nói trong phạm vi các nguồn đã đối chiếu, không dám khẳng định cho mọi công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Lê Hoàng Lộc  ·  khoảng 40 giây
Dữ liệu là bộ Zalo AI Challenge 2021, bản trên HuggingFace, đã được đưa vào bộ đánh giá MTEB. Bộ gốc chỉ có train và test, không có tập val, nên nhóm tự cắt val ra từ train.
Bộ này đã công bố nhưng nhóm vẫn kiểm tra lại, ra sáu vấn đề như biểu đồ. Có 780 điều bị nhân đôi chỉ vì mã văn bản viết nd hay nđ, tức là chuyện dấu đã gây lỗi ngay trong dữ liệu. Nặng nhất là thanh cuối: 26 câu hỏi nằm ở cả train lẫn test. Phần này bạn Tuấn Anh nói tiếp.
Nếu thầy hỏi: Sao không xóa các điều trùng?
Kho luật thật có điều trùng thật, và các nhóm trùng đều nằm ở những văn bản khác nhau. Xóa đi thì bài toán dễ đi một cách giả tạo, nên nhóm chỉ báo cáo.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Lê Thị Tuấn Anh  ·  khoảng 45 giây
Dạ, trong 26 câu đó có 24 câu trùng đúng mã câu hỏi. Tưởng là dòng bị lặp, nhưng đọc kỹ thì cả 24 câu đều mang nhãn khác nhau: tệp train chỉ sang một điều luật, tệp test chỉ sang điều khác.
Như câu đầu, bị thương tật 25 phần trăm có bị khởi tố không, train ghi luật sửa đổi Bộ luật Hình sự, test ghi Bộ luật Tố tụng Hình sự. Điều nào cũng liên quan. Tức là một câu hỏi có thể đúng với nhiều điều mà nhãn chỉ ghi một, nên mọi con số Recall nhóm báo cáo đều là cận dưới.
Nhóm bỏ nhãn train của các câu này và giữ nguyên tập test của ban tổ chức.
Nếu thầy hỏi: Sao không gộp nhãn train vào test cho đủ?
Gộp vào là tự sửa nhãn của tập test bằng phỏng đoán của nhóm. Bản chạy đầu có gộp nhầm, test phình từ 793 lên 818 cặp, nhóm phát hiện khi đối chiếu số dòng với tệp gốc và đã sửa.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Lê Thị Tuấn Anh  ·  khoảng 45 giây
Rò rỉ còn nằm ở chỗ khó thấy hơn, là trong mô hình. Nhóm định dùng bkai, mô hình nhúng tiếng Việt được dùng nhiều nhất. Nhưng model card của họ ghi đã huấn luyện trên 80 phần trăm tập train của Zalo 2021, mà tập test của nhóm lại cắt ra từ đúng tập đó. Tức là mô hình đã xem đề và đáp án trước khi thi.
Nên nhóm chuyển sang AITeamVN, model card ghi rõ không học bộ này, và dùng nó cho mọi con số chính thức. bkai vẫn chạy để so nhưng gắn nhãn nhiễm bẩn. Chia lại xong, nhóm có 1.925 câu train, 481 câu val để chỉnh tham số, và 788 câu test chỉ chạy đúng một lần.
Nếu thầy hỏi: Sao tin model card của AITeamVN?
Nhóm không kiểm chứng trực tiếp được, nên ghi rõ đó là lời của tác giả mô hình, không phải kết quả nhóm tự đo.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Lê Thị Tuấn Anh  ·  khoảng 45 giây
Đây là kiến trúc. Câu hỏi nào cũng đi qua khâu phục hồi dấu trước, không cần biết nó có dấu hay chưa, vì chữ đã có dấu thì giữ nguyên.
Sau đó chia hai nhánh. Nhánh trên là BM25, tách từ bằng pyvi rồi tìm trên nguyên điều luật, mạnh ở số hiệu và thuật ngữ. Nhánh dưới là mô hình ngữ nghĩa, tìm trên các đoạn nhỏ rồi lấy điểm cao nhất của mỗi điều. Mỗi nhánh lấy 100 kết quả rồi cộng điểm theo trọng số, alpha 0,75 chọn trên val.
Đầu ra trích nguyên văn khoản luật chứ không sinh câu trả lời, nên không bịa ra được.
Nếu thầy hỏi: Sao lấy điểm cao nhất mà không lấy trung bình các đoạn?
Câu trả lời thường nằm gọn trong một khoản, lấy trung bình thì các khoản khác kéo điểm xuống. Đo trên val: max 0,9563, trung bình 0,9127.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Lê Thị Tuấn Anh  ·  khoảng 35 giây
Vì sao phải chia đoạn? Mô hình chỉ đọc được 256 token, khoảng 140 chữ. Phần màu đỏ là các điều dài hơn thế, chiếm 61,1 phần trăm. Cắt cụt thì mất phần đuôi, mà đuôi điều luật hay là mức phạt và các ngoại lệ.
Nhóm cắt theo từng khoản, khoản nào quá dài mới cắt tiếp, đoạn nào cũng gắn tiêu đề điều ở đầu. 61.425 điều thành 154.176 đoạn.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Lê Thị Tuấn Anh  ·  khoảng 45 giây
Đến câu hỏi thứ nhất. Trên 788 câu test có dấu, Recall@10 của BM25 là 85,22, ngữ nghĩa 97,21, hợp nhất 97,72 phần trăm.
Hợp nhất hơn ngữ nghĩa 0,51 điểm, đếm ra chỉ 4 câu. Có cải thiện nhưng rất nhỏ, và mỗi cấu hình nhóm chỉ chạy một lần nên không dám nói là đáng kể. Cách RRF chỉ dựa vào thứ hạng còn kém ngữ nghĩa ở Recall@1. Em xin chuyển cho bạn Thư.
Nếu thầy hỏi: bkai điểm cao hơn, sao không dùng?
bkai đạt 97,46 nhưng đã học tập test, như slide 7, nên không so với các hệ sạch.
Nếu thầy hỏi: F2 sao thấp?
Nhóm cố định lấy 10 kết quả nên precision cao nhất chỉ 0,1. Zalo cho trả về số kết quả tùy ý, nên không so với bảng xếp hạng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Đoàn Mậu Thiên Thư  ·  khoảng 40 giây
Dạ. Vì sao hợp nhất giúp ít như vậy? Đối chiếu từng câu thì 669 câu cả hai nhánh đều tìm đúng, 98 câu chỉ ngữ nghĩa đúng, còn BM25 đúng mà ngữ nghĩa sai thì chỉ có 3 câu.
Vậy có bỏ BM25 không? Nhóm vẫn giữ, vì nó nhanh hơn khoảng 700 lần, chỉ mục nhỏ hơn gần mười lần, và chỉ ra được từ nào đã khớp để người dùng kiểm lại. Ở phần sau BM25 còn có vai trò khác.
Nếu thầy hỏi: Hệ vẫn sai ở những câu nào?
Hệ hợp nhất sai 17 câu, nhóm đọc tay cả 17: 10 ca thiếu ngữ cảnh pháp lý như câu nướng bắp, 5 ca nhiều điều cùng đúng mà nhãn ghi một, 2 ca nhãn đáng ngờ.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Đoàn Mậu Thiên Thư  ·  khoảng 45 giây
Câu hỏi thứ hai. Nhóm lấy đúng 788 câu test đó, bỏ hết dấu bằng máy, giữ nguyên nhãn rồi chạy lại. Mô hình ngữ nghĩa từ 97,21 rơi xuống 12,44. BM25 còn 6,22, hợp nhất cũng chỉ 14,47. Gần như không dùng được.
BM25 hỏng vì phat và phạt không khớp nhau. Còn mô hình ngữ nghĩa, nhóm đoán là do nó học chủ yếu văn bản có dấu, cái này chưa kiểm chứng. Lập chỉ mục BM25 trên văn bản bỏ dấu thì lên lại 74,30, nhưng vẫn còn xa.
Nếu thầy hỏi: Câu không dấu do máy tạo, có giống người gõ thật không?
Chưa giống hẳn: người thật còn gõ tắt, sai chính tả. Nhóm chọn cách này vì giữ nguyên được nhãn nên đo sạch. Đây là giới hạn lớn nhất.
Nếu thầy hỏi: BM25 bỏ dấu giảm là do bỏ dấu hay do đổi cách tách từ?
Cả hai. Đo riêng trên val: đổi cách tách từ mất 0,047, bỏ dấu mất thêm 0,137.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Đoàn Mậu Thiên Thư  ·  khoảng 45 giây
Cách nhóm sửa là phục hồi dấu trước khi tìm. Nhóm đếm các cặp âm tiết đi liền nhau trong 18,6 triệu âm tiết của chính kho luật. Mỗi âm tiết không dấu có vài ứng viên, như nghi có thể là nghỉ, nghị, nghĩ, rồi thuật toán Viterbi chọn chuỗi có xác suất cao nhất.
Kết quả đúng 98,45 phần trăm âm tiết, mỗi câu chưa tới một mili giây, học xong trong 15 giây trên CPU. Hệ từ 14,47 lên 96,70, chỉ kém câu có dấu 1,02 điểm.
Nếu thầy hỏi: Sao không dùng mô hình phục hồi dấu có sẵn hoặc LLM?
Nhóm chưa so trên cùng bộ dữ liệu nên không nói hơn kém. Bigram có lợi là không phải tải thêm mô hình, chạy trên CPU, và học đúng từ vựng luật.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Đoàn Mậu Thiên Thư  ·  khoảng 35 giây
Phục hồi vẫn sai, chủ yếu ở từ nói thường mà luật không dùng, như tài xế thành tải xe, máu thành mẫu. Có 166 câu sai ít nhất một âm tiết, trong đó mất 9 câu tìm đúng và được lại 1 câu.
Bên phải là câu gõ dấu một nửa, chữ có dấu chữ không. Vì chữ đã có dấu được giữ nguyên nên câu nửa dấu từ 74,81 lên 97,21, còn câu đủ dấu cho qua vẫn giữ 97,72.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Đoàn Mậu Thiên Thư  ·  khoảng 35 giây
Nhóm rút ra ba điều. Một, với câu có dấu, hợp nhất chỉ hơn ngữ nghĩa 4 câu, BM25 đáng giữ vì nhanh và giải thích được. Hai, khi mất dấu thì hệ sụp, và một mô hình bigram nhỏ học từ kho luật kéo lại gần hết. Ba, chống rò rỉ phải kiểm cả mô hình tải về, không dừng ở chia lại tập.
Giới hạn lớn nhất là câu không dấu do máy tạo, chưa có câu người thật gõ. Em xin hết phần trình bày, nhóm xin chuyển sang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502920"/>
            <a:ext cx="7315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Trường Đại học Công nghệ Thông tin, ĐHQG-HCM</a:t>
            </a:r>
            <a:endParaRPr lang="en-US" sz="1400" dirty="0"/>
          </a:p>
        </p:txBody>
      </p:sp>
      <p:sp>
        <p:nvSpPr>
          <p:cNvPr id="3" name="Text 1"/>
          <p:cNvSpPr txBox="1"/>
          <p:nvPr/>
        </p:nvSpPr>
        <p:spPr>
          <a:xfrm>
            <a:off x="594360" y="1874520"/>
            <a:ext cx="7315200" cy="274320"/>
          </a:xfrm>
          <a:prstGeom prst="rect">
            <a:avLst/>
          </a:prstGeom>
          <a:noFill/>
          <a:ln/>
        </p:spPr>
        <p:txBody>
          <a:bodyPr wrap="square" lIns="0" tIns="0" rIns="0" bIns="0" rtlCol="0" anchor="ctr"/>
          <a:lstStyle/>
          <a:p>
            <a:pPr indent="0" marL="0">
              <a:buNone/>
            </a:pPr>
            <a:r>
              <a:rPr lang="en-US" sz="1200" spc="200" kern="0" dirty="0">
                <a:solidFill>
                  <a:srgbClr val="9FC2DB"/>
                </a:solidFill>
                <a:latin typeface="Consolas" pitchFamily="34" charset="0"/>
                <a:ea typeface="Consolas" pitchFamily="34" charset="-122"/>
                <a:cs typeface="Consolas" pitchFamily="34" charset="-120"/>
              </a:rPr>
              <a:t>BÁO CÁO ĐỒ ÁN  ·  XỬ LÝ NGÔN NGỮ TỰ NHIÊN</a:t>
            </a:r>
            <a:endParaRPr lang="en-US" sz="1200" dirty="0"/>
          </a:p>
        </p:txBody>
      </p:sp>
      <p:sp>
        <p:nvSpPr>
          <p:cNvPr id="4" name="Text 2"/>
          <p:cNvSpPr txBox="1"/>
          <p:nvPr/>
        </p:nvSpPr>
        <p:spPr>
          <a:xfrm>
            <a:off x="594360" y="2240280"/>
            <a:ext cx="6766560" cy="1600200"/>
          </a:xfrm>
          <a:prstGeom prst="rect">
            <a:avLst/>
          </a:prstGeom>
          <a:noFill/>
          <a:ln/>
        </p:spPr>
        <p:txBody>
          <a:bodyPr wrap="square" lIns="0" tIns="0" rIns="0" bIns="0" rtlCol="0" anchor="t"/>
          <a:lstStyle/>
          <a:p>
            <a:pPr indent="0" marL="0">
              <a:lnSpc>
                <a:spcPct val="95000"/>
              </a:lnSpc>
              <a:buNone/>
            </a:pPr>
            <a:r>
              <a:rPr lang="en-US" sz="4000" b="1" dirty="0">
                <a:solidFill>
                  <a:srgbClr val="FFFFFF"/>
                </a:solidFill>
                <a:latin typeface="Cambria" pitchFamily="34" charset="0"/>
                <a:ea typeface="Cambria" pitchFamily="34" charset="-122"/>
                <a:cs typeface="Cambria" pitchFamily="34" charset="-120"/>
              </a:rPr>
              <a:t>Tìm kiếm điều luật tiếng Việt</a:t>
            </a:r>
            <a:endParaRPr lang="en-US" sz="4000" dirty="0"/>
          </a:p>
          <a:p>
            <a:pPr indent="0" marL="0">
              <a:lnSpc>
                <a:spcPct val="95000"/>
              </a:lnSpc>
              <a:buNone/>
            </a:pPr>
            <a:r>
              <a:rPr lang="en-US" sz="4000" b="1" dirty="0">
                <a:solidFill>
                  <a:srgbClr val="FFFFFF"/>
                </a:solidFill>
                <a:latin typeface="Cambria" pitchFamily="34" charset="0"/>
                <a:ea typeface="Cambria" pitchFamily="34" charset="-122"/>
                <a:cs typeface="Cambria" pitchFamily="34" charset="-120"/>
              </a:rPr>
              <a:t>cho câu hỏi gõ thiếu dấu</a:t>
            </a:r>
            <a:endParaRPr lang="en-US" sz="4000" dirty="0"/>
          </a:p>
        </p:txBody>
      </p:sp>
      <p:sp>
        <p:nvSpPr>
          <p:cNvPr id="5" name="Text 3"/>
          <p:cNvSpPr txBox="1"/>
          <p:nvPr/>
        </p:nvSpPr>
        <p:spPr>
          <a:xfrm>
            <a:off x="594360" y="3566160"/>
            <a:ext cx="6766560" cy="365760"/>
          </a:xfrm>
          <a:prstGeom prst="rect">
            <a:avLst/>
          </a:prstGeom>
          <a:noFill/>
          <a:ln/>
        </p:spPr>
        <p:txBody>
          <a:bodyPr wrap="square" lIns="0" tIns="0" rIns="0" bIns="0" rtlCol="0" anchor="ctr"/>
          <a:lstStyle/>
          <a:p>
            <a:pPr indent="0" marL="0">
              <a:buNone/>
            </a:pPr>
            <a:r>
              <a:rPr lang="en-US" sz="1800" i="1" dirty="0">
                <a:solidFill>
                  <a:srgbClr val="C9D6DF"/>
                </a:solidFill>
                <a:latin typeface="Calibri" pitchFamily="34" charset="0"/>
                <a:ea typeface="Calibri" pitchFamily="34" charset="-122"/>
                <a:cs typeface="Calibri" pitchFamily="34" charset="-120"/>
              </a:rPr>
              <a:t>Kết hợp từ khóa và ngữ nghĩa, phục hồi dấu, kiểm toán rò rỉ dữ liệu</a:t>
            </a:r>
            <a:endParaRPr lang="en-US" sz="1800" dirty="0"/>
          </a:p>
        </p:txBody>
      </p:sp>
      <p:sp>
        <p:nvSpPr>
          <p:cNvPr id="6" name="Text 4"/>
          <p:cNvSpPr txBox="1"/>
          <p:nvPr/>
        </p:nvSpPr>
        <p:spPr>
          <a:xfrm>
            <a:off x="594360" y="4343400"/>
            <a:ext cx="5486400" cy="1325880"/>
          </a:xfrm>
          <a:prstGeom prst="rect">
            <a:avLst/>
          </a:prstGeom>
          <a:noFill/>
          <a:ln/>
        </p:spPr>
        <p:txBody>
          <a:bodyPr wrap="square" lIns="0" tIns="0" rIns="0" bIns="0" rtlCol="0" anchor="t"/>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Nhóm 08</a:t>
            </a:r>
            <a:endParaRPr lang="en-US" sz="1300" dirty="0"/>
          </a:p>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Lê Hoàng Lộc  25210293</a:t>
            </a:r>
            <a:endParaRPr lang="en-US" sz="1300" dirty="0"/>
          </a:p>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Lê Thị Tuấn Anh  25210250</a:t>
            </a:r>
            <a:endParaRPr lang="en-US" sz="1300" dirty="0"/>
          </a:p>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Đoàn Mậu Thiên Thư  25210341</a:t>
            </a:r>
            <a:endParaRPr lang="en-US" sz="1300" dirty="0"/>
          </a:p>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GVHD: Đặng Văn Thìn</a:t>
            </a:r>
            <a:endParaRPr lang="en-US" sz="1300" dirty="0"/>
          </a:p>
        </p:txBody>
      </p:sp>
      <p:sp>
        <p:nvSpPr>
          <p:cNvPr id="7" name="Text 5"/>
          <p:cNvSpPr txBox="1"/>
          <p:nvPr/>
        </p:nvSpPr>
        <p:spPr>
          <a:xfrm>
            <a:off x="594360" y="6355080"/>
            <a:ext cx="5486400" cy="274320"/>
          </a:xfrm>
          <a:prstGeom prst="rect">
            <a:avLst/>
          </a:prstGeom>
          <a:noFill/>
          <a:ln/>
        </p:spPr>
        <p:txBody>
          <a:bodyPr wrap="square" lIns="0" tIns="0" rIns="0" bIns="0" rtlCol="0" anchor="ctr"/>
          <a:lstStyle/>
          <a:p>
            <a:pPr indent="0" marL="0">
              <a:buNone/>
            </a:pPr>
            <a:r>
              <a:rPr lang="en-US" sz="1100" dirty="0">
                <a:solidFill>
                  <a:srgbClr val="9AA8B2"/>
                </a:solidFill>
                <a:latin typeface="Calibri" pitchFamily="34" charset="0"/>
                <a:ea typeface="Calibri" pitchFamily="34" charset="-122"/>
                <a:cs typeface="Calibri" pitchFamily="34" charset="-120"/>
              </a:rPr>
              <a:t>TP. Hồ Chí Minh, tháng 9 năm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BÀI TOÁN  ·  02</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Người dân hỏi luật bằng lời thường, và thường gõ không dấu</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08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02 / 16</a:t>
            </a:r>
            <a:endParaRPr lang="en-US" sz="1000" dirty="0"/>
          </a:p>
        </p:txBody>
      </p:sp>
      <p:sp>
        <p:nvSpPr>
          <p:cNvPr id="7" name="Shape 4"/>
          <p:cNvSpPr/>
          <p:nvPr/>
        </p:nvSpPr>
        <p:spPr>
          <a:xfrm>
            <a:off x="594360" y="1691640"/>
            <a:ext cx="5318608" cy="3520440"/>
          </a:xfrm>
          <a:prstGeom prst="rect">
            <a:avLst/>
          </a:prstGeom>
          <a:solidFill>
            <a:srgbClr val="F3F5F2"/>
          </a:solidFill>
          <a:ln/>
        </p:spPr>
      </p:sp>
      <p:sp>
        <p:nvSpPr>
          <p:cNvPr id="8" name="Text 5"/>
          <p:cNvSpPr txBox="1"/>
          <p:nvPr/>
        </p:nvSpPr>
        <p:spPr>
          <a:xfrm>
            <a:off x="914400" y="1965960"/>
            <a:ext cx="3657600" cy="274320"/>
          </a:xfrm>
          <a:prstGeom prst="rect">
            <a:avLst/>
          </a:prstGeom>
          <a:noFill/>
          <a:ln/>
        </p:spPr>
        <p:txBody>
          <a:bodyPr wrap="square" lIns="0" tIns="0" rIns="0" bIns="0" rtlCol="0" anchor="ctr"/>
          <a:lstStyle/>
          <a:p>
            <a:pPr indent="0" marL="0">
              <a:buNone/>
            </a:pPr>
            <a:r>
              <a:rPr lang="en-US" sz="1200" b="1" dirty="0">
                <a:solidFill>
                  <a:srgbClr val="2C5F8A"/>
                </a:solidFill>
                <a:latin typeface="Consolas" pitchFamily="34" charset="0"/>
                <a:ea typeface="Consolas" pitchFamily="34" charset="-122"/>
                <a:cs typeface="Consolas" pitchFamily="34" charset="-120"/>
              </a:rPr>
              <a:t>KHÁC TỪ VỰNG</a:t>
            </a:r>
            <a:endParaRPr lang="en-US" sz="1200" dirty="0"/>
          </a:p>
        </p:txBody>
      </p:sp>
      <p:sp>
        <p:nvSpPr>
          <p:cNvPr id="9" name="Text 6"/>
          <p:cNvSpPr txBox="1"/>
          <p:nvPr/>
        </p:nvSpPr>
        <p:spPr>
          <a:xfrm>
            <a:off x="914400" y="2423160"/>
            <a:ext cx="3657600" cy="256032"/>
          </a:xfrm>
          <a:prstGeom prst="rect">
            <a:avLst/>
          </a:prstGeom>
          <a:noFill/>
          <a:ln/>
        </p:spPr>
        <p:txBody>
          <a:bodyPr wrap="square" lIns="0" tIns="0" rIns="0" bIns="0" rtlCol="0" anchor="ctr"/>
          <a:lstStyle/>
          <a:p>
            <a:pPr indent="0" marL="0">
              <a:buNone/>
            </a:pPr>
            <a:r>
              <a:rPr lang="en-US" sz="1300" dirty="0">
                <a:solidFill>
                  <a:srgbClr val="77858E"/>
                </a:solidFill>
                <a:latin typeface="Calibri" pitchFamily="34" charset="0"/>
                <a:ea typeface="Calibri" pitchFamily="34" charset="-122"/>
                <a:cs typeface="Calibri" pitchFamily="34" charset="-120"/>
              </a:rPr>
              <a:t>Người hỏi</a:t>
            </a:r>
            <a:endParaRPr lang="en-US" sz="1300" dirty="0"/>
          </a:p>
        </p:txBody>
      </p:sp>
      <p:sp>
        <p:nvSpPr>
          <p:cNvPr id="10" name="Text 7"/>
          <p:cNvSpPr txBox="1"/>
          <p:nvPr/>
        </p:nvSpPr>
        <p:spPr>
          <a:xfrm>
            <a:off x="914400" y="2697480"/>
            <a:ext cx="4678528" cy="731520"/>
          </a:xfrm>
          <a:prstGeom prst="rect">
            <a:avLst/>
          </a:prstGeom>
          <a:noFill/>
          <a:ln/>
        </p:spPr>
        <p:txBody>
          <a:bodyPr wrap="square" lIns="0" tIns="0" rIns="0" bIns="0" rtlCol="0" anchor="t"/>
          <a:lstStyle/>
          <a:p>
            <a:pPr indent="0" marL="0">
              <a:buNone/>
            </a:pPr>
            <a:r>
              <a:rPr lang="en-US" sz="2100" dirty="0">
                <a:solidFill>
                  <a:srgbClr val="16222C"/>
                </a:solidFill>
                <a:latin typeface="Cambria" pitchFamily="34" charset="0"/>
                <a:ea typeface="Cambria" pitchFamily="34" charset="-122"/>
                <a:cs typeface="Cambria" pitchFamily="34" charset="-120"/>
              </a:rPr>
              <a:t>Nướng bắp, ngô trên cầu phạt bao nhiêu tiền?</a:t>
            </a:r>
            <a:endParaRPr lang="en-US" sz="2100" dirty="0"/>
          </a:p>
        </p:txBody>
      </p:sp>
      <p:sp>
        <p:nvSpPr>
          <p:cNvPr id="11" name="Text 8"/>
          <p:cNvSpPr txBox="1"/>
          <p:nvPr/>
        </p:nvSpPr>
        <p:spPr>
          <a:xfrm>
            <a:off x="914400" y="3566160"/>
            <a:ext cx="3657600" cy="256032"/>
          </a:xfrm>
          <a:prstGeom prst="rect">
            <a:avLst/>
          </a:prstGeom>
          <a:noFill/>
          <a:ln/>
        </p:spPr>
        <p:txBody>
          <a:bodyPr wrap="square" lIns="0" tIns="0" rIns="0" bIns="0" rtlCol="0" anchor="ctr"/>
          <a:lstStyle/>
          <a:p>
            <a:pPr indent="0" marL="0">
              <a:buNone/>
            </a:pPr>
            <a:r>
              <a:rPr lang="en-US" sz="1300" dirty="0">
                <a:solidFill>
                  <a:srgbClr val="77858E"/>
                </a:solidFill>
                <a:latin typeface="Calibri" pitchFamily="34" charset="0"/>
                <a:ea typeface="Calibri" pitchFamily="34" charset="-122"/>
                <a:cs typeface="Calibri" pitchFamily="34" charset="-120"/>
              </a:rPr>
              <a:t>Điều luật đúng</a:t>
            </a:r>
            <a:endParaRPr lang="en-US" sz="1300" dirty="0"/>
          </a:p>
        </p:txBody>
      </p:sp>
      <p:sp>
        <p:nvSpPr>
          <p:cNvPr id="12" name="Text 9"/>
          <p:cNvSpPr txBox="1"/>
          <p:nvPr/>
        </p:nvSpPr>
        <p:spPr>
          <a:xfrm>
            <a:off x="914400" y="3840480"/>
            <a:ext cx="4678528" cy="731520"/>
          </a:xfrm>
          <a:prstGeom prst="rect">
            <a:avLst/>
          </a:prstGeom>
          <a:noFill/>
          <a:ln/>
        </p:spPr>
        <p:txBody>
          <a:bodyPr wrap="square" lIns="0" tIns="0" rIns="0" bIns="0" rtlCol="0" anchor="t"/>
          <a:lstStyle/>
          <a:p>
            <a:pPr indent="0" marL="0">
              <a:buNone/>
            </a:pPr>
            <a:r>
              <a:rPr lang="en-US" sz="1700" dirty="0">
                <a:solidFill>
                  <a:srgbClr val="46545F"/>
                </a:solidFill>
                <a:latin typeface="Cambria" pitchFamily="34" charset="0"/>
                <a:ea typeface="Cambria" pitchFamily="34" charset="-122"/>
                <a:cs typeface="Cambria" pitchFamily="34" charset="-120"/>
              </a:rPr>
              <a:t>Xử phạt vi phạm quy định về quản lý, khai thác, bảo trì công trình đường bộ</a:t>
            </a:r>
            <a:endParaRPr lang="en-US" sz="1700" dirty="0"/>
          </a:p>
        </p:txBody>
      </p:sp>
      <p:sp>
        <p:nvSpPr>
          <p:cNvPr id="13" name="Text 10"/>
          <p:cNvSpPr txBox="1"/>
          <p:nvPr/>
        </p:nvSpPr>
        <p:spPr>
          <a:xfrm>
            <a:off x="914400" y="4709160"/>
            <a:ext cx="4678528" cy="310896"/>
          </a:xfrm>
          <a:prstGeom prst="rect">
            <a:avLst/>
          </a:prstGeom>
          <a:noFill/>
          <a:ln/>
        </p:spPr>
        <p:txBody>
          <a:bodyPr wrap="square" lIns="0" tIns="0" rIns="0" bIns="0" rtlCol="0" anchor="ctr"/>
          <a:lstStyle/>
          <a:p>
            <a:pPr indent="0" marL="0">
              <a:buNone/>
            </a:pPr>
            <a:r>
              <a:rPr lang="en-US" sz="1500" b="1" dirty="0">
                <a:solidFill>
                  <a:srgbClr val="A8202B"/>
                </a:solidFill>
                <a:latin typeface="Calibri" pitchFamily="34" charset="0"/>
                <a:ea typeface="Calibri" pitchFamily="34" charset="-122"/>
                <a:cs typeface="Calibri" pitchFamily="34" charset="-120"/>
              </a:rPr>
              <a:t>Không trùng một từ nào</a:t>
            </a:r>
            <a:endParaRPr lang="en-US" sz="1500" dirty="0"/>
          </a:p>
        </p:txBody>
      </p:sp>
      <p:sp>
        <p:nvSpPr>
          <p:cNvPr id="14" name="Shape 11"/>
          <p:cNvSpPr/>
          <p:nvPr/>
        </p:nvSpPr>
        <p:spPr>
          <a:xfrm>
            <a:off x="6278728" y="1691640"/>
            <a:ext cx="5318608" cy="3520440"/>
          </a:xfrm>
          <a:prstGeom prst="rect">
            <a:avLst/>
          </a:prstGeom>
          <a:solidFill>
            <a:srgbClr val="F3F5F2"/>
          </a:solidFill>
          <a:ln/>
        </p:spPr>
      </p:sp>
      <p:sp>
        <p:nvSpPr>
          <p:cNvPr id="15" name="Text 12"/>
          <p:cNvSpPr txBox="1"/>
          <p:nvPr/>
        </p:nvSpPr>
        <p:spPr>
          <a:xfrm>
            <a:off x="6598768" y="1965960"/>
            <a:ext cx="3657600" cy="274320"/>
          </a:xfrm>
          <a:prstGeom prst="rect">
            <a:avLst/>
          </a:prstGeom>
          <a:noFill/>
          <a:ln/>
        </p:spPr>
        <p:txBody>
          <a:bodyPr wrap="square" lIns="0" tIns="0" rIns="0" bIns="0" rtlCol="0" anchor="ctr"/>
          <a:lstStyle/>
          <a:p>
            <a:pPr indent="0" marL="0">
              <a:buNone/>
            </a:pPr>
            <a:r>
              <a:rPr lang="en-US" sz="1200" b="1" dirty="0">
                <a:solidFill>
                  <a:srgbClr val="A8202B"/>
                </a:solidFill>
                <a:latin typeface="Consolas" pitchFamily="34" charset="0"/>
                <a:ea typeface="Consolas" pitchFamily="34" charset="-122"/>
                <a:cs typeface="Consolas" pitchFamily="34" charset="-120"/>
              </a:rPr>
              <a:t>MẤT DẤU</a:t>
            </a:r>
            <a:endParaRPr lang="en-US" sz="1200" dirty="0"/>
          </a:p>
        </p:txBody>
      </p:sp>
      <p:sp>
        <p:nvSpPr>
          <p:cNvPr id="16" name="Text 13"/>
          <p:cNvSpPr txBox="1"/>
          <p:nvPr/>
        </p:nvSpPr>
        <p:spPr>
          <a:xfrm>
            <a:off x="6598768" y="2423160"/>
            <a:ext cx="3657600" cy="256032"/>
          </a:xfrm>
          <a:prstGeom prst="rect">
            <a:avLst/>
          </a:prstGeom>
          <a:noFill/>
          <a:ln/>
        </p:spPr>
        <p:txBody>
          <a:bodyPr wrap="square" lIns="0" tIns="0" rIns="0" bIns="0" rtlCol="0" anchor="ctr"/>
          <a:lstStyle/>
          <a:p>
            <a:pPr indent="0" marL="0">
              <a:buNone/>
            </a:pPr>
            <a:r>
              <a:rPr lang="en-US" sz="1300" dirty="0">
                <a:solidFill>
                  <a:srgbClr val="77858E"/>
                </a:solidFill>
                <a:latin typeface="Calibri" pitchFamily="34" charset="0"/>
                <a:ea typeface="Calibri" pitchFamily="34" charset="-122"/>
                <a:cs typeface="Calibri" pitchFamily="34" charset="-120"/>
              </a:rPr>
              <a:t>Gõ đủ dấu</a:t>
            </a:r>
            <a:endParaRPr lang="en-US" sz="1300" dirty="0"/>
          </a:p>
        </p:txBody>
      </p:sp>
      <p:sp>
        <p:nvSpPr>
          <p:cNvPr id="17" name="Text 14"/>
          <p:cNvSpPr txBox="1"/>
          <p:nvPr/>
        </p:nvSpPr>
        <p:spPr>
          <a:xfrm>
            <a:off x="6598768" y="2697480"/>
            <a:ext cx="4678528" cy="731520"/>
          </a:xfrm>
          <a:prstGeom prst="rect">
            <a:avLst/>
          </a:prstGeom>
          <a:noFill/>
          <a:ln/>
        </p:spPr>
        <p:txBody>
          <a:bodyPr wrap="square" lIns="0" tIns="0" rIns="0" bIns="0" rtlCol="0" anchor="t"/>
          <a:lstStyle/>
          <a:p>
            <a:pPr indent="0" marL="0">
              <a:buNone/>
            </a:pPr>
            <a:r>
              <a:rPr lang="en-US" sz="2100" dirty="0">
                <a:solidFill>
                  <a:srgbClr val="16222C"/>
                </a:solidFill>
                <a:latin typeface="Cambria" pitchFamily="34" charset="0"/>
                <a:ea typeface="Cambria" pitchFamily="34" charset="-122"/>
                <a:cs typeface="Cambria" pitchFamily="34" charset="-120"/>
              </a:rPr>
              <a:t>Đi xe máy không đội mũ bảo hiểm bị phạt bao nhiêu tiền?</a:t>
            </a:r>
            <a:endParaRPr lang="en-US" sz="2100" dirty="0"/>
          </a:p>
        </p:txBody>
      </p:sp>
      <p:sp>
        <p:nvSpPr>
          <p:cNvPr id="18" name="Text 15"/>
          <p:cNvSpPr txBox="1"/>
          <p:nvPr/>
        </p:nvSpPr>
        <p:spPr>
          <a:xfrm>
            <a:off x="6598768" y="3566160"/>
            <a:ext cx="3657600" cy="256032"/>
          </a:xfrm>
          <a:prstGeom prst="rect">
            <a:avLst/>
          </a:prstGeom>
          <a:noFill/>
          <a:ln/>
        </p:spPr>
        <p:txBody>
          <a:bodyPr wrap="square" lIns="0" tIns="0" rIns="0" bIns="0" rtlCol="0" anchor="ctr"/>
          <a:lstStyle/>
          <a:p>
            <a:pPr indent="0" marL="0">
              <a:buNone/>
            </a:pPr>
            <a:r>
              <a:rPr lang="en-US" sz="1300" dirty="0">
                <a:solidFill>
                  <a:srgbClr val="77858E"/>
                </a:solidFill>
                <a:latin typeface="Calibri" pitchFamily="34" charset="0"/>
                <a:ea typeface="Calibri" pitchFamily="34" charset="-122"/>
                <a:cs typeface="Calibri" pitchFamily="34" charset="-120"/>
              </a:rPr>
              <a:t>Gõ vội trên điện thoại</a:t>
            </a:r>
            <a:endParaRPr lang="en-US" sz="1300" dirty="0"/>
          </a:p>
        </p:txBody>
      </p:sp>
      <p:sp>
        <p:nvSpPr>
          <p:cNvPr id="19" name="Text 16"/>
          <p:cNvSpPr txBox="1"/>
          <p:nvPr/>
        </p:nvSpPr>
        <p:spPr>
          <a:xfrm>
            <a:off x="6598768" y="3840480"/>
            <a:ext cx="4678528" cy="731520"/>
          </a:xfrm>
          <a:prstGeom prst="rect">
            <a:avLst/>
          </a:prstGeom>
          <a:noFill/>
          <a:ln/>
        </p:spPr>
        <p:txBody>
          <a:bodyPr wrap="square" lIns="0" tIns="0" rIns="0" bIns="0" rtlCol="0" anchor="t"/>
          <a:lstStyle/>
          <a:p>
            <a:pPr indent="0" marL="0">
              <a:buNone/>
            </a:pPr>
            <a:r>
              <a:rPr lang="en-US" sz="1700" dirty="0">
                <a:solidFill>
                  <a:srgbClr val="A8202B"/>
                </a:solidFill>
                <a:latin typeface="Consolas" pitchFamily="34" charset="0"/>
                <a:ea typeface="Consolas" pitchFamily="34" charset="-122"/>
                <a:cs typeface="Consolas" pitchFamily="34" charset="-120"/>
              </a:rPr>
              <a:t>di xe may khong doi mu bao hiem bi phat bao nhieu tien</a:t>
            </a:r>
            <a:endParaRPr lang="en-US" sz="1700" dirty="0"/>
          </a:p>
        </p:txBody>
      </p:sp>
      <p:sp>
        <p:nvSpPr>
          <p:cNvPr id="20" name="Text 17"/>
          <p:cNvSpPr txBox="1"/>
          <p:nvPr/>
        </p:nvSpPr>
        <p:spPr>
          <a:xfrm>
            <a:off x="6598768" y="4709160"/>
            <a:ext cx="4678528" cy="310896"/>
          </a:xfrm>
          <a:prstGeom prst="rect">
            <a:avLst/>
          </a:prstGeom>
          <a:noFill/>
          <a:ln/>
        </p:spPr>
        <p:txBody>
          <a:bodyPr wrap="square" lIns="0" tIns="0" rIns="0" bIns="0" rtlCol="0" anchor="ctr"/>
          <a:lstStyle/>
          <a:p>
            <a:pPr indent="0" marL="0">
              <a:buNone/>
            </a:pPr>
            <a:r>
              <a:rPr lang="en-US" sz="1500" b="1" dirty="0">
                <a:solidFill>
                  <a:srgbClr val="A8202B"/>
                </a:solidFill>
                <a:latin typeface="Calibri" pitchFamily="34" charset="0"/>
                <a:ea typeface="Calibri" pitchFamily="34" charset="-122"/>
                <a:cs typeface="Calibri" pitchFamily="34" charset="-120"/>
              </a:rPr>
              <a:t>Với máy, “phạt” và “phat” là hai chữ khác nhau</a:t>
            </a:r>
            <a:endParaRPr lang="en-US" sz="1500" dirty="0"/>
          </a:p>
        </p:txBody>
      </p:sp>
      <p:sp>
        <p:nvSpPr>
          <p:cNvPr id="21" name="Text 18"/>
          <p:cNvSpPr txBox="1"/>
          <p:nvPr/>
        </p:nvSpPr>
        <p:spPr>
          <a:xfrm>
            <a:off x="594360" y="5532120"/>
            <a:ext cx="11002975" cy="365760"/>
          </a:xfrm>
          <a:prstGeom prst="rect">
            <a:avLst/>
          </a:prstGeom>
          <a:noFill/>
          <a:ln/>
        </p:spPr>
        <p:txBody>
          <a:bodyPr wrap="square" lIns="0" tIns="0" rIns="0" bIns="0" rtlCol="0" anchor="ctr"/>
          <a:lstStyle/>
          <a:p>
            <a:pPr indent="0" marL="0">
              <a:buNone/>
            </a:pPr>
            <a:r>
              <a:rPr lang="en-US" sz="1500" dirty="0">
                <a:solidFill>
                  <a:srgbClr val="46545F"/>
                </a:solidFill>
                <a:latin typeface="Calibri" pitchFamily="34" charset="0"/>
                <a:ea typeface="Calibri" pitchFamily="34" charset="-122"/>
                <a:cs typeface="Calibri" pitchFamily="34" charset="-120"/>
              </a:rPr>
              <a:t>Đầu vào: một câu hỏi tự nhiên.   Đầu ra: điều luật xếp hạng trong 61.425 điều của 3.271 văn bản, kèm từ đã khớp.</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NGHIÊN CỨU TRƯỚC  ·  03</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Kết hợp từ khóa và ngữ nghĩa đã là công thức quen thuộc</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08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03 / 16</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94360" y="1737360"/>
          <a:ext cx="11002975" cy="914400"/>
        </p:xfrm>
        <a:graphic>
          <a:graphicData uri="http://schemas.openxmlformats.org/drawingml/2006/table">
            <a:tbl>
              <a:tblPr/>
              <a:tblGrid>
                <a:gridCol w="2743200"/>
                <a:gridCol w="5056632"/>
                <a:gridCol w="3200400"/>
              </a:tblGrid>
              <a:tr h="384048">
                <a:tc>
                  <a:txBody>
                    <a:bodyPr/>
                    <a:lstStyle/>
                    <a:p>
                      <a:pPr indent="0" marL="0">
                        <a:buNone/>
                      </a:pPr>
                      <a:r>
                        <a:rPr lang="en-US" sz="1100" b="1" dirty="0">
                          <a:solidFill>
                            <a:srgbClr val="77858E"/>
                          </a:solidFill>
                          <a:latin typeface="Consolas" pitchFamily="34" charset="0"/>
                          <a:ea typeface="Consolas" pitchFamily="34" charset="-122"/>
                          <a:cs typeface="Consolas" pitchFamily="34" charset="-120"/>
                        </a:rPr>
                        <a:t>HƯỚNG</a:t>
                      </a:r>
                      <a:endParaRPr lang="en-US" sz="1100" dirty="0">
                        <a:latin typeface="Consolas" charset="0"/>
                        <a:ea typeface="Consolas" charset="0"/>
                        <a:cs typeface="Consolas"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FFFFF"/>
                    </a:solidFill>
                  </a:tcPr>
                </a:tc>
                <a:tc>
                  <a:txBody>
                    <a:bodyPr/>
                    <a:lstStyle/>
                    <a:p>
                      <a:pPr indent="0" marL="0">
                        <a:buNone/>
                      </a:pPr>
                      <a:r>
                        <a:rPr lang="en-US" sz="1100" b="1" dirty="0">
                          <a:solidFill>
                            <a:srgbClr val="77858E"/>
                          </a:solidFill>
                          <a:latin typeface="Consolas" pitchFamily="34" charset="0"/>
                          <a:ea typeface="Consolas" pitchFamily="34" charset="-122"/>
                          <a:cs typeface="Consolas" pitchFamily="34" charset="-120"/>
                        </a:rPr>
                        <a:t>CÔNG TRÌNH TIÊU BIỂU</a:t>
                      </a:r>
                      <a:endParaRPr lang="en-US" sz="1100" dirty="0">
                        <a:latin typeface="Consolas" charset="0"/>
                        <a:ea typeface="Consolas" charset="0"/>
                        <a:cs typeface="Consolas"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FFFFF"/>
                    </a:solidFill>
                  </a:tcPr>
                </a:tc>
                <a:tc>
                  <a:txBody>
                    <a:bodyPr/>
                    <a:lstStyle/>
                    <a:p>
                      <a:pPr indent="0" marL="0">
                        <a:buNone/>
                      </a:pPr>
                      <a:r>
                        <a:rPr lang="en-US" sz="1100" b="1" dirty="0">
                          <a:solidFill>
                            <a:srgbClr val="77858E"/>
                          </a:solidFill>
                          <a:latin typeface="Consolas" pitchFamily="34" charset="0"/>
                          <a:ea typeface="Consolas" pitchFamily="34" charset="-122"/>
                          <a:cs typeface="Consolas" pitchFamily="34" charset="-120"/>
                        </a:rPr>
                        <a:t>HỌ KẾT LUẬN</a:t>
                      </a:r>
                      <a:endParaRPr lang="en-US" sz="1100" dirty="0">
                        <a:latin typeface="Consolas" charset="0"/>
                        <a:ea typeface="Consolas" charset="0"/>
                        <a:cs typeface="Consolas"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FFFFF"/>
                    </a:solidFill>
                  </a:tcPr>
                </a:tc>
              </a:tr>
              <a:tr h="658368">
                <a:tc>
                  <a:txBody>
                    <a:bodyPr/>
                    <a:lstStyle/>
                    <a:p>
                      <a:pPr indent="0" marL="0">
                        <a:buNone/>
                      </a:pPr>
                      <a:r>
                        <a:rPr lang="en-US" sz="1500" b="1" dirty="0">
                          <a:solidFill>
                            <a:srgbClr val="16222C"/>
                          </a:solidFill>
                          <a:latin typeface="Calibri" pitchFamily="34" charset="0"/>
                          <a:ea typeface="Calibri" pitchFamily="34" charset="-122"/>
                          <a:cs typeface="Calibri" pitchFamily="34" charset="-120"/>
                        </a:rPr>
                        <a:t>Ghép BM25 với ngữ nghĩa</a:t>
                      </a:r>
                      <a:endParaRPr lang="en-US" sz="15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3F5F2"/>
                    </a:solidFill>
                  </a:tcPr>
                </a:tc>
                <a:tc>
                  <a:txBody>
                    <a:bodyPr/>
                    <a:lstStyle/>
                    <a:p>
                      <a:pPr indent="0" marL="0">
                        <a:buNone/>
                      </a:pPr>
                      <a:r>
                        <a:rPr lang="en-US" sz="1300" dirty="0">
                          <a:solidFill>
                            <a:srgbClr val="46545F"/>
                          </a:solidFill>
                          <a:latin typeface="Calibri" pitchFamily="34" charset="0"/>
                          <a:ea typeface="Calibri" pitchFamily="34" charset="-122"/>
                          <a:cs typeface="Calibri" pitchFamily="34" charset="-120"/>
                        </a:rPr>
                        <a:t>Zalo AI 2021; Khang 2024; ViDRILL, VLSP 2025; Nguyen và Quan, EACL 2026</a:t>
                      </a:r>
                      <a:endParaRPr lang="en-US" sz="13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3F5F2"/>
                    </a:solidFill>
                  </a:tcPr>
                </a:tc>
                <a:tc>
                  <a:txBody>
                    <a:bodyPr/>
                    <a:lstStyle/>
                    <a:p>
                      <a:pPr indent="0" marL="0">
                        <a:buNone/>
                      </a:pPr>
                      <a:r>
                        <a:rPr lang="en-US" sz="1500" dirty="0">
                          <a:solidFill>
                            <a:srgbClr val="16222C"/>
                          </a:solidFill>
                          <a:latin typeface="Calibri" pitchFamily="34" charset="0"/>
                          <a:ea typeface="Calibri" pitchFamily="34" charset="-122"/>
                          <a:cs typeface="Calibri" pitchFamily="34" charset="-120"/>
                        </a:rPr>
                        <a:t>Ghép tốt hơn từng tầng</a:t>
                      </a:r>
                      <a:endParaRPr lang="en-US" sz="15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3F5F2"/>
                    </a:solidFill>
                  </a:tcPr>
                </a:tc>
              </a:tr>
              <a:tr h="658368">
                <a:tc>
                  <a:txBody>
                    <a:bodyPr/>
                    <a:lstStyle/>
                    <a:p>
                      <a:pPr indent="0" marL="0">
                        <a:buNone/>
                      </a:pPr>
                      <a:r>
                        <a:rPr lang="en-US" sz="1500" b="1" dirty="0">
                          <a:solidFill>
                            <a:srgbClr val="16222C"/>
                          </a:solidFill>
                          <a:latin typeface="Calibri" pitchFamily="34" charset="0"/>
                          <a:ea typeface="Calibri" pitchFamily="34" charset="-122"/>
                          <a:cs typeface="Calibri" pitchFamily="34" charset="-120"/>
                        </a:rPr>
                        <a:t>Làm mạnh tầng ngữ nghĩa</a:t>
                      </a:r>
                      <a:endParaRPr lang="en-US" sz="15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FFFFF"/>
                    </a:solidFill>
                  </a:tcPr>
                </a:tc>
                <a:tc>
                  <a:txBody>
                    <a:bodyPr/>
                    <a:lstStyle/>
                    <a:p>
                      <a:pPr indent="0" marL="0">
                        <a:buNone/>
                      </a:pPr>
                      <a:r>
                        <a:rPr lang="en-US" sz="1300" dirty="0">
                          <a:solidFill>
                            <a:srgbClr val="46545F"/>
                          </a:solidFill>
                          <a:latin typeface="Calibri" pitchFamily="34" charset="0"/>
                          <a:ea typeface="Calibri" pitchFamily="34" charset="-122"/>
                          <a:cs typeface="Calibri" pitchFamily="34" charset="-120"/>
                        </a:rPr>
                        <a:t>Pham 2022; Pham Tien 2024; Le 2025, UIT; ALQAC 2021-2023</a:t>
                      </a:r>
                      <a:endParaRPr lang="en-US" sz="13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FFFFF"/>
                    </a:solidFill>
                  </a:tcPr>
                </a:tc>
                <a:tc>
                  <a:txBody>
                    <a:bodyPr/>
                    <a:lstStyle/>
                    <a:p>
                      <a:pPr indent="0" marL="0">
                        <a:buNone/>
                      </a:pPr>
                      <a:r>
                        <a:rPr lang="en-US" sz="1500" dirty="0">
                          <a:solidFill>
                            <a:srgbClr val="16222C"/>
                          </a:solidFill>
                          <a:latin typeface="Calibri" pitchFamily="34" charset="0"/>
                          <a:ea typeface="Calibri" pitchFamily="34" charset="-122"/>
                          <a:cs typeface="Calibri" pitchFamily="34" charset="-120"/>
                        </a:rPr>
                        <a:t>Không hỏi BM25 còn góp bao nhiêu</a:t>
                      </a:r>
                      <a:endParaRPr lang="en-US" sz="15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FFFFF"/>
                    </a:solidFill>
                  </a:tcPr>
                </a:tc>
              </a:tr>
              <a:tr h="658368">
                <a:tc>
                  <a:txBody>
                    <a:bodyPr/>
                    <a:lstStyle/>
                    <a:p>
                      <a:pPr indent="0" marL="0">
                        <a:buNone/>
                      </a:pPr>
                      <a:r>
                        <a:rPr lang="en-US" sz="1500" b="1" dirty="0">
                          <a:solidFill>
                            <a:srgbClr val="16222C"/>
                          </a:solidFill>
                          <a:latin typeface="Calibri" pitchFamily="34" charset="0"/>
                          <a:ea typeface="Calibri" pitchFamily="34" charset="-122"/>
                          <a:cs typeface="Calibri" pitchFamily="34" charset="-120"/>
                        </a:rPr>
                        <a:t>Cách hợp nhất</a:t>
                      </a:r>
                      <a:endParaRPr lang="en-US" sz="15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3F5F2"/>
                    </a:solidFill>
                  </a:tcPr>
                </a:tc>
                <a:tc>
                  <a:txBody>
                    <a:bodyPr/>
                    <a:lstStyle/>
                    <a:p>
                      <a:pPr indent="0" marL="0">
                        <a:buNone/>
                      </a:pPr>
                      <a:r>
                        <a:rPr lang="en-US" sz="1300" dirty="0">
                          <a:solidFill>
                            <a:srgbClr val="46545F"/>
                          </a:solidFill>
                          <a:latin typeface="Calibri" pitchFamily="34" charset="0"/>
                          <a:ea typeface="Calibri" pitchFamily="34" charset="-122"/>
                          <a:cs typeface="Calibri" pitchFamily="34" charset="-120"/>
                        </a:rPr>
                        <a:t>Cormack 2009 (RRF); Bruch 2023, ACM TOIS</a:t>
                      </a:r>
                      <a:endParaRPr lang="en-US" sz="13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3F5F2"/>
                    </a:solidFill>
                  </a:tcPr>
                </a:tc>
                <a:tc>
                  <a:txBody>
                    <a:bodyPr/>
                    <a:lstStyle/>
                    <a:p>
                      <a:pPr indent="0" marL="0">
                        <a:buNone/>
                      </a:pPr>
                      <a:r>
                        <a:rPr lang="en-US" sz="1500" dirty="0">
                          <a:solidFill>
                            <a:srgbClr val="16222C"/>
                          </a:solidFill>
                          <a:latin typeface="Calibri" pitchFamily="34" charset="0"/>
                          <a:ea typeface="Calibri" pitchFamily="34" charset="-122"/>
                          <a:cs typeface="Calibri" pitchFamily="34" charset="-120"/>
                        </a:rPr>
                        <a:t>Tổng trọng số hơn RRF khi chỉnh được</a:t>
                      </a:r>
                      <a:endParaRPr lang="en-US" sz="15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3F5F2"/>
                    </a:solidFill>
                  </a:tcPr>
                </a:tc>
              </a:tr>
              <a:tr h="658368">
                <a:tc>
                  <a:txBody>
                    <a:bodyPr/>
                    <a:lstStyle/>
                    <a:p>
                      <a:pPr indent="0" marL="0">
                        <a:buNone/>
                      </a:pPr>
                      <a:r>
                        <a:rPr lang="en-US" sz="1500" b="1" dirty="0">
                          <a:solidFill>
                            <a:srgbClr val="16222C"/>
                          </a:solidFill>
                          <a:latin typeface="Calibri" pitchFamily="34" charset="0"/>
                          <a:ea typeface="Calibri" pitchFamily="34" charset="-122"/>
                          <a:cs typeface="Calibri" pitchFamily="34" charset="-120"/>
                        </a:rPr>
                        <a:t>Phục hồi dấu tiếng Việt</a:t>
                      </a:r>
                      <a:endParaRPr lang="en-US" sz="15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8E9E9"/>
                    </a:solidFill>
                  </a:tcPr>
                </a:tc>
                <a:tc>
                  <a:txBody>
                    <a:bodyPr/>
                    <a:lstStyle/>
                    <a:p>
                      <a:pPr indent="0" marL="0">
                        <a:buNone/>
                      </a:pPr>
                      <a:r>
                        <a:rPr lang="en-US" sz="1300" dirty="0">
                          <a:solidFill>
                            <a:srgbClr val="46545F"/>
                          </a:solidFill>
                          <a:latin typeface="Calibri" pitchFamily="34" charset="0"/>
                          <a:ea typeface="Calibri" pitchFamily="34" charset="-122"/>
                          <a:cs typeface="Calibri" pitchFamily="34" charset="-120"/>
                        </a:rPr>
                        <a:t>Pham, Pham, Le-Hong 2017; Le-Hong 2021</a:t>
                      </a:r>
                      <a:endParaRPr lang="en-US" sz="13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8E9E9"/>
                    </a:solidFill>
                  </a:tcPr>
                </a:tc>
                <a:tc>
                  <a:txBody>
                    <a:bodyPr/>
                    <a:lstStyle/>
                    <a:p>
                      <a:pPr indent="0" marL="0">
                        <a:buNone/>
                      </a:pPr>
                      <a:r>
                        <a:rPr lang="en-US" sz="1500" b="1" dirty="0">
                          <a:solidFill>
                            <a:srgbClr val="A8202B"/>
                          </a:solidFill>
                          <a:latin typeface="Calibri" pitchFamily="34" charset="0"/>
                          <a:ea typeface="Calibri" pitchFamily="34" charset="-122"/>
                          <a:cs typeface="Calibri" pitchFamily="34" charset="-120"/>
                        </a:rPr>
                        <a:t>Khoảng 97%, chưa đo cho tìm luật</a:t>
                      </a:r>
                      <a:endParaRPr lang="en-US" sz="15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8E9E9"/>
                    </a:solidFill>
                  </a:tcPr>
                </a:tc>
              </a:tr>
              <a:tr h="658368">
                <a:tc>
                  <a:txBody>
                    <a:bodyPr/>
                    <a:lstStyle/>
                    <a:p>
                      <a:pPr indent="0" marL="0">
                        <a:buNone/>
                      </a:pPr>
                      <a:r>
                        <a:rPr lang="en-US" sz="1500" b="1" dirty="0">
                          <a:solidFill>
                            <a:srgbClr val="16222C"/>
                          </a:solidFill>
                          <a:latin typeface="Calibri" pitchFamily="34" charset="0"/>
                          <a:ea typeface="Calibri" pitchFamily="34" charset="-122"/>
                          <a:cs typeface="Calibri" pitchFamily="34" charset="-120"/>
                        </a:rPr>
                        <a:t>Đánh giá mô hình nhúng</a:t>
                      </a:r>
                      <a:endParaRPr lang="en-US" sz="15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3F5F2"/>
                    </a:solidFill>
                  </a:tcPr>
                </a:tc>
                <a:tc>
                  <a:txBody>
                    <a:bodyPr/>
                    <a:lstStyle/>
                    <a:p>
                      <a:pPr indent="0" marL="0">
                        <a:buNone/>
                      </a:pPr>
                      <a:r>
                        <a:rPr lang="en-US" sz="1300" dirty="0">
                          <a:solidFill>
                            <a:srgbClr val="46545F"/>
                          </a:solidFill>
                          <a:latin typeface="Calibri" pitchFamily="34" charset="0"/>
                          <a:ea typeface="Calibri" pitchFamily="34" charset="-122"/>
                          <a:cs typeface="Calibri" pitchFamily="34" charset="-120"/>
                        </a:rPr>
                        <a:t>MMTEB, ICLR 2025; Chung 2025</a:t>
                      </a:r>
                      <a:endParaRPr lang="en-US" sz="13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3F5F2"/>
                    </a:solidFill>
                  </a:tcPr>
                </a:tc>
                <a:tc>
                  <a:txBody>
                    <a:bodyPr/>
                    <a:lstStyle/>
                    <a:p>
                      <a:pPr indent="0" marL="0">
                        <a:buNone/>
                      </a:pPr>
                      <a:r>
                        <a:rPr lang="en-US" sz="1500" dirty="0">
                          <a:solidFill>
                            <a:srgbClr val="16222C"/>
                          </a:solidFill>
                          <a:latin typeface="Calibri" pitchFamily="34" charset="0"/>
                          <a:ea typeface="Calibri" pitchFamily="34" charset="-122"/>
                          <a:cs typeface="Calibri" pitchFamily="34" charset="-120"/>
                        </a:rPr>
                        <a:t>Phải đánh dấu mô hình đã học dữ liệu</a:t>
                      </a:r>
                      <a:endParaRPr lang="en-US" sz="15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3F5F2"/>
                    </a:solidFill>
                  </a:tcPr>
                </a:tc>
              </a:tr>
            </a:tbl>
          </a:graphicData>
        </a:graphic>
      </p:graphicFrame>
      <p:sp>
        <p:nvSpPr>
          <p:cNvPr id="8" name="Text 4"/>
          <p:cNvSpPr txBox="1"/>
          <p:nvPr/>
        </p:nvSpPr>
        <p:spPr>
          <a:xfrm>
            <a:off x="594360" y="5532120"/>
            <a:ext cx="11002975" cy="320040"/>
          </a:xfrm>
          <a:prstGeom prst="rect">
            <a:avLst/>
          </a:prstGeom>
          <a:noFill/>
          <a:ln/>
        </p:spPr>
        <p:txBody>
          <a:bodyPr wrap="square" lIns="0" tIns="0" rIns="0" bIns="0" rtlCol="0" anchor="ctr"/>
          <a:lstStyle/>
          <a:p>
            <a:pPr indent="0" marL="0">
              <a:buNone/>
            </a:pPr>
            <a:r>
              <a:rPr lang="en-US" sz="1300" i="1" dirty="0">
                <a:solidFill>
                  <a:srgbClr val="77858E"/>
                </a:solidFill>
                <a:latin typeface="Calibri" pitchFamily="34" charset="0"/>
                <a:ea typeface="Calibri" pitchFamily="34" charset="-122"/>
                <a:cs typeface="Calibri" pitchFamily="34" charset="-120"/>
              </a:rPr>
              <a:t>Nhóm đối chiếu 27 nguồn theo tóm tắt, mã nguồn và model card. Danh sách ở slide 16.</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CÂU HỎI NGHIÊN CỨU  ·  04</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Chưa ai đo hệ tìm luật chịu được câu mất dấu tới đâu</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08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04 / 16</a:t>
            </a:r>
            <a:endParaRPr lang="en-US" sz="1000" dirty="0"/>
          </a:p>
        </p:txBody>
      </p:sp>
      <p:sp>
        <p:nvSpPr>
          <p:cNvPr id="7" name="Text 4"/>
          <p:cNvSpPr txBox="1"/>
          <p:nvPr/>
        </p:nvSpPr>
        <p:spPr>
          <a:xfrm>
            <a:off x="2286000" y="1764792"/>
            <a:ext cx="2606040" cy="292608"/>
          </a:xfrm>
          <a:prstGeom prst="rect">
            <a:avLst/>
          </a:prstGeom>
          <a:noFill/>
          <a:ln/>
        </p:spPr>
        <p:txBody>
          <a:bodyPr wrap="square" lIns="0" tIns="0" rIns="0" bIns="0" rtlCol="0" anchor="ctr"/>
          <a:lstStyle/>
          <a:p>
            <a:pPr algn="ctr" indent="0" marL="0">
              <a:buNone/>
            </a:pPr>
            <a:r>
              <a:rPr lang="en-US" sz="1400" b="1" dirty="0">
                <a:solidFill>
                  <a:srgbClr val="46545F"/>
                </a:solidFill>
                <a:latin typeface="Calibri" pitchFamily="34" charset="0"/>
                <a:ea typeface="Calibri" pitchFamily="34" charset="-122"/>
                <a:cs typeface="Calibri" pitchFamily="34" charset="-120"/>
              </a:rPr>
              <a:t>Câu hỏi có dấu</a:t>
            </a:r>
            <a:endParaRPr lang="en-US" sz="1400" dirty="0"/>
          </a:p>
        </p:txBody>
      </p:sp>
      <p:sp>
        <p:nvSpPr>
          <p:cNvPr id="8" name="Text 5"/>
          <p:cNvSpPr txBox="1"/>
          <p:nvPr/>
        </p:nvSpPr>
        <p:spPr>
          <a:xfrm>
            <a:off x="5001768" y="1764792"/>
            <a:ext cx="2606040" cy="292608"/>
          </a:xfrm>
          <a:prstGeom prst="rect">
            <a:avLst/>
          </a:prstGeom>
          <a:noFill/>
          <a:ln/>
        </p:spPr>
        <p:txBody>
          <a:bodyPr wrap="square" lIns="0" tIns="0" rIns="0" bIns="0" rtlCol="0" anchor="ctr"/>
          <a:lstStyle/>
          <a:p>
            <a:pPr algn="ctr" indent="0" marL="0">
              <a:buNone/>
            </a:pPr>
            <a:r>
              <a:rPr lang="en-US" sz="1400" b="1" dirty="0">
                <a:solidFill>
                  <a:srgbClr val="46545F"/>
                </a:solidFill>
                <a:latin typeface="Calibri" pitchFamily="34" charset="0"/>
                <a:ea typeface="Calibri" pitchFamily="34" charset="-122"/>
                <a:cs typeface="Calibri" pitchFamily="34" charset="-120"/>
              </a:rPr>
              <a:t>Câu hỏi không dấu</a:t>
            </a:r>
            <a:endParaRPr lang="en-US" sz="1400" dirty="0"/>
          </a:p>
        </p:txBody>
      </p:sp>
      <p:sp>
        <p:nvSpPr>
          <p:cNvPr id="9" name="Text 6"/>
          <p:cNvSpPr txBox="1"/>
          <p:nvPr/>
        </p:nvSpPr>
        <p:spPr>
          <a:xfrm>
            <a:off x="594360" y="2148840"/>
            <a:ext cx="1554480" cy="1463040"/>
          </a:xfrm>
          <a:prstGeom prst="rect">
            <a:avLst/>
          </a:prstGeom>
          <a:noFill/>
          <a:ln/>
        </p:spPr>
        <p:txBody>
          <a:bodyPr wrap="square" lIns="0" tIns="0" rIns="0" bIns="0" rtlCol="0" anchor="ctr"/>
          <a:lstStyle/>
          <a:p>
            <a:pPr indent="0" marL="0">
              <a:buNone/>
            </a:pPr>
            <a:r>
              <a:rPr lang="en-US" sz="1400" b="1" dirty="0">
                <a:solidFill>
                  <a:srgbClr val="46545F"/>
                </a:solidFill>
                <a:latin typeface="Calibri" pitchFamily="34" charset="0"/>
                <a:ea typeface="Calibri" pitchFamily="34" charset="-122"/>
                <a:cs typeface="Calibri" pitchFamily="34" charset="-120"/>
              </a:rPr>
              <a:t>Đo tìm luật</a:t>
            </a:r>
            <a:endParaRPr lang="en-US" sz="1400" dirty="0"/>
          </a:p>
        </p:txBody>
      </p:sp>
      <p:sp>
        <p:nvSpPr>
          <p:cNvPr id="10" name="Text 7"/>
          <p:cNvSpPr txBox="1"/>
          <p:nvPr/>
        </p:nvSpPr>
        <p:spPr>
          <a:xfrm>
            <a:off x="594360" y="3721608"/>
            <a:ext cx="1554480" cy="1463040"/>
          </a:xfrm>
          <a:prstGeom prst="rect">
            <a:avLst/>
          </a:prstGeom>
          <a:noFill/>
          <a:ln/>
        </p:spPr>
        <p:txBody>
          <a:bodyPr wrap="square" lIns="0" tIns="0" rIns="0" bIns="0" rtlCol="0" anchor="ctr"/>
          <a:lstStyle/>
          <a:p>
            <a:pPr indent="0" marL="0">
              <a:buNone/>
            </a:pPr>
            <a:r>
              <a:rPr lang="en-US" sz="1400" b="1" dirty="0">
                <a:solidFill>
                  <a:srgbClr val="46545F"/>
                </a:solidFill>
                <a:latin typeface="Calibri" pitchFamily="34" charset="0"/>
                <a:ea typeface="Calibri" pitchFamily="34" charset="-122"/>
                <a:cs typeface="Calibri" pitchFamily="34" charset="-120"/>
              </a:rPr>
              <a:t>Đo phục hồi dấu</a:t>
            </a:r>
            <a:endParaRPr lang="en-US" sz="1400" dirty="0"/>
          </a:p>
        </p:txBody>
      </p:sp>
      <p:sp>
        <p:nvSpPr>
          <p:cNvPr id="11" name="Shape 8"/>
          <p:cNvSpPr/>
          <p:nvPr/>
        </p:nvSpPr>
        <p:spPr>
          <a:xfrm>
            <a:off x="2286000" y="2148840"/>
            <a:ext cx="2606040" cy="1463040"/>
          </a:xfrm>
          <a:prstGeom prst="rect">
            <a:avLst/>
          </a:prstGeom>
          <a:solidFill>
            <a:srgbClr val="E5EEF5"/>
          </a:solidFill>
          <a:ln/>
        </p:spPr>
      </p:sp>
      <p:sp>
        <p:nvSpPr>
          <p:cNvPr id="12" name="Text 9"/>
          <p:cNvSpPr txBox="1"/>
          <p:nvPr/>
        </p:nvSpPr>
        <p:spPr>
          <a:xfrm>
            <a:off x="2468880" y="2496312"/>
            <a:ext cx="2240280" cy="411480"/>
          </a:xfrm>
          <a:prstGeom prst="rect">
            <a:avLst/>
          </a:prstGeom>
          <a:noFill/>
          <a:ln/>
        </p:spPr>
        <p:txBody>
          <a:bodyPr wrap="square" lIns="0" tIns="0" rIns="0" bIns="0" rtlCol="0" anchor="ctr"/>
          <a:lstStyle/>
          <a:p>
            <a:pPr algn="ctr" indent="0" marL="0">
              <a:buNone/>
            </a:pPr>
            <a:r>
              <a:rPr lang="en-US" sz="1800" b="1" dirty="0">
                <a:solidFill>
                  <a:srgbClr val="2C5F8A"/>
                </a:solidFill>
                <a:latin typeface="Cambria" pitchFamily="34" charset="0"/>
                <a:ea typeface="Cambria" pitchFamily="34" charset="-122"/>
                <a:cs typeface="Cambria" pitchFamily="34" charset="-120"/>
              </a:rPr>
              <a:t>Đã làm nhiều</a:t>
            </a:r>
            <a:endParaRPr lang="en-US" sz="1800" dirty="0"/>
          </a:p>
        </p:txBody>
      </p:sp>
      <p:sp>
        <p:nvSpPr>
          <p:cNvPr id="13" name="Text 10"/>
          <p:cNvSpPr txBox="1"/>
          <p:nvPr/>
        </p:nvSpPr>
        <p:spPr>
          <a:xfrm>
            <a:off x="2468880" y="2990088"/>
            <a:ext cx="2240280" cy="320040"/>
          </a:xfrm>
          <a:prstGeom prst="rect">
            <a:avLst/>
          </a:prstGeom>
          <a:noFill/>
          <a:ln/>
        </p:spPr>
        <p:txBody>
          <a:bodyPr wrap="square" lIns="0" tIns="0" rIns="0" bIns="0" rtlCol="0" anchor="ctr"/>
          <a:lstStyle/>
          <a:p>
            <a:pPr algn="ctr" indent="0" marL="0">
              <a:buNone/>
            </a:pPr>
            <a:r>
              <a:rPr lang="en-US" sz="1300" dirty="0">
                <a:solidFill>
                  <a:srgbClr val="46545F"/>
                </a:solidFill>
                <a:latin typeface="Calibri" pitchFamily="34" charset="0"/>
                <a:ea typeface="Calibri" pitchFamily="34" charset="-122"/>
                <a:cs typeface="Calibri" pitchFamily="34" charset="-120"/>
              </a:rPr>
              <a:t>Zalo 2021, ALQAC, EACL 2026</a:t>
            </a:r>
            <a:endParaRPr lang="en-US" sz="1300" dirty="0"/>
          </a:p>
        </p:txBody>
      </p:sp>
      <p:sp>
        <p:nvSpPr>
          <p:cNvPr id="14" name="Shape 11"/>
          <p:cNvSpPr/>
          <p:nvPr/>
        </p:nvSpPr>
        <p:spPr>
          <a:xfrm>
            <a:off x="5001768" y="2148840"/>
            <a:ext cx="2606040" cy="1463040"/>
          </a:xfrm>
          <a:prstGeom prst="rect">
            <a:avLst/>
          </a:prstGeom>
          <a:solidFill>
            <a:srgbClr val="FFFFFF"/>
          </a:solidFill>
          <a:ln w="15875">
            <a:solidFill>
              <a:srgbClr val="A8202B"/>
            </a:solidFill>
            <a:prstDash val="dash"/>
          </a:ln>
        </p:spPr>
      </p:sp>
      <p:sp>
        <p:nvSpPr>
          <p:cNvPr id="15" name="Text 12"/>
          <p:cNvSpPr txBox="1"/>
          <p:nvPr/>
        </p:nvSpPr>
        <p:spPr>
          <a:xfrm>
            <a:off x="5184648" y="2496312"/>
            <a:ext cx="2240280" cy="411480"/>
          </a:xfrm>
          <a:prstGeom prst="rect">
            <a:avLst/>
          </a:prstGeom>
          <a:noFill/>
          <a:ln/>
        </p:spPr>
        <p:txBody>
          <a:bodyPr wrap="square" lIns="0" tIns="0" rIns="0" bIns="0" rtlCol="0" anchor="ctr"/>
          <a:lstStyle/>
          <a:p>
            <a:pPr algn="ctr" indent="0" marL="0">
              <a:buNone/>
            </a:pPr>
            <a:r>
              <a:rPr lang="en-US" sz="2400" b="1" dirty="0">
                <a:solidFill>
                  <a:srgbClr val="A8202B"/>
                </a:solidFill>
                <a:latin typeface="Cambria" pitchFamily="34" charset="0"/>
                <a:ea typeface="Cambria" pitchFamily="34" charset="-122"/>
                <a:cs typeface="Cambria" pitchFamily="34" charset="-120"/>
              </a:rPr>
              <a:t>Chưa ai đo</a:t>
            </a:r>
            <a:endParaRPr lang="en-US" sz="2400" dirty="0"/>
          </a:p>
        </p:txBody>
      </p:sp>
      <p:sp>
        <p:nvSpPr>
          <p:cNvPr id="16" name="Text 13"/>
          <p:cNvSpPr txBox="1"/>
          <p:nvPr/>
        </p:nvSpPr>
        <p:spPr>
          <a:xfrm>
            <a:off x="5184648" y="2990088"/>
            <a:ext cx="2240280" cy="320040"/>
          </a:xfrm>
          <a:prstGeom prst="rect">
            <a:avLst/>
          </a:prstGeom>
          <a:noFill/>
          <a:ln/>
        </p:spPr>
        <p:txBody>
          <a:bodyPr wrap="square" lIns="0" tIns="0" rIns="0" bIns="0" rtlCol="0" anchor="ctr"/>
          <a:lstStyle/>
          <a:p>
            <a:pPr algn="ctr" indent="0" marL="0">
              <a:buNone/>
            </a:pPr>
            <a:r>
              <a:rPr lang="en-US" sz="1300" dirty="0">
                <a:solidFill>
                  <a:srgbClr val="46545F"/>
                </a:solidFill>
                <a:latin typeface="Calibri" pitchFamily="34" charset="0"/>
                <a:ea typeface="Calibri" pitchFamily="34" charset="-122"/>
                <a:cs typeface="Calibri" pitchFamily="34" charset="-120"/>
              </a:rPr>
              <a:t>câu hỏi nghiên cứu 2</a:t>
            </a:r>
            <a:endParaRPr lang="en-US" sz="1300" dirty="0"/>
          </a:p>
        </p:txBody>
      </p:sp>
      <p:sp>
        <p:nvSpPr>
          <p:cNvPr id="17" name="Shape 14"/>
          <p:cNvSpPr/>
          <p:nvPr/>
        </p:nvSpPr>
        <p:spPr>
          <a:xfrm>
            <a:off x="2286000" y="3721608"/>
            <a:ext cx="2606040" cy="1463040"/>
          </a:xfrm>
          <a:prstGeom prst="rect">
            <a:avLst/>
          </a:prstGeom>
          <a:solidFill>
            <a:srgbClr val="F3F5F2"/>
          </a:solidFill>
          <a:ln/>
        </p:spPr>
      </p:sp>
      <p:sp>
        <p:nvSpPr>
          <p:cNvPr id="18" name="Text 15"/>
          <p:cNvSpPr txBox="1"/>
          <p:nvPr/>
        </p:nvSpPr>
        <p:spPr>
          <a:xfrm>
            <a:off x="2468880" y="4069080"/>
            <a:ext cx="2240280" cy="411480"/>
          </a:xfrm>
          <a:prstGeom prst="rect">
            <a:avLst/>
          </a:prstGeom>
          <a:noFill/>
          <a:ln/>
        </p:spPr>
        <p:txBody>
          <a:bodyPr wrap="square" lIns="0" tIns="0" rIns="0" bIns="0" rtlCol="0" anchor="ctr"/>
          <a:lstStyle/>
          <a:p>
            <a:pPr algn="ctr" indent="0" marL="0">
              <a:buNone/>
            </a:pPr>
            <a:r>
              <a:rPr lang="en-US" sz="1800" b="1" dirty="0">
                <a:solidFill>
                  <a:srgbClr val="77858E"/>
                </a:solidFill>
                <a:latin typeface="Cambria" pitchFamily="34" charset="0"/>
                <a:ea typeface="Cambria" pitchFamily="34" charset="-122"/>
                <a:cs typeface="Cambria" pitchFamily="34" charset="-120"/>
              </a:rPr>
              <a:t>Không áp dụng</a:t>
            </a:r>
            <a:endParaRPr lang="en-US" sz="1800" dirty="0"/>
          </a:p>
        </p:txBody>
      </p:sp>
      <p:sp>
        <p:nvSpPr>
          <p:cNvPr id="19" name="Text 16"/>
          <p:cNvSpPr txBox="1"/>
          <p:nvPr/>
        </p:nvSpPr>
        <p:spPr>
          <a:xfrm>
            <a:off x="2468880" y="4562856"/>
            <a:ext cx="2240280" cy="320040"/>
          </a:xfrm>
          <a:prstGeom prst="rect">
            <a:avLst/>
          </a:prstGeom>
          <a:noFill/>
          <a:ln/>
        </p:spPr>
        <p:txBody>
          <a:bodyPr wrap="square" lIns="0" tIns="0" rIns="0" bIns="0" rtlCol="0" anchor="ctr"/>
          <a:lstStyle/>
          <a:p>
            <a:pPr algn="ctr" indent="0" marL="0">
              <a:buNone/>
            </a:pPr>
            <a:endParaRPr lang="en-US" sz="1300" dirty="0"/>
          </a:p>
        </p:txBody>
      </p:sp>
      <p:sp>
        <p:nvSpPr>
          <p:cNvPr id="20" name="Shape 17"/>
          <p:cNvSpPr/>
          <p:nvPr/>
        </p:nvSpPr>
        <p:spPr>
          <a:xfrm>
            <a:off x="5001768" y="3721608"/>
            <a:ext cx="2606040" cy="1463040"/>
          </a:xfrm>
          <a:prstGeom prst="rect">
            <a:avLst/>
          </a:prstGeom>
          <a:solidFill>
            <a:srgbClr val="E5EEF5"/>
          </a:solidFill>
          <a:ln/>
        </p:spPr>
      </p:sp>
      <p:sp>
        <p:nvSpPr>
          <p:cNvPr id="21" name="Text 18"/>
          <p:cNvSpPr txBox="1"/>
          <p:nvPr/>
        </p:nvSpPr>
        <p:spPr>
          <a:xfrm>
            <a:off x="5184648" y="4069080"/>
            <a:ext cx="2240280" cy="411480"/>
          </a:xfrm>
          <a:prstGeom prst="rect">
            <a:avLst/>
          </a:prstGeom>
          <a:noFill/>
          <a:ln/>
        </p:spPr>
        <p:txBody>
          <a:bodyPr wrap="square" lIns="0" tIns="0" rIns="0" bIns="0" rtlCol="0" anchor="ctr"/>
          <a:lstStyle/>
          <a:p>
            <a:pPr algn="ctr" indent="0" marL="0">
              <a:buNone/>
            </a:pPr>
            <a:r>
              <a:rPr lang="en-US" sz="1800" b="1" dirty="0">
                <a:solidFill>
                  <a:srgbClr val="2C5F8A"/>
                </a:solidFill>
                <a:latin typeface="Cambria" pitchFamily="34" charset="0"/>
                <a:ea typeface="Cambria" pitchFamily="34" charset="-122"/>
                <a:cs typeface="Cambria" pitchFamily="34" charset="-120"/>
              </a:rPr>
              <a:t>Đã làm, khoảng 97%</a:t>
            </a:r>
            <a:endParaRPr lang="en-US" sz="1800" dirty="0"/>
          </a:p>
        </p:txBody>
      </p:sp>
      <p:sp>
        <p:nvSpPr>
          <p:cNvPr id="22" name="Text 19"/>
          <p:cNvSpPr txBox="1"/>
          <p:nvPr/>
        </p:nvSpPr>
        <p:spPr>
          <a:xfrm>
            <a:off x="5184648" y="4562856"/>
            <a:ext cx="2240280" cy="320040"/>
          </a:xfrm>
          <a:prstGeom prst="rect">
            <a:avLst/>
          </a:prstGeom>
          <a:noFill/>
          <a:ln/>
        </p:spPr>
        <p:txBody>
          <a:bodyPr wrap="square" lIns="0" tIns="0" rIns="0" bIns="0" rtlCol="0" anchor="ctr"/>
          <a:lstStyle/>
          <a:p>
            <a:pPr algn="ctr" indent="0" marL="0">
              <a:buNone/>
            </a:pPr>
            <a:r>
              <a:rPr lang="en-US" sz="1300" dirty="0">
                <a:solidFill>
                  <a:srgbClr val="46545F"/>
                </a:solidFill>
                <a:latin typeface="Calibri" pitchFamily="34" charset="0"/>
                <a:ea typeface="Calibri" pitchFamily="34" charset="-122"/>
                <a:cs typeface="Calibri" pitchFamily="34" charset="-120"/>
              </a:rPr>
              <a:t>Pham 2017, Le-Hong 2021</a:t>
            </a:r>
            <a:endParaRPr lang="en-US" sz="1300" dirty="0"/>
          </a:p>
        </p:txBody>
      </p:sp>
      <p:sp>
        <p:nvSpPr>
          <p:cNvPr id="23" name="Shape 20"/>
          <p:cNvSpPr/>
          <p:nvPr/>
        </p:nvSpPr>
        <p:spPr>
          <a:xfrm>
            <a:off x="7818120" y="1783080"/>
            <a:ext cx="3779215" cy="1600200"/>
          </a:xfrm>
          <a:prstGeom prst="rect">
            <a:avLst/>
          </a:prstGeom>
          <a:solidFill>
            <a:srgbClr val="F3F5F2"/>
          </a:solidFill>
          <a:ln/>
        </p:spPr>
      </p:sp>
      <p:sp>
        <p:nvSpPr>
          <p:cNvPr id="24" name="Text 21"/>
          <p:cNvSpPr txBox="1"/>
          <p:nvPr/>
        </p:nvSpPr>
        <p:spPr>
          <a:xfrm>
            <a:off x="8092440" y="1938528"/>
            <a:ext cx="914400" cy="274320"/>
          </a:xfrm>
          <a:prstGeom prst="rect">
            <a:avLst/>
          </a:prstGeom>
          <a:noFill/>
          <a:ln/>
        </p:spPr>
        <p:txBody>
          <a:bodyPr wrap="square" lIns="0" tIns="0" rIns="0" bIns="0" rtlCol="0" anchor="ctr"/>
          <a:lstStyle/>
          <a:p>
            <a:pPr indent="0" marL="0">
              <a:buNone/>
            </a:pPr>
            <a:r>
              <a:rPr lang="en-US" sz="1300" b="1" dirty="0">
                <a:solidFill>
                  <a:srgbClr val="2C5F8A"/>
                </a:solidFill>
                <a:latin typeface="Consolas" pitchFamily="34" charset="0"/>
                <a:ea typeface="Consolas" pitchFamily="34" charset="-122"/>
                <a:cs typeface="Consolas" pitchFamily="34" charset="-120"/>
              </a:rPr>
              <a:t>CH1</a:t>
            </a:r>
            <a:endParaRPr lang="en-US" sz="1300" dirty="0"/>
          </a:p>
        </p:txBody>
      </p:sp>
      <p:sp>
        <p:nvSpPr>
          <p:cNvPr id="25" name="Text 22"/>
          <p:cNvSpPr txBox="1"/>
          <p:nvPr/>
        </p:nvSpPr>
        <p:spPr>
          <a:xfrm>
            <a:off x="8092440" y="2267712"/>
            <a:ext cx="3230575" cy="1005840"/>
          </a:xfrm>
          <a:prstGeom prst="rect">
            <a:avLst/>
          </a:prstGeom>
          <a:noFill/>
          <a:ln/>
        </p:spPr>
        <p:txBody>
          <a:bodyPr wrap="square" lIns="0" tIns="0" rIns="0" bIns="0" rtlCol="0" anchor="t"/>
          <a:lstStyle/>
          <a:p>
            <a:pPr indent="0" marL="0">
              <a:buNone/>
            </a:pPr>
            <a:r>
              <a:rPr lang="en-US" sz="1600" dirty="0">
                <a:solidFill>
                  <a:srgbClr val="16222C"/>
                </a:solidFill>
                <a:latin typeface="Calibri" pitchFamily="34" charset="0"/>
                <a:ea typeface="Calibri" pitchFamily="34" charset="-122"/>
                <a:cs typeface="Calibri" pitchFamily="34" charset="-120"/>
              </a:rPr>
              <a:t>Trên dữ liệu đã kiểm toán, với mô hình chưa thấy dữ liệu, ghép thêm BM25 còn giúp bao nhiêu?</a:t>
            </a:r>
            <a:endParaRPr lang="en-US" sz="1600" dirty="0"/>
          </a:p>
        </p:txBody>
      </p:sp>
      <p:sp>
        <p:nvSpPr>
          <p:cNvPr id="26" name="Shape 23"/>
          <p:cNvSpPr/>
          <p:nvPr/>
        </p:nvSpPr>
        <p:spPr>
          <a:xfrm>
            <a:off x="7818120" y="3566160"/>
            <a:ext cx="3779215" cy="1783080"/>
          </a:xfrm>
          <a:prstGeom prst="rect">
            <a:avLst/>
          </a:prstGeom>
          <a:solidFill>
            <a:srgbClr val="F8E9E9"/>
          </a:solidFill>
          <a:ln/>
        </p:spPr>
      </p:sp>
      <p:sp>
        <p:nvSpPr>
          <p:cNvPr id="27" name="Text 24"/>
          <p:cNvSpPr txBox="1"/>
          <p:nvPr/>
        </p:nvSpPr>
        <p:spPr>
          <a:xfrm>
            <a:off x="8092440" y="3721608"/>
            <a:ext cx="914400" cy="274320"/>
          </a:xfrm>
          <a:prstGeom prst="rect">
            <a:avLst/>
          </a:prstGeom>
          <a:noFill/>
          <a:ln/>
        </p:spPr>
        <p:txBody>
          <a:bodyPr wrap="square" lIns="0" tIns="0" rIns="0" bIns="0" rtlCol="0" anchor="ctr"/>
          <a:lstStyle/>
          <a:p>
            <a:pPr indent="0" marL="0">
              <a:buNone/>
            </a:pPr>
            <a:r>
              <a:rPr lang="en-US" sz="1300" b="1" dirty="0">
                <a:solidFill>
                  <a:srgbClr val="A8202B"/>
                </a:solidFill>
                <a:latin typeface="Consolas" pitchFamily="34" charset="0"/>
                <a:ea typeface="Consolas" pitchFamily="34" charset="-122"/>
                <a:cs typeface="Consolas" pitchFamily="34" charset="-120"/>
              </a:rPr>
              <a:t>CH2</a:t>
            </a:r>
            <a:endParaRPr lang="en-US" sz="1300" dirty="0"/>
          </a:p>
        </p:txBody>
      </p:sp>
      <p:sp>
        <p:nvSpPr>
          <p:cNvPr id="28" name="Text 25"/>
          <p:cNvSpPr txBox="1"/>
          <p:nvPr/>
        </p:nvSpPr>
        <p:spPr>
          <a:xfrm>
            <a:off x="8092440" y="4050792"/>
            <a:ext cx="3230575" cy="1188720"/>
          </a:xfrm>
          <a:prstGeom prst="rect">
            <a:avLst/>
          </a:prstGeom>
          <a:noFill/>
          <a:ln/>
        </p:spPr>
        <p:txBody>
          <a:bodyPr wrap="square" lIns="0" tIns="0" rIns="0" bIns="0" rtlCol="0" anchor="t"/>
          <a:lstStyle/>
          <a:p>
            <a:pPr indent="0" marL="0">
              <a:buNone/>
            </a:pPr>
            <a:r>
              <a:rPr lang="en-US" sz="1600" b="1" dirty="0">
                <a:solidFill>
                  <a:srgbClr val="16222C"/>
                </a:solidFill>
                <a:latin typeface="Calibri" pitchFamily="34" charset="0"/>
                <a:ea typeface="Calibri" pitchFamily="34" charset="-122"/>
                <a:cs typeface="Calibri" pitchFamily="34" charset="-120"/>
              </a:rPr>
              <a:t>Khi người dùng gõ không dấu, hệ còn đứng vững không, và cách sửa rẻ nhất là gì?</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DỮ LIỆU  ·  05</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Bộ Zalo 2021 đã công bố vẫn còn 6 vấn đề khi kiểm toán lại</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08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05 / 16</a:t>
            </a:r>
            <a:endParaRPr lang="en-US" sz="1000" dirty="0"/>
          </a:p>
        </p:txBody>
      </p:sp>
      <p:sp>
        <p:nvSpPr>
          <p:cNvPr id="7" name="Text 4"/>
          <p:cNvSpPr txBox="1"/>
          <p:nvPr/>
        </p:nvSpPr>
        <p:spPr>
          <a:xfrm>
            <a:off x="594360" y="1783080"/>
            <a:ext cx="2377440" cy="548640"/>
          </a:xfrm>
          <a:prstGeom prst="rect">
            <a:avLst/>
          </a:prstGeom>
          <a:noFill/>
          <a:ln/>
        </p:spPr>
        <p:txBody>
          <a:bodyPr wrap="square" lIns="0" tIns="0" rIns="0" bIns="0" rtlCol="0" anchor="ctr"/>
          <a:lstStyle/>
          <a:p>
            <a:pPr indent="0" marL="0">
              <a:buNone/>
            </a:pPr>
            <a:r>
              <a:rPr lang="en-US" sz="3200" b="1" dirty="0">
                <a:solidFill>
                  <a:srgbClr val="16222C"/>
                </a:solidFill>
                <a:latin typeface="Cambria" pitchFamily="34" charset="0"/>
                <a:ea typeface="Cambria" pitchFamily="34" charset="-122"/>
                <a:cs typeface="Cambria" pitchFamily="34" charset="-120"/>
              </a:rPr>
              <a:t>61.425</a:t>
            </a:r>
            <a:endParaRPr lang="en-US" sz="3200" dirty="0"/>
          </a:p>
        </p:txBody>
      </p:sp>
      <p:sp>
        <p:nvSpPr>
          <p:cNvPr id="8" name="Text 5"/>
          <p:cNvSpPr txBox="1"/>
          <p:nvPr/>
        </p:nvSpPr>
        <p:spPr>
          <a:xfrm>
            <a:off x="594360" y="2313432"/>
            <a:ext cx="2651760" cy="274320"/>
          </a:xfrm>
          <a:prstGeom prst="rect">
            <a:avLst/>
          </a:prstGeom>
          <a:noFill/>
          <a:ln/>
        </p:spPr>
        <p:txBody>
          <a:bodyPr wrap="square" lIns="0" tIns="0" rIns="0" bIns="0" rtlCol="0" anchor="ctr"/>
          <a:lstStyle/>
          <a:p>
            <a:pPr indent="0" marL="0">
              <a:buNone/>
            </a:pPr>
            <a:r>
              <a:rPr lang="en-US" sz="1300" dirty="0">
                <a:solidFill>
                  <a:srgbClr val="46545F"/>
                </a:solidFill>
                <a:latin typeface="Calibri" pitchFamily="34" charset="0"/>
                <a:ea typeface="Calibri" pitchFamily="34" charset="-122"/>
                <a:cs typeface="Calibri" pitchFamily="34" charset="-120"/>
              </a:rPr>
              <a:t>điều luật</a:t>
            </a:r>
            <a:endParaRPr lang="en-US" sz="1300" dirty="0"/>
          </a:p>
        </p:txBody>
      </p:sp>
      <p:sp>
        <p:nvSpPr>
          <p:cNvPr id="9" name="Text 6"/>
          <p:cNvSpPr txBox="1"/>
          <p:nvPr/>
        </p:nvSpPr>
        <p:spPr>
          <a:xfrm>
            <a:off x="594360" y="2715768"/>
            <a:ext cx="2377440" cy="548640"/>
          </a:xfrm>
          <a:prstGeom prst="rect">
            <a:avLst/>
          </a:prstGeom>
          <a:noFill/>
          <a:ln/>
        </p:spPr>
        <p:txBody>
          <a:bodyPr wrap="square" lIns="0" tIns="0" rIns="0" bIns="0" rtlCol="0" anchor="ctr"/>
          <a:lstStyle/>
          <a:p>
            <a:pPr indent="0" marL="0">
              <a:buNone/>
            </a:pPr>
            <a:r>
              <a:rPr lang="en-US" sz="3200" b="1" dirty="0">
                <a:solidFill>
                  <a:srgbClr val="16222C"/>
                </a:solidFill>
                <a:latin typeface="Cambria" pitchFamily="34" charset="0"/>
                <a:ea typeface="Cambria" pitchFamily="34" charset="-122"/>
                <a:cs typeface="Cambria" pitchFamily="34" charset="-120"/>
              </a:rPr>
              <a:t>3.271</a:t>
            </a:r>
            <a:endParaRPr lang="en-US" sz="3200" dirty="0"/>
          </a:p>
        </p:txBody>
      </p:sp>
      <p:sp>
        <p:nvSpPr>
          <p:cNvPr id="10" name="Text 7"/>
          <p:cNvSpPr txBox="1"/>
          <p:nvPr/>
        </p:nvSpPr>
        <p:spPr>
          <a:xfrm>
            <a:off x="594360" y="3246120"/>
            <a:ext cx="2651760" cy="274320"/>
          </a:xfrm>
          <a:prstGeom prst="rect">
            <a:avLst/>
          </a:prstGeom>
          <a:noFill/>
          <a:ln/>
        </p:spPr>
        <p:txBody>
          <a:bodyPr wrap="square" lIns="0" tIns="0" rIns="0" bIns="0" rtlCol="0" anchor="ctr"/>
          <a:lstStyle/>
          <a:p>
            <a:pPr indent="0" marL="0">
              <a:buNone/>
            </a:pPr>
            <a:r>
              <a:rPr lang="en-US" sz="1300" dirty="0">
                <a:solidFill>
                  <a:srgbClr val="46545F"/>
                </a:solidFill>
                <a:latin typeface="Calibri" pitchFamily="34" charset="0"/>
                <a:ea typeface="Calibri" pitchFamily="34" charset="-122"/>
                <a:cs typeface="Calibri" pitchFamily="34" charset="-120"/>
              </a:rPr>
              <a:t>văn bản</a:t>
            </a:r>
            <a:endParaRPr lang="en-US" sz="1300" dirty="0"/>
          </a:p>
        </p:txBody>
      </p:sp>
      <p:sp>
        <p:nvSpPr>
          <p:cNvPr id="11" name="Text 8"/>
          <p:cNvSpPr txBox="1"/>
          <p:nvPr/>
        </p:nvSpPr>
        <p:spPr>
          <a:xfrm>
            <a:off x="594360" y="3648456"/>
            <a:ext cx="2377440" cy="548640"/>
          </a:xfrm>
          <a:prstGeom prst="rect">
            <a:avLst/>
          </a:prstGeom>
          <a:noFill/>
          <a:ln/>
        </p:spPr>
        <p:txBody>
          <a:bodyPr wrap="square" lIns="0" tIns="0" rIns="0" bIns="0" rtlCol="0" anchor="ctr"/>
          <a:lstStyle/>
          <a:p>
            <a:pPr indent="0" marL="0">
              <a:buNone/>
            </a:pPr>
            <a:r>
              <a:rPr lang="en-US" sz="3200" b="1" dirty="0">
                <a:solidFill>
                  <a:srgbClr val="16222C"/>
                </a:solidFill>
                <a:latin typeface="Cambria" pitchFamily="34" charset="0"/>
                <a:ea typeface="Cambria" pitchFamily="34" charset="-122"/>
                <a:cs typeface="Cambria" pitchFamily="34" charset="-120"/>
              </a:rPr>
              <a:t>3.196</a:t>
            </a:r>
            <a:endParaRPr lang="en-US" sz="3200" dirty="0"/>
          </a:p>
        </p:txBody>
      </p:sp>
      <p:sp>
        <p:nvSpPr>
          <p:cNvPr id="12" name="Text 9"/>
          <p:cNvSpPr txBox="1"/>
          <p:nvPr/>
        </p:nvSpPr>
        <p:spPr>
          <a:xfrm>
            <a:off x="594360" y="4178808"/>
            <a:ext cx="2651760" cy="274320"/>
          </a:xfrm>
          <a:prstGeom prst="rect">
            <a:avLst/>
          </a:prstGeom>
          <a:noFill/>
          <a:ln/>
        </p:spPr>
        <p:txBody>
          <a:bodyPr wrap="square" lIns="0" tIns="0" rIns="0" bIns="0" rtlCol="0" anchor="ctr"/>
          <a:lstStyle/>
          <a:p>
            <a:pPr indent="0" marL="0">
              <a:buNone/>
            </a:pPr>
            <a:r>
              <a:rPr lang="en-US" sz="1300" dirty="0">
                <a:solidFill>
                  <a:srgbClr val="46545F"/>
                </a:solidFill>
                <a:latin typeface="Calibri" pitchFamily="34" charset="0"/>
                <a:ea typeface="Calibri" pitchFamily="34" charset="-122"/>
                <a:cs typeface="Calibri" pitchFamily="34" charset="-120"/>
              </a:rPr>
              <a:t>câu hỏi</a:t>
            </a:r>
            <a:endParaRPr lang="en-US" sz="1300" dirty="0"/>
          </a:p>
        </p:txBody>
      </p:sp>
      <p:sp>
        <p:nvSpPr>
          <p:cNvPr id="13" name="Text 10"/>
          <p:cNvSpPr txBox="1"/>
          <p:nvPr/>
        </p:nvSpPr>
        <p:spPr>
          <a:xfrm>
            <a:off x="594360" y="4581144"/>
            <a:ext cx="2377440" cy="548640"/>
          </a:xfrm>
          <a:prstGeom prst="rect">
            <a:avLst/>
          </a:prstGeom>
          <a:noFill/>
          <a:ln/>
        </p:spPr>
        <p:txBody>
          <a:bodyPr wrap="square" lIns="0" tIns="0" rIns="0" bIns="0" rtlCol="0" anchor="ctr"/>
          <a:lstStyle/>
          <a:p>
            <a:pPr indent="0" marL="0">
              <a:buNone/>
            </a:pPr>
            <a:r>
              <a:rPr lang="en-US" sz="3200" b="1" dirty="0">
                <a:solidFill>
                  <a:srgbClr val="A8202B"/>
                </a:solidFill>
                <a:latin typeface="Cambria" pitchFamily="34" charset="0"/>
                <a:ea typeface="Cambria" pitchFamily="34" charset="-122"/>
                <a:cs typeface="Cambria" pitchFamily="34" charset="-120"/>
              </a:rPr>
              <a:t>0</a:t>
            </a:r>
            <a:endParaRPr lang="en-US" sz="3200" dirty="0"/>
          </a:p>
        </p:txBody>
      </p:sp>
      <p:sp>
        <p:nvSpPr>
          <p:cNvPr id="14" name="Text 11"/>
          <p:cNvSpPr txBox="1"/>
          <p:nvPr/>
        </p:nvSpPr>
        <p:spPr>
          <a:xfrm>
            <a:off x="594360" y="5111496"/>
            <a:ext cx="2651760" cy="274320"/>
          </a:xfrm>
          <a:prstGeom prst="rect">
            <a:avLst/>
          </a:prstGeom>
          <a:noFill/>
          <a:ln/>
        </p:spPr>
        <p:txBody>
          <a:bodyPr wrap="square" lIns="0" tIns="0" rIns="0" bIns="0" rtlCol="0" anchor="ctr"/>
          <a:lstStyle/>
          <a:p>
            <a:pPr indent="0" marL="0">
              <a:buNone/>
            </a:pPr>
            <a:r>
              <a:rPr lang="en-US" sz="1300" dirty="0">
                <a:solidFill>
                  <a:srgbClr val="46545F"/>
                </a:solidFill>
                <a:latin typeface="Calibri" pitchFamily="34" charset="0"/>
                <a:ea typeface="Calibri" pitchFamily="34" charset="-122"/>
                <a:cs typeface="Calibri" pitchFamily="34" charset="-120"/>
              </a:rPr>
              <a:t>tập val trong bộ gốc</a:t>
            </a:r>
            <a:endParaRPr lang="en-US" sz="1300" dirty="0"/>
          </a:p>
        </p:txBody>
      </p:sp>
      <p:graphicFrame>
        <p:nvGraphicFramePr>
          <p:cNvPr id="15" name="Chart 0" descr=""/>
          <p:cNvGraphicFramePr/>
          <p:nvPr/>
        </p:nvGraphicFramePr>
        <p:xfrm>
          <a:off x="3383280" y="1645920"/>
          <a:ext cx="8214055" cy="4297680"/>
        </p:xfrm>
        <a:graphic xmlns:a="http://schemas.openxmlformats.org/drawingml/2006/main">
          <a:graphicData uri="http://schemas.openxmlformats.org/drawingml/2006/chart">
            <c:chart xmlns:c="http://schemas.openxmlformats.org/drawingml/2006/chart" r:id="rId1"/>
          </a:graphicData>
        </a:graphic>
      </p:graphicFrame>
      <p:sp>
        <p:nvSpPr>
          <p:cNvPr id="16" name="Text 12"/>
          <p:cNvSpPr txBox="1"/>
          <p:nvPr/>
        </p:nvSpPr>
        <p:spPr>
          <a:xfrm>
            <a:off x="8854135" y="5943600"/>
            <a:ext cx="2743200" cy="228600"/>
          </a:xfrm>
          <a:prstGeom prst="rect">
            <a:avLst/>
          </a:prstGeom>
          <a:noFill/>
          <a:ln/>
        </p:spPr>
        <p:txBody>
          <a:bodyPr wrap="square" lIns="0" tIns="0" rIns="0" bIns="0" rtlCol="0" anchor="ctr"/>
          <a:lstStyle/>
          <a:p>
            <a:pPr algn="r" indent="0" marL="0">
              <a:buNone/>
            </a:pPr>
            <a:r>
              <a:rPr lang="en-US" sz="1100" i="1" dirty="0">
                <a:solidFill>
                  <a:srgbClr val="77858E"/>
                </a:solidFill>
                <a:latin typeface="Calibri" pitchFamily="34" charset="0"/>
                <a:ea typeface="Calibri" pitchFamily="34" charset="-122"/>
                <a:cs typeface="Calibri" pitchFamily="34" charset="-120"/>
              </a:rPr>
              <a:t>Trục ngang thang log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RÒ RỈ DỮ LIỆU  ·  06</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24 trên 24 câu hỏi trùng giữa train và test mang nhãn khác nhau</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08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06 / 16</a:t>
            </a:r>
            <a:endParaRPr lang="en-US" sz="1000" dirty="0"/>
          </a:p>
        </p:txBody>
      </p:sp>
      <p:sp>
        <p:nvSpPr>
          <p:cNvPr id="7" name="Text 4"/>
          <p:cNvSpPr txBox="1"/>
          <p:nvPr/>
        </p:nvSpPr>
        <p:spPr>
          <a:xfrm>
            <a:off x="594360" y="1783080"/>
            <a:ext cx="3291840" cy="1371600"/>
          </a:xfrm>
          <a:prstGeom prst="rect">
            <a:avLst/>
          </a:prstGeom>
          <a:noFill/>
          <a:ln/>
        </p:spPr>
        <p:txBody>
          <a:bodyPr wrap="square" lIns="0" tIns="0" rIns="0" bIns="0" rtlCol="0" anchor="ctr"/>
          <a:lstStyle/>
          <a:p>
            <a:pPr indent="0" marL="0">
              <a:buNone/>
            </a:pPr>
            <a:r>
              <a:rPr lang="en-US" sz="8800" b="1" dirty="0">
                <a:solidFill>
                  <a:srgbClr val="A8202B"/>
                </a:solidFill>
                <a:latin typeface="Cambria" pitchFamily="34" charset="0"/>
                <a:ea typeface="Cambria" pitchFamily="34" charset="-122"/>
                <a:cs typeface="Cambria" pitchFamily="34" charset="-120"/>
              </a:rPr>
              <a:t>24/24</a:t>
            </a:r>
            <a:endParaRPr lang="en-US" sz="8800" dirty="0"/>
          </a:p>
        </p:txBody>
      </p:sp>
      <p:sp>
        <p:nvSpPr>
          <p:cNvPr id="8" name="Text 5"/>
          <p:cNvSpPr txBox="1"/>
          <p:nvPr/>
        </p:nvSpPr>
        <p:spPr>
          <a:xfrm>
            <a:off x="594360" y="3200400"/>
            <a:ext cx="3108960" cy="914400"/>
          </a:xfrm>
          <a:prstGeom prst="rect">
            <a:avLst/>
          </a:prstGeom>
          <a:noFill/>
          <a:ln/>
        </p:spPr>
        <p:txBody>
          <a:bodyPr wrap="square" lIns="0" tIns="0" rIns="0" bIns="0" rtlCol="0" anchor="t"/>
          <a:lstStyle/>
          <a:p>
            <a:pPr indent="0" marL="0">
              <a:buNone/>
            </a:pPr>
            <a:r>
              <a:rPr lang="en-US" sz="1600" dirty="0">
                <a:solidFill>
                  <a:srgbClr val="16222C"/>
                </a:solidFill>
                <a:latin typeface="Calibri" pitchFamily="34" charset="0"/>
                <a:ea typeface="Calibri" pitchFamily="34" charset="-122"/>
                <a:cs typeface="Calibri" pitchFamily="34" charset="-120"/>
              </a:rPr>
              <a:t>câu hỏi trùng mã giữa train và test mang hai điều luật gold khác nhau</a:t>
            </a:r>
            <a:endParaRPr lang="en-US" sz="1600" dirty="0"/>
          </a:p>
        </p:txBody>
      </p:sp>
      <p:sp>
        <p:nvSpPr>
          <p:cNvPr id="9" name="Text 6"/>
          <p:cNvSpPr txBox="1"/>
          <p:nvPr/>
        </p:nvSpPr>
        <p:spPr>
          <a:xfrm>
            <a:off x="594360" y="4206240"/>
            <a:ext cx="3108960" cy="640080"/>
          </a:xfrm>
          <a:prstGeom prst="rect">
            <a:avLst/>
          </a:prstGeom>
          <a:noFill/>
          <a:ln/>
        </p:spPr>
        <p:txBody>
          <a:bodyPr wrap="square" lIns="0" tIns="0" rIns="0" bIns="0" rtlCol="0" anchor="t"/>
          <a:lstStyle/>
          <a:p>
            <a:pPr indent="0" marL="0">
              <a:buNone/>
            </a:pPr>
            <a:r>
              <a:rPr lang="en-US" sz="1300" dirty="0">
                <a:solidFill>
                  <a:srgbClr val="77858E"/>
                </a:solidFill>
                <a:latin typeface="Calibri" pitchFamily="34" charset="0"/>
                <a:ea typeface="Calibri" pitchFamily="34" charset="-122"/>
                <a:cs typeface="Calibri" pitchFamily="34" charset="-120"/>
              </a:rPr>
              <a:t>26 câu chồng lấn gồm 24 câu trùng mã và 2 câu gần giống</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069080" y="1783080"/>
          <a:ext cx="7528255" cy="914400"/>
        </p:xfrm>
        <a:graphic>
          <a:graphicData uri="http://schemas.openxmlformats.org/drawingml/2006/table">
            <a:tbl>
              <a:tblPr/>
              <a:tblGrid>
                <a:gridCol w="3566160"/>
                <a:gridCol w="1938528"/>
                <a:gridCol w="2020824"/>
              </a:tblGrid>
              <a:tr h="365760">
                <a:tc>
                  <a:txBody>
                    <a:bodyPr/>
                    <a:lstStyle/>
                    <a:p>
                      <a:pPr indent="0" marL="0">
                        <a:buNone/>
                      </a:pPr>
                      <a:r>
                        <a:rPr lang="en-US" sz="1100" b="1" dirty="0">
                          <a:solidFill>
                            <a:srgbClr val="77858E"/>
                          </a:solidFill>
                          <a:latin typeface="Consolas" pitchFamily="34" charset="0"/>
                          <a:ea typeface="Consolas" pitchFamily="34" charset="-122"/>
                          <a:cs typeface="Consolas" pitchFamily="34" charset="-120"/>
                        </a:rPr>
                        <a:t>CÂU HỎI</a:t>
                      </a:r>
                      <a:endParaRPr lang="en-US" sz="1100" dirty="0">
                        <a:latin typeface="Consolas" charset="0"/>
                        <a:ea typeface="Consolas" charset="0"/>
                        <a:cs typeface="Consolas"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c>
                  <a:txBody>
                    <a:bodyPr/>
                    <a:lstStyle/>
                    <a:p>
                      <a:pPr indent="0" marL="0">
                        <a:buNone/>
                      </a:pPr>
                      <a:r>
                        <a:rPr lang="en-US" sz="1100" b="1" dirty="0">
                          <a:solidFill>
                            <a:srgbClr val="77858E"/>
                          </a:solidFill>
                          <a:latin typeface="Consolas" pitchFamily="34" charset="0"/>
                          <a:ea typeface="Consolas" pitchFamily="34" charset="-122"/>
                          <a:cs typeface="Consolas" pitchFamily="34" charset="-120"/>
                        </a:rPr>
                        <a:t>GOLD Ở TRAIN</a:t>
                      </a:r>
                      <a:endParaRPr lang="en-US" sz="1100" dirty="0">
                        <a:latin typeface="Consolas" charset="0"/>
                        <a:ea typeface="Consolas" charset="0"/>
                        <a:cs typeface="Consolas"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c>
                  <a:txBody>
                    <a:bodyPr/>
                    <a:lstStyle/>
                    <a:p>
                      <a:pPr indent="0" marL="0">
                        <a:buNone/>
                      </a:pPr>
                      <a:r>
                        <a:rPr lang="en-US" sz="1100" b="1" dirty="0">
                          <a:solidFill>
                            <a:srgbClr val="77858E"/>
                          </a:solidFill>
                          <a:latin typeface="Consolas" pitchFamily="34" charset="0"/>
                          <a:ea typeface="Consolas" pitchFamily="34" charset="-122"/>
                          <a:cs typeface="Consolas" pitchFamily="34" charset="-120"/>
                        </a:rPr>
                        <a:t>GOLD Ở TEST</a:t>
                      </a:r>
                      <a:endParaRPr lang="en-US" sz="1100" dirty="0">
                        <a:latin typeface="Consolas" charset="0"/>
                        <a:ea typeface="Consolas" charset="0"/>
                        <a:cs typeface="Consolas"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r>
              <a:tr h="777240">
                <a:tc>
                  <a:txBody>
                    <a:bodyPr/>
                    <a:lstStyle/>
                    <a:p>
                      <a:pPr indent="0" marL="0">
                        <a:buNone/>
                      </a:pPr>
                      <a:r>
                        <a:rPr lang="en-US" sz="1400" dirty="0">
                          <a:solidFill>
                            <a:srgbClr val="16222C"/>
                          </a:solidFill>
                          <a:latin typeface="Calibri" pitchFamily="34" charset="0"/>
                          <a:ea typeface="Calibri" pitchFamily="34" charset="-122"/>
                          <a:cs typeface="Calibri" pitchFamily="34" charset="-120"/>
                        </a:rPr>
                        <a:t>Bị thương tật 25%, cơ quan nhà nước có khởi tố không?</a:t>
                      </a:r>
                      <a:endParaRPr lang="en-US" sz="1400" dirty="0">
                        <a:latin typeface="Calibri" charset="0"/>
                        <a:ea typeface="Calibri" charset="0"/>
                        <a:cs typeface="Calibri"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c>
                  <a:txBody>
                    <a:bodyPr/>
                    <a:lstStyle/>
                    <a:p>
                      <a:pPr indent="0" marL="0">
                        <a:buNone/>
                      </a:pPr>
                      <a:r>
                        <a:rPr lang="en-US" sz="1200" dirty="0">
                          <a:solidFill>
                            <a:srgbClr val="2C5F8A"/>
                          </a:solidFill>
                          <a:latin typeface="Consolas" pitchFamily="34" charset="0"/>
                          <a:ea typeface="Consolas" pitchFamily="34" charset="-122"/>
                          <a:cs typeface="Consolas" pitchFamily="34" charset="-120"/>
                        </a:rPr>
                        <a:t>12/2017/qh14+1</a:t>
                      </a:r>
                      <a:endParaRPr lang="en-US" sz="1200" dirty="0">
                        <a:latin typeface="Consolas" charset="0"/>
                        <a:ea typeface="Consolas" charset="0"/>
                        <a:cs typeface="Consolas"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c>
                  <a:txBody>
                    <a:bodyPr/>
                    <a:lstStyle/>
                    <a:p>
                      <a:pPr indent="0" marL="0">
                        <a:buNone/>
                      </a:pPr>
                      <a:r>
                        <a:rPr lang="en-US" sz="1200" dirty="0">
                          <a:solidFill>
                            <a:srgbClr val="A8202B"/>
                          </a:solidFill>
                          <a:latin typeface="Consolas" pitchFamily="34" charset="0"/>
                          <a:ea typeface="Consolas" pitchFamily="34" charset="-122"/>
                          <a:cs typeface="Consolas" pitchFamily="34" charset="-120"/>
                        </a:rPr>
                        <a:t>101/2015/qh13+155</a:t>
                      </a:r>
                      <a:endParaRPr lang="en-US" sz="1200" dirty="0">
                        <a:latin typeface="Consolas" charset="0"/>
                        <a:ea typeface="Consolas" charset="0"/>
                        <a:cs typeface="Consolas"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r>
              <a:tr h="777240">
                <a:tc>
                  <a:txBody>
                    <a:bodyPr/>
                    <a:lstStyle/>
                    <a:p>
                      <a:pPr indent="0" marL="0">
                        <a:buNone/>
                      </a:pPr>
                      <a:r>
                        <a:rPr lang="en-US" sz="1400" dirty="0">
                          <a:solidFill>
                            <a:srgbClr val="16222C"/>
                          </a:solidFill>
                          <a:latin typeface="Calibri" pitchFamily="34" charset="0"/>
                          <a:ea typeface="Calibri" pitchFamily="34" charset="-122"/>
                          <a:cs typeface="Calibri" pitchFamily="34" charset="-120"/>
                        </a:rPr>
                        <a:t>Tiêu chí xác định thương nhân áp dụng chế độ Luồng Đỏ được quy định …</a:t>
                      </a:r>
                      <a:endParaRPr lang="en-US" sz="1400" dirty="0">
                        <a:latin typeface="Calibri" charset="0"/>
                        <a:ea typeface="Calibri" charset="0"/>
                        <a:cs typeface="Calibri"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c>
                  <a:txBody>
                    <a:bodyPr/>
                    <a:lstStyle/>
                    <a:p>
                      <a:pPr indent="0" marL="0">
                        <a:buNone/>
                      </a:pPr>
                      <a:r>
                        <a:rPr lang="en-US" sz="1200" dirty="0">
                          <a:solidFill>
                            <a:srgbClr val="2C5F8A"/>
                          </a:solidFill>
                          <a:latin typeface="Consolas" pitchFamily="34" charset="0"/>
                          <a:ea typeface="Consolas" pitchFamily="34" charset="-122"/>
                          <a:cs typeface="Consolas" pitchFamily="34" charset="-120"/>
                        </a:rPr>
                        <a:t>31/2018/nđ-cp+29</a:t>
                      </a:r>
                      <a:endParaRPr lang="en-US" sz="1200" dirty="0">
                        <a:latin typeface="Consolas" charset="0"/>
                        <a:ea typeface="Consolas" charset="0"/>
                        <a:cs typeface="Consolas"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c>
                  <a:txBody>
                    <a:bodyPr/>
                    <a:lstStyle/>
                    <a:p>
                      <a:pPr indent="0" marL="0">
                        <a:buNone/>
                      </a:pPr>
                      <a:r>
                        <a:rPr lang="en-US" sz="1200" dirty="0">
                          <a:solidFill>
                            <a:srgbClr val="A8202B"/>
                          </a:solidFill>
                          <a:latin typeface="Consolas" pitchFamily="34" charset="0"/>
                          <a:ea typeface="Consolas" pitchFamily="34" charset="-122"/>
                          <a:cs typeface="Consolas" pitchFamily="34" charset="-120"/>
                        </a:rPr>
                        <a:t>15/2018/tt-bct+6</a:t>
                      </a:r>
                      <a:endParaRPr lang="en-US" sz="1200" dirty="0">
                        <a:latin typeface="Consolas" charset="0"/>
                        <a:ea typeface="Consolas" charset="0"/>
                        <a:cs typeface="Consolas"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r>
              <a:tr h="777240">
                <a:tc>
                  <a:txBody>
                    <a:bodyPr/>
                    <a:lstStyle/>
                    <a:p>
                      <a:pPr indent="0" marL="0">
                        <a:buNone/>
                      </a:pPr>
                      <a:r>
                        <a:rPr lang="en-US" sz="1400" dirty="0">
                          <a:solidFill>
                            <a:srgbClr val="16222C"/>
                          </a:solidFill>
                          <a:latin typeface="Calibri" pitchFamily="34" charset="0"/>
                          <a:ea typeface="Calibri" pitchFamily="34" charset="-122"/>
                          <a:cs typeface="Calibri" pitchFamily="34" charset="-120"/>
                        </a:rPr>
                        <a:t>Đi trường giáo dưỡng được gọi điện thoại về nhà 5 phút/lần được quy …</a:t>
                      </a:r>
                      <a:endParaRPr lang="en-US" sz="1400" dirty="0">
                        <a:latin typeface="Calibri" charset="0"/>
                        <a:ea typeface="Calibri" charset="0"/>
                        <a:cs typeface="Calibri"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c>
                  <a:txBody>
                    <a:bodyPr/>
                    <a:lstStyle/>
                    <a:p>
                      <a:pPr indent="0" marL="0">
                        <a:buNone/>
                      </a:pPr>
                      <a:r>
                        <a:rPr lang="en-US" sz="1200" dirty="0">
                          <a:solidFill>
                            <a:srgbClr val="2C5F8A"/>
                          </a:solidFill>
                          <a:latin typeface="Consolas" pitchFamily="34" charset="0"/>
                          <a:ea typeface="Consolas" pitchFamily="34" charset="-122"/>
                          <a:cs typeface="Consolas" pitchFamily="34" charset="-120"/>
                        </a:rPr>
                        <a:t>43/2015/tt-bca+2</a:t>
                      </a:r>
                      <a:endParaRPr lang="en-US" sz="1200" dirty="0">
                        <a:latin typeface="Consolas" charset="0"/>
                        <a:ea typeface="Consolas" charset="0"/>
                        <a:cs typeface="Consolas"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c>
                  <a:txBody>
                    <a:bodyPr/>
                    <a:lstStyle/>
                    <a:p>
                      <a:pPr indent="0" marL="0">
                        <a:buNone/>
                      </a:pPr>
                      <a:r>
                        <a:rPr lang="en-US" sz="1200" dirty="0">
                          <a:solidFill>
                            <a:srgbClr val="A8202B"/>
                          </a:solidFill>
                          <a:latin typeface="Consolas" pitchFamily="34" charset="0"/>
                          <a:ea typeface="Consolas" pitchFamily="34" charset="-122"/>
                          <a:cs typeface="Consolas" pitchFamily="34" charset="-120"/>
                        </a:rPr>
                        <a:t>43/2015/tt-bca+12</a:t>
                      </a:r>
                      <a:endParaRPr lang="en-US" sz="1200" dirty="0">
                        <a:latin typeface="Consolas" charset="0"/>
                        <a:ea typeface="Consolas" charset="0"/>
                        <a:cs typeface="Consolas"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r>
            </a:tbl>
          </a:graphicData>
        </a:graphic>
      </p:graphicFrame>
      <p:sp>
        <p:nvSpPr>
          <p:cNvPr id="11" name="Shape 7"/>
          <p:cNvSpPr/>
          <p:nvPr/>
        </p:nvSpPr>
        <p:spPr>
          <a:xfrm>
            <a:off x="4069080" y="4800600"/>
            <a:ext cx="7528255" cy="868680"/>
          </a:xfrm>
          <a:prstGeom prst="rect">
            <a:avLst/>
          </a:prstGeom>
          <a:solidFill>
            <a:srgbClr val="E4F0EB"/>
          </a:solidFill>
          <a:ln/>
        </p:spPr>
      </p:sp>
      <p:sp>
        <p:nvSpPr>
          <p:cNvPr id="12" name="Text 8"/>
          <p:cNvSpPr txBox="1"/>
          <p:nvPr/>
        </p:nvSpPr>
        <p:spPr>
          <a:xfrm>
            <a:off x="4297680" y="4800600"/>
            <a:ext cx="7071055" cy="868680"/>
          </a:xfrm>
          <a:prstGeom prst="rect">
            <a:avLst/>
          </a:prstGeom>
          <a:noFill/>
          <a:ln/>
        </p:spPr>
        <p:txBody>
          <a:bodyPr wrap="square" lIns="0" tIns="0" rIns="0" bIns="0" rtlCol="0" anchor="ctr"/>
          <a:lstStyle/>
          <a:p>
            <a:pPr indent="0" marL="0">
              <a:buNone/>
            </a:pPr>
            <a:r>
              <a:rPr lang="en-US" sz="1500" b="1" dirty="0">
                <a:solidFill>
                  <a:srgbClr val="1B6E5A"/>
                </a:solidFill>
                <a:latin typeface="Calibri" pitchFamily="34" charset="0"/>
                <a:ea typeface="Calibri" pitchFamily="34" charset="-122"/>
                <a:cs typeface="Calibri" pitchFamily="34" charset="-120"/>
              </a:rPr>
              <a:t>Bỏ dòng train của các câu này, test giữ nguyên 793 cặp của ban tổ chức. Mọi Recall là cận dưới.</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RÒ RỈ DỮ LIỆU  ·  07</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Mô hình phổ biến nhất đã học chính tập test</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08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07 / 16</a:t>
            </a:r>
            <a:endParaRPr lang="en-US" sz="1000" dirty="0"/>
          </a:p>
        </p:txBody>
      </p:sp>
      <p:sp>
        <p:nvSpPr>
          <p:cNvPr id="7" name="Shape 4"/>
          <p:cNvSpPr/>
          <p:nvPr/>
        </p:nvSpPr>
        <p:spPr>
          <a:xfrm>
            <a:off x="594360" y="1783080"/>
            <a:ext cx="5318608" cy="2514600"/>
          </a:xfrm>
          <a:prstGeom prst="rect">
            <a:avLst/>
          </a:prstGeom>
          <a:solidFill>
            <a:srgbClr val="F8E9E9"/>
          </a:solidFill>
          <a:ln/>
        </p:spPr>
      </p:sp>
      <p:sp>
        <p:nvSpPr>
          <p:cNvPr id="8" name="Shape 5"/>
          <p:cNvSpPr/>
          <p:nvPr/>
        </p:nvSpPr>
        <p:spPr>
          <a:xfrm>
            <a:off x="914400" y="2057400"/>
            <a:ext cx="1280160" cy="329184"/>
          </a:xfrm>
          <a:prstGeom prst="rect">
            <a:avLst/>
          </a:prstGeom>
          <a:solidFill>
            <a:srgbClr val="A8202B"/>
          </a:solidFill>
          <a:ln/>
        </p:spPr>
      </p:sp>
      <p:sp>
        <p:nvSpPr>
          <p:cNvPr id="9" name="Text 6"/>
          <p:cNvSpPr txBox="1"/>
          <p:nvPr/>
        </p:nvSpPr>
        <p:spPr>
          <a:xfrm>
            <a:off x="914400" y="2057400"/>
            <a:ext cx="12801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NHIỄM BẨN</a:t>
            </a:r>
            <a:endParaRPr lang="en-US" sz="1200" dirty="0"/>
          </a:p>
        </p:txBody>
      </p:sp>
      <p:sp>
        <p:nvSpPr>
          <p:cNvPr id="10" name="Text 7"/>
          <p:cNvSpPr txBox="1"/>
          <p:nvPr/>
        </p:nvSpPr>
        <p:spPr>
          <a:xfrm>
            <a:off x="914400" y="2514600"/>
            <a:ext cx="4678528" cy="274320"/>
          </a:xfrm>
          <a:prstGeom prst="rect">
            <a:avLst/>
          </a:prstGeom>
          <a:noFill/>
          <a:ln/>
        </p:spPr>
        <p:txBody>
          <a:bodyPr wrap="square" lIns="0" tIns="0" rIns="0" bIns="0" rtlCol="0" anchor="ctr"/>
          <a:lstStyle/>
          <a:p>
            <a:pPr indent="0" marL="0">
              <a:buNone/>
            </a:pPr>
            <a:r>
              <a:rPr lang="en-US" sz="1300" dirty="0">
                <a:solidFill>
                  <a:srgbClr val="46545F"/>
                </a:solidFill>
                <a:latin typeface="Consolas" pitchFamily="34" charset="0"/>
                <a:ea typeface="Consolas" pitchFamily="34" charset="-122"/>
                <a:cs typeface="Consolas" pitchFamily="34" charset="-120"/>
              </a:rPr>
              <a:t>bkai-foundation-models/vietnamese-bi-encoder</a:t>
            </a:r>
            <a:endParaRPr lang="en-US" sz="1300" dirty="0"/>
          </a:p>
        </p:txBody>
      </p:sp>
      <p:sp>
        <p:nvSpPr>
          <p:cNvPr id="11" name="Text 8"/>
          <p:cNvSpPr txBox="1"/>
          <p:nvPr/>
        </p:nvSpPr>
        <p:spPr>
          <a:xfrm>
            <a:off x="914400" y="2880360"/>
            <a:ext cx="4678528" cy="868680"/>
          </a:xfrm>
          <a:prstGeom prst="rect">
            <a:avLst/>
          </a:prstGeom>
          <a:noFill/>
          <a:ln/>
        </p:spPr>
        <p:txBody>
          <a:bodyPr wrap="square" lIns="0" tIns="0" rIns="0" bIns="0" rtlCol="0" anchor="t"/>
          <a:lstStyle/>
          <a:p>
            <a:pPr indent="0" marL="0">
              <a:buNone/>
            </a:pPr>
            <a:r>
              <a:rPr lang="en-US" sz="1900" i="1" dirty="0">
                <a:solidFill>
                  <a:srgbClr val="16222C"/>
                </a:solidFill>
                <a:latin typeface="Cambria" pitchFamily="34" charset="0"/>
                <a:ea typeface="Cambria" pitchFamily="34" charset="-122"/>
                <a:cs typeface="Cambria" pitchFamily="34" charset="-120"/>
              </a:rPr>
              <a:t>“80% of the training set from the Legal Text Retrieval Zalo 2021 challenge”</a:t>
            </a:r>
            <a:endParaRPr lang="en-US" sz="1900" dirty="0"/>
          </a:p>
        </p:txBody>
      </p:sp>
      <p:sp>
        <p:nvSpPr>
          <p:cNvPr id="12" name="Text 9"/>
          <p:cNvSpPr txBox="1"/>
          <p:nvPr/>
        </p:nvSpPr>
        <p:spPr>
          <a:xfrm>
            <a:off x="914400" y="3794760"/>
            <a:ext cx="4678528" cy="365760"/>
          </a:xfrm>
          <a:prstGeom prst="rect">
            <a:avLst/>
          </a:prstGeom>
          <a:noFill/>
          <a:ln/>
        </p:spPr>
        <p:txBody>
          <a:bodyPr wrap="square" lIns="0" tIns="0" rIns="0" bIns="0" rtlCol="0" anchor="t"/>
          <a:lstStyle/>
          <a:p>
            <a:pPr indent="0" marL="0">
              <a:buNone/>
            </a:pPr>
            <a:r>
              <a:rPr lang="en-US" sz="1400" b="1" dirty="0">
                <a:solidFill>
                  <a:srgbClr val="A8202B"/>
                </a:solidFill>
                <a:latin typeface="Calibri" pitchFamily="34" charset="0"/>
                <a:ea typeface="Calibri" pitchFamily="34" charset="-122"/>
                <a:cs typeface="Calibri" pitchFamily="34" charset="-120"/>
              </a:rPr>
              <a:t>Tập test của nhóm cắt ra từ đúng tập train này</a:t>
            </a:r>
            <a:endParaRPr lang="en-US" sz="1400" dirty="0"/>
          </a:p>
        </p:txBody>
      </p:sp>
      <p:sp>
        <p:nvSpPr>
          <p:cNvPr id="13" name="Shape 10"/>
          <p:cNvSpPr/>
          <p:nvPr/>
        </p:nvSpPr>
        <p:spPr>
          <a:xfrm>
            <a:off x="6278728" y="1783080"/>
            <a:ext cx="5318608" cy="2514600"/>
          </a:xfrm>
          <a:prstGeom prst="rect">
            <a:avLst/>
          </a:prstGeom>
          <a:solidFill>
            <a:srgbClr val="E4F0EB"/>
          </a:solidFill>
          <a:ln/>
        </p:spPr>
      </p:sp>
      <p:sp>
        <p:nvSpPr>
          <p:cNvPr id="14" name="Shape 11"/>
          <p:cNvSpPr/>
          <p:nvPr/>
        </p:nvSpPr>
        <p:spPr>
          <a:xfrm>
            <a:off x="6598768" y="2057400"/>
            <a:ext cx="1280160" cy="329184"/>
          </a:xfrm>
          <a:prstGeom prst="rect">
            <a:avLst/>
          </a:prstGeom>
          <a:solidFill>
            <a:srgbClr val="1B6E5A"/>
          </a:solidFill>
          <a:ln/>
        </p:spPr>
      </p:sp>
      <p:sp>
        <p:nvSpPr>
          <p:cNvPr id="15" name="Text 12"/>
          <p:cNvSpPr txBox="1"/>
          <p:nvPr/>
        </p:nvSpPr>
        <p:spPr>
          <a:xfrm>
            <a:off x="6598768" y="2057400"/>
            <a:ext cx="12801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SẠCH</a:t>
            </a:r>
            <a:endParaRPr lang="en-US" sz="1200" dirty="0"/>
          </a:p>
        </p:txBody>
      </p:sp>
      <p:sp>
        <p:nvSpPr>
          <p:cNvPr id="16" name="Text 13"/>
          <p:cNvSpPr txBox="1"/>
          <p:nvPr/>
        </p:nvSpPr>
        <p:spPr>
          <a:xfrm>
            <a:off x="6598768" y="2514600"/>
            <a:ext cx="4678528" cy="274320"/>
          </a:xfrm>
          <a:prstGeom prst="rect">
            <a:avLst/>
          </a:prstGeom>
          <a:noFill/>
          <a:ln/>
        </p:spPr>
        <p:txBody>
          <a:bodyPr wrap="square" lIns="0" tIns="0" rIns="0" bIns="0" rtlCol="0" anchor="ctr"/>
          <a:lstStyle/>
          <a:p>
            <a:pPr indent="0" marL="0">
              <a:buNone/>
            </a:pPr>
            <a:r>
              <a:rPr lang="en-US" sz="1300" dirty="0">
                <a:solidFill>
                  <a:srgbClr val="46545F"/>
                </a:solidFill>
                <a:latin typeface="Consolas" pitchFamily="34" charset="0"/>
                <a:ea typeface="Consolas" pitchFamily="34" charset="-122"/>
                <a:cs typeface="Consolas" pitchFamily="34" charset="-120"/>
              </a:rPr>
              <a:t>AITeamVN/Vietnamese_Embedding</a:t>
            </a:r>
            <a:endParaRPr lang="en-US" sz="1300" dirty="0"/>
          </a:p>
        </p:txBody>
      </p:sp>
      <p:sp>
        <p:nvSpPr>
          <p:cNvPr id="17" name="Text 14"/>
          <p:cNvSpPr txBox="1"/>
          <p:nvPr/>
        </p:nvSpPr>
        <p:spPr>
          <a:xfrm>
            <a:off x="6598768" y="2880360"/>
            <a:ext cx="4678528" cy="868680"/>
          </a:xfrm>
          <a:prstGeom prst="rect">
            <a:avLst/>
          </a:prstGeom>
          <a:noFill/>
          <a:ln/>
        </p:spPr>
        <p:txBody>
          <a:bodyPr wrap="square" lIns="0" tIns="0" rIns="0" bIns="0" rtlCol="0" anchor="t"/>
          <a:lstStyle/>
          <a:p>
            <a:pPr indent="0" marL="0">
              <a:buNone/>
            </a:pPr>
            <a:r>
              <a:rPr lang="en-US" sz="1900" i="1" dirty="0">
                <a:solidFill>
                  <a:srgbClr val="16222C"/>
                </a:solidFill>
                <a:latin typeface="Cambria" pitchFamily="34" charset="0"/>
                <a:ea typeface="Cambria" pitchFamily="34" charset="-122"/>
                <a:cs typeface="Cambria" pitchFamily="34" charset="-120"/>
              </a:rPr>
              <a:t>“Our model was not trained on this dataset”</a:t>
            </a:r>
            <a:endParaRPr lang="en-US" sz="1900" dirty="0"/>
          </a:p>
        </p:txBody>
      </p:sp>
      <p:sp>
        <p:nvSpPr>
          <p:cNvPr id="18" name="Text 15"/>
          <p:cNvSpPr txBox="1"/>
          <p:nvPr/>
        </p:nvSpPr>
        <p:spPr>
          <a:xfrm>
            <a:off x="6598768" y="3794760"/>
            <a:ext cx="4678528" cy="365760"/>
          </a:xfrm>
          <a:prstGeom prst="rect">
            <a:avLst/>
          </a:prstGeom>
          <a:noFill/>
          <a:ln/>
        </p:spPr>
        <p:txBody>
          <a:bodyPr wrap="square" lIns="0" tIns="0" rIns="0" bIns="0" rtlCol="0" anchor="t"/>
          <a:lstStyle/>
          <a:p>
            <a:pPr indent="0" marL="0">
              <a:buNone/>
            </a:pPr>
            <a:r>
              <a:rPr lang="en-US" sz="1400" b="1" dirty="0">
                <a:solidFill>
                  <a:srgbClr val="1B6E5A"/>
                </a:solidFill>
                <a:latin typeface="Calibri" pitchFamily="34" charset="0"/>
                <a:ea typeface="Calibri" pitchFamily="34" charset="-122"/>
                <a:cs typeface="Calibri" pitchFamily="34" charset="-120"/>
              </a:rPr>
              <a:t>Dùng cho mọi con số chính thức</a:t>
            </a:r>
            <a:endParaRPr lang="en-US" sz="1400" dirty="0"/>
          </a:p>
        </p:txBody>
      </p:sp>
      <p:sp>
        <p:nvSpPr>
          <p:cNvPr id="19" name="Text 16"/>
          <p:cNvSpPr txBox="1"/>
          <p:nvPr/>
        </p:nvSpPr>
        <p:spPr>
          <a:xfrm>
            <a:off x="594360" y="4572000"/>
            <a:ext cx="5486400" cy="274320"/>
          </a:xfrm>
          <a:prstGeom prst="rect">
            <a:avLst/>
          </a:prstGeom>
          <a:noFill/>
          <a:ln/>
        </p:spPr>
        <p:txBody>
          <a:bodyPr wrap="square" lIns="0" tIns="0" rIns="0" bIns="0" rtlCol="0" anchor="ctr"/>
          <a:lstStyle/>
          <a:p>
            <a:pPr indent="0" marL="0">
              <a:buNone/>
            </a:pPr>
            <a:r>
              <a:rPr lang="en-US" sz="1200" b="1" dirty="0">
                <a:solidFill>
                  <a:srgbClr val="2C5F8A"/>
                </a:solidFill>
                <a:latin typeface="Consolas" pitchFamily="34" charset="0"/>
                <a:ea typeface="Consolas" pitchFamily="34" charset="-122"/>
                <a:cs typeface="Consolas" pitchFamily="34" charset="-120"/>
              </a:rPr>
              <a:t>CHIA LẠI TẬP THEO CÂU HỎI</a:t>
            </a:r>
            <a:endParaRPr lang="en-US" sz="1200" dirty="0"/>
          </a:p>
        </p:txBody>
      </p:sp>
      <p:sp>
        <p:nvSpPr>
          <p:cNvPr id="20" name="Text 17"/>
          <p:cNvSpPr txBox="1"/>
          <p:nvPr/>
        </p:nvSpPr>
        <p:spPr>
          <a:xfrm>
            <a:off x="594360" y="4892040"/>
            <a:ext cx="3484778" cy="502920"/>
          </a:xfrm>
          <a:prstGeom prst="rect">
            <a:avLst/>
          </a:prstGeom>
          <a:noFill/>
          <a:ln/>
        </p:spPr>
        <p:txBody>
          <a:bodyPr wrap="square" lIns="0" tIns="0" rIns="0" bIns="0" rtlCol="0" anchor="ctr"/>
          <a:lstStyle/>
          <a:p>
            <a:pPr indent="0" marL="0">
              <a:buNone/>
            </a:pPr>
            <a:r>
              <a:rPr lang="en-US" sz="2600" b="1" dirty="0">
                <a:solidFill>
                  <a:srgbClr val="16222C"/>
                </a:solidFill>
                <a:latin typeface="Cambria" pitchFamily="34" charset="0"/>
                <a:ea typeface="Cambria" pitchFamily="34" charset="-122"/>
                <a:cs typeface="Cambria" pitchFamily="34" charset="-120"/>
              </a:rPr>
              <a:t>1.925</a:t>
            </a:r>
            <a:pPr indent="0" marL="0">
              <a:buNone/>
            </a:pPr>
            <a:r>
              <a:rPr lang="en-US" sz="1500" dirty="0">
                <a:solidFill>
                  <a:srgbClr val="46545F"/>
                </a:solidFill>
                <a:latin typeface="Calibri" pitchFamily="34" charset="0"/>
                <a:ea typeface="Calibri" pitchFamily="34" charset="-122"/>
                <a:cs typeface="Calibri" pitchFamily="34" charset="-120"/>
              </a:rPr>
              <a:t>  câu hỏi train</a:t>
            </a:r>
            <a:endParaRPr lang="en-US" sz="2600" dirty="0"/>
          </a:p>
        </p:txBody>
      </p:sp>
      <p:sp>
        <p:nvSpPr>
          <p:cNvPr id="21" name="Text 18"/>
          <p:cNvSpPr txBox="1"/>
          <p:nvPr/>
        </p:nvSpPr>
        <p:spPr>
          <a:xfrm>
            <a:off x="594360" y="5394960"/>
            <a:ext cx="3484778" cy="274320"/>
          </a:xfrm>
          <a:prstGeom prst="rect">
            <a:avLst/>
          </a:prstGeom>
          <a:noFill/>
          <a:ln/>
        </p:spPr>
        <p:txBody>
          <a:bodyPr wrap="square" lIns="0" tIns="0" rIns="0" bIns="0" rtlCol="0" anchor="ctr"/>
          <a:lstStyle/>
          <a:p>
            <a:pPr indent="0" marL="0">
              <a:buNone/>
            </a:pPr>
            <a:r>
              <a:rPr lang="en-US" sz="1300" dirty="0">
                <a:solidFill>
                  <a:srgbClr val="77858E"/>
                </a:solidFill>
                <a:latin typeface="Calibri" pitchFamily="34" charset="0"/>
                <a:ea typeface="Calibri" pitchFamily="34" charset="-122"/>
                <a:cs typeface="Calibri" pitchFamily="34" charset="-120"/>
              </a:rPr>
              <a:t>đã bỏ 26 câu rò rỉ</a:t>
            </a:r>
            <a:endParaRPr lang="en-US" sz="1300" dirty="0"/>
          </a:p>
        </p:txBody>
      </p:sp>
      <p:sp>
        <p:nvSpPr>
          <p:cNvPr id="22" name="Text 19"/>
          <p:cNvSpPr txBox="1"/>
          <p:nvPr/>
        </p:nvSpPr>
        <p:spPr>
          <a:xfrm>
            <a:off x="4262018" y="4892040"/>
            <a:ext cx="3484778" cy="502920"/>
          </a:xfrm>
          <a:prstGeom prst="rect">
            <a:avLst/>
          </a:prstGeom>
          <a:noFill/>
          <a:ln/>
        </p:spPr>
        <p:txBody>
          <a:bodyPr wrap="square" lIns="0" tIns="0" rIns="0" bIns="0" rtlCol="0" anchor="ctr"/>
          <a:lstStyle/>
          <a:p>
            <a:pPr indent="0" marL="0">
              <a:buNone/>
            </a:pPr>
            <a:r>
              <a:rPr lang="en-US" sz="2600" b="1" dirty="0">
                <a:solidFill>
                  <a:srgbClr val="16222C"/>
                </a:solidFill>
                <a:latin typeface="Cambria" pitchFamily="34" charset="0"/>
                <a:ea typeface="Cambria" pitchFamily="34" charset="-122"/>
                <a:cs typeface="Cambria" pitchFamily="34" charset="-120"/>
              </a:rPr>
              <a:t>481</a:t>
            </a:r>
            <a:pPr indent="0" marL="0">
              <a:buNone/>
            </a:pPr>
            <a:r>
              <a:rPr lang="en-US" sz="1500" dirty="0">
                <a:solidFill>
                  <a:srgbClr val="46545F"/>
                </a:solidFill>
                <a:latin typeface="Calibri" pitchFamily="34" charset="0"/>
                <a:ea typeface="Calibri" pitchFamily="34" charset="-122"/>
                <a:cs typeface="Calibri" pitchFamily="34" charset="-120"/>
              </a:rPr>
              <a:t>  câu hỏi val</a:t>
            </a:r>
            <a:endParaRPr lang="en-US" sz="2600" dirty="0"/>
          </a:p>
        </p:txBody>
      </p:sp>
      <p:sp>
        <p:nvSpPr>
          <p:cNvPr id="23" name="Text 20"/>
          <p:cNvSpPr txBox="1"/>
          <p:nvPr/>
        </p:nvSpPr>
        <p:spPr>
          <a:xfrm>
            <a:off x="4262018" y="5394960"/>
            <a:ext cx="3484778" cy="274320"/>
          </a:xfrm>
          <a:prstGeom prst="rect">
            <a:avLst/>
          </a:prstGeom>
          <a:noFill/>
          <a:ln/>
        </p:spPr>
        <p:txBody>
          <a:bodyPr wrap="square" lIns="0" tIns="0" rIns="0" bIns="0" rtlCol="0" anchor="ctr"/>
          <a:lstStyle/>
          <a:p>
            <a:pPr indent="0" marL="0">
              <a:buNone/>
            </a:pPr>
            <a:r>
              <a:rPr lang="en-US" sz="1300" dirty="0">
                <a:solidFill>
                  <a:srgbClr val="77858E"/>
                </a:solidFill>
                <a:latin typeface="Calibri" pitchFamily="34" charset="0"/>
                <a:ea typeface="Calibri" pitchFamily="34" charset="-122"/>
                <a:cs typeface="Calibri" pitchFamily="34" charset="-120"/>
              </a:rPr>
              <a:t>cắt từ train, seed 42, để chỉnh tham số</a:t>
            </a:r>
            <a:endParaRPr lang="en-US" sz="1300" dirty="0"/>
          </a:p>
        </p:txBody>
      </p:sp>
      <p:sp>
        <p:nvSpPr>
          <p:cNvPr id="24" name="Text 21"/>
          <p:cNvSpPr txBox="1"/>
          <p:nvPr/>
        </p:nvSpPr>
        <p:spPr>
          <a:xfrm>
            <a:off x="7929677" y="4892040"/>
            <a:ext cx="3484778" cy="502920"/>
          </a:xfrm>
          <a:prstGeom prst="rect">
            <a:avLst/>
          </a:prstGeom>
          <a:noFill/>
          <a:ln/>
        </p:spPr>
        <p:txBody>
          <a:bodyPr wrap="square" lIns="0" tIns="0" rIns="0" bIns="0" rtlCol="0" anchor="ctr"/>
          <a:lstStyle/>
          <a:p>
            <a:pPr indent="0" marL="0">
              <a:buNone/>
            </a:pPr>
            <a:r>
              <a:rPr lang="en-US" sz="2600" b="1" dirty="0">
                <a:solidFill>
                  <a:srgbClr val="16222C"/>
                </a:solidFill>
                <a:latin typeface="Cambria" pitchFamily="34" charset="0"/>
                <a:ea typeface="Cambria" pitchFamily="34" charset="-122"/>
                <a:cs typeface="Cambria" pitchFamily="34" charset="-120"/>
              </a:rPr>
              <a:t>788</a:t>
            </a:r>
            <a:pPr indent="0" marL="0">
              <a:buNone/>
            </a:pPr>
            <a:r>
              <a:rPr lang="en-US" sz="1500" dirty="0">
                <a:solidFill>
                  <a:srgbClr val="46545F"/>
                </a:solidFill>
                <a:latin typeface="Calibri" pitchFamily="34" charset="0"/>
                <a:ea typeface="Calibri" pitchFamily="34" charset="-122"/>
                <a:cs typeface="Calibri" pitchFamily="34" charset="-120"/>
              </a:rPr>
              <a:t>  câu hỏi test</a:t>
            </a:r>
            <a:endParaRPr lang="en-US" sz="2600" dirty="0"/>
          </a:p>
        </p:txBody>
      </p:sp>
      <p:sp>
        <p:nvSpPr>
          <p:cNvPr id="25" name="Text 22"/>
          <p:cNvSpPr txBox="1"/>
          <p:nvPr/>
        </p:nvSpPr>
        <p:spPr>
          <a:xfrm>
            <a:off x="7929677" y="5394960"/>
            <a:ext cx="3484778" cy="274320"/>
          </a:xfrm>
          <a:prstGeom prst="rect">
            <a:avLst/>
          </a:prstGeom>
          <a:noFill/>
          <a:ln/>
        </p:spPr>
        <p:txBody>
          <a:bodyPr wrap="square" lIns="0" tIns="0" rIns="0" bIns="0" rtlCol="0" anchor="ctr"/>
          <a:lstStyle/>
          <a:p>
            <a:pPr indent="0" marL="0">
              <a:buNone/>
            </a:pPr>
            <a:r>
              <a:rPr lang="en-US" sz="1300" dirty="0">
                <a:solidFill>
                  <a:srgbClr val="77858E"/>
                </a:solidFill>
                <a:latin typeface="Calibri" pitchFamily="34" charset="0"/>
                <a:ea typeface="Calibri" pitchFamily="34" charset="-122"/>
                <a:cs typeface="Calibri" pitchFamily="34" charset="-120"/>
              </a:rPr>
              <a:t>nguyên vẹn, chỉ chạy một lần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PHƯƠNG PHÁP  ·  08</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Một khâu phục hồi dấu đứng trước ba tầng tìm kiếm</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08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08 / 16</a:t>
            </a:r>
            <a:endParaRPr lang="en-US" sz="1000" dirty="0"/>
          </a:p>
        </p:txBody>
      </p:sp>
      <p:sp>
        <p:nvSpPr>
          <p:cNvPr id="7" name="Shape 4"/>
          <p:cNvSpPr/>
          <p:nvPr/>
        </p:nvSpPr>
        <p:spPr>
          <a:xfrm>
            <a:off x="594360" y="3246120"/>
            <a:ext cx="1600200" cy="1143000"/>
          </a:xfrm>
          <a:prstGeom prst="rect">
            <a:avLst/>
          </a:prstGeom>
          <a:solidFill>
            <a:srgbClr val="FFFFFF"/>
          </a:solidFill>
          <a:ln w="15875">
            <a:solidFill>
              <a:srgbClr val="77858E"/>
            </a:solidFill>
            <a:prstDash val="solid"/>
          </a:ln>
        </p:spPr>
      </p:sp>
      <p:sp>
        <p:nvSpPr>
          <p:cNvPr id="8" name="Text 5"/>
          <p:cNvSpPr txBox="1"/>
          <p:nvPr/>
        </p:nvSpPr>
        <p:spPr>
          <a:xfrm>
            <a:off x="731520" y="3410712"/>
            <a:ext cx="1325880" cy="365760"/>
          </a:xfrm>
          <a:prstGeom prst="rect">
            <a:avLst/>
          </a:prstGeom>
          <a:noFill/>
          <a:ln/>
        </p:spPr>
        <p:txBody>
          <a:bodyPr wrap="square" lIns="0" tIns="0" rIns="0" bIns="0" rtlCol="0" anchor="ctr"/>
          <a:lstStyle/>
          <a:p>
            <a:pPr algn="ctr" indent="0" marL="0">
              <a:buNone/>
            </a:pPr>
            <a:r>
              <a:rPr lang="en-US" sz="1700" b="1" dirty="0">
                <a:solidFill>
                  <a:srgbClr val="16222C"/>
                </a:solidFill>
                <a:latin typeface="Calibri" pitchFamily="34" charset="0"/>
                <a:ea typeface="Calibri" pitchFamily="34" charset="-122"/>
                <a:cs typeface="Calibri" pitchFamily="34" charset="-120"/>
              </a:rPr>
              <a:t>Câu hỏi</a:t>
            </a:r>
            <a:endParaRPr lang="en-US" sz="1700" dirty="0"/>
          </a:p>
        </p:txBody>
      </p:sp>
      <p:sp>
        <p:nvSpPr>
          <p:cNvPr id="9" name="Text 6"/>
          <p:cNvSpPr txBox="1"/>
          <p:nvPr/>
        </p:nvSpPr>
        <p:spPr>
          <a:xfrm>
            <a:off x="731520" y="3794760"/>
            <a:ext cx="1325880" cy="502920"/>
          </a:xfrm>
          <a:prstGeom prst="rect">
            <a:avLst/>
          </a:prstGeom>
          <a:noFill/>
          <a:ln/>
        </p:spPr>
        <p:txBody>
          <a:bodyPr wrap="square" lIns="0" tIns="0" rIns="0" bIns="0" rtlCol="0" anchor="t"/>
          <a:lstStyle/>
          <a:p>
            <a:pPr algn="ctr" indent="0" marL="0">
              <a:buNone/>
            </a:pPr>
            <a:r>
              <a:rPr lang="en-US" sz="1250" dirty="0">
                <a:solidFill>
                  <a:srgbClr val="46545F"/>
                </a:solidFill>
                <a:latin typeface="Calibri" pitchFamily="34" charset="0"/>
                <a:ea typeface="Calibri" pitchFamily="34" charset="-122"/>
                <a:cs typeface="Calibri" pitchFamily="34" charset="-120"/>
              </a:rPr>
              <a:t>có dấu, không dấu</a:t>
            </a:r>
            <a:endParaRPr lang="en-US" sz="1250" dirty="0"/>
          </a:p>
          <a:p>
            <a:pPr algn="ctr" indent="0" marL="0">
              <a:buNone/>
            </a:pPr>
            <a:r>
              <a:rPr lang="en-US" sz="1250" dirty="0">
                <a:solidFill>
                  <a:srgbClr val="46545F"/>
                </a:solidFill>
                <a:latin typeface="Calibri" pitchFamily="34" charset="0"/>
                <a:ea typeface="Calibri" pitchFamily="34" charset="-122"/>
                <a:cs typeface="Calibri" pitchFamily="34" charset="-120"/>
              </a:rPr>
              <a:t>hoặc nửa dấu</a:t>
            </a:r>
            <a:endParaRPr lang="en-US" sz="1250" dirty="0"/>
          </a:p>
        </p:txBody>
      </p:sp>
      <p:sp>
        <p:nvSpPr>
          <p:cNvPr id="10" name="Shape 7"/>
          <p:cNvSpPr/>
          <p:nvPr/>
        </p:nvSpPr>
        <p:spPr>
          <a:xfrm>
            <a:off x="2606040" y="3246120"/>
            <a:ext cx="2011680" cy="1143000"/>
          </a:xfrm>
          <a:prstGeom prst="rect">
            <a:avLst/>
          </a:prstGeom>
          <a:solidFill>
            <a:srgbClr val="F8E9E9"/>
          </a:solidFill>
          <a:ln w="15875">
            <a:solidFill>
              <a:srgbClr val="A8202B"/>
            </a:solidFill>
            <a:prstDash val="solid"/>
          </a:ln>
        </p:spPr>
      </p:sp>
      <p:sp>
        <p:nvSpPr>
          <p:cNvPr id="11" name="Text 8"/>
          <p:cNvSpPr txBox="1"/>
          <p:nvPr/>
        </p:nvSpPr>
        <p:spPr>
          <a:xfrm>
            <a:off x="2743200" y="3410712"/>
            <a:ext cx="1737360" cy="365760"/>
          </a:xfrm>
          <a:prstGeom prst="rect">
            <a:avLst/>
          </a:prstGeom>
          <a:noFill/>
          <a:ln/>
        </p:spPr>
        <p:txBody>
          <a:bodyPr wrap="square" lIns="0" tIns="0" rIns="0" bIns="0" rtlCol="0" anchor="ctr"/>
          <a:lstStyle/>
          <a:p>
            <a:pPr algn="ctr" indent="0" marL="0">
              <a:buNone/>
            </a:pPr>
            <a:r>
              <a:rPr lang="en-US" sz="1700" b="1" dirty="0">
                <a:solidFill>
                  <a:srgbClr val="A8202B"/>
                </a:solidFill>
                <a:latin typeface="Calibri" pitchFamily="34" charset="0"/>
                <a:ea typeface="Calibri" pitchFamily="34" charset="-122"/>
                <a:cs typeface="Calibri" pitchFamily="34" charset="-120"/>
              </a:rPr>
              <a:t>Phục hồi dấu</a:t>
            </a:r>
            <a:endParaRPr lang="en-US" sz="1700" dirty="0"/>
          </a:p>
        </p:txBody>
      </p:sp>
      <p:sp>
        <p:nvSpPr>
          <p:cNvPr id="12" name="Text 9"/>
          <p:cNvSpPr txBox="1"/>
          <p:nvPr/>
        </p:nvSpPr>
        <p:spPr>
          <a:xfrm>
            <a:off x="2743200" y="3794760"/>
            <a:ext cx="1737360" cy="502920"/>
          </a:xfrm>
          <a:prstGeom prst="rect">
            <a:avLst/>
          </a:prstGeom>
          <a:noFill/>
          <a:ln/>
        </p:spPr>
        <p:txBody>
          <a:bodyPr wrap="square" lIns="0" tIns="0" rIns="0" bIns="0" rtlCol="0" anchor="t"/>
          <a:lstStyle/>
          <a:p>
            <a:pPr algn="ctr" indent="0" marL="0">
              <a:buNone/>
            </a:pPr>
            <a:r>
              <a:rPr lang="en-US" sz="1250" dirty="0">
                <a:solidFill>
                  <a:srgbClr val="46545F"/>
                </a:solidFill>
                <a:latin typeface="Calibri" pitchFamily="34" charset="0"/>
                <a:ea typeface="Calibri" pitchFamily="34" charset="-122"/>
                <a:cs typeface="Calibri" pitchFamily="34" charset="-120"/>
              </a:rPr>
              <a:t>bigram âm tiết</a:t>
            </a:r>
            <a:endParaRPr lang="en-US" sz="1250" dirty="0"/>
          </a:p>
          <a:p>
            <a:pPr algn="ctr" indent="0" marL="0">
              <a:buNone/>
            </a:pPr>
            <a:r>
              <a:rPr lang="en-US" sz="1250" dirty="0">
                <a:solidFill>
                  <a:srgbClr val="46545F"/>
                </a:solidFill>
                <a:latin typeface="Calibri" pitchFamily="34" charset="0"/>
                <a:ea typeface="Calibri" pitchFamily="34" charset="-122"/>
                <a:cs typeface="Calibri" pitchFamily="34" charset="-120"/>
              </a:rPr>
              <a:t>và Viterbi</a:t>
            </a:r>
            <a:endParaRPr lang="en-US" sz="1250" dirty="0"/>
          </a:p>
        </p:txBody>
      </p:sp>
      <p:sp>
        <p:nvSpPr>
          <p:cNvPr id="13" name="Shape 10"/>
          <p:cNvSpPr/>
          <p:nvPr/>
        </p:nvSpPr>
        <p:spPr>
          <a:xfrm>
            <a:off x="5166360" y="1874520"/>
            <a:ext cx="2377440" cy="1143000"/>
          </a:xfrm>
          <a:prstGeom prst="rect">
            <a:avLst/>
          </a:prstGeom>
          <a:solidFill>
            <a:srgbClr val="E5EEF5"/>
          </a:solidFill>
          <a:ln w="15875">
            <a:solidFill>
              <a:srgbClr val="2C5F8A"/>
            </a:solidFill>
            <a:prstDash val="solid"/>
          </a:ln>
        </p:spPr>
      </p:sp>
      <p:sp>
        <p:nvSpPr>
          <p:cNvPr id="14" name="Text 11"/>
          <p:cNvSpPr txBox="1"/>
          <p:nvPr/>
        </p:nvSpPr>
        <p:spPr>
          <a:xfrm>
            <a:off x="5303520" y="2039112"/>
            <a:ext cx="2103120" cy="365760"/>
          </a:xfrm>
          <a:prstGeom prst="rect">
            <a:avLst/>
          </a:prstGeom>
          <a:noFill/>
          <a:ln/>
        </p:spPr>
        <p:txBody>
          <a:bodyPr wrap="square" lIns="0" tIns="0" rIns="0" bIns="0" rtlCol="0" anchor="ctr"/>
          <a:lstStyle/>
          <a:p>
            <a:pPr algn="ctr" indent="0" marL="0">
              <a:buNone/>
            </a:pPr>
            <a:r>
              <a:rPr lang="en-US" sz="1700" b="1" dirty="0">
                <a:solidFill>
                  <a:srgbClr val="2C5F8A"/>
                </a:solidFill>
                <a:latin typeface="Calibri" pitchFamily="34" charset="0"/>
                <a:ea typeface="Calibri" pitchFamily="34" charset="-122"/>
                <a:cs typeface="Calibri" pitchFamily="34" charset="-120"/>
              </a:rPr>
              <a:t>Từ khóa: BM25</a:t>
            </a:r>
            <a:endParaRPr lang="en-US" sz="1700" dirty="0"/>
          </a:p>
        </p:txBody>
      </p:sp>
      <p:sp>
        <p:nvSpPr>
          <p:cNvPr id="15" name="Text 12"/>
          <p:cNvSpPr txBox="1"/>
          <p:nvPr/>
        </p:nvSpPr>
        <p:spPr>
          <a:xfrm>
            <a:off x="5303520" y="2423160"/>
            <a:ext cx="2103120" cy="502920"/>
          </a:xfrm>
          <a:prstGeom prst="rect">
            <a:avLst/>
          </a:prstGeom>
          <a:noFill/>
          <a:ln/>
        </p:spPr>
        <p:txBody>
          <a:bodyPr wrap="square" lIns="0" tIns="0" rIns="0" bIns="0" rtlCol="0" anchor="t"/>
          <a:lstStyle/>
          <a:p>
            <a:pPr algn="ctr" indent="0" marL="0">
              <a:buNone/>
            </a:pPr>
            <a:r>
              <a:rPr lang="en-US" sz="1250" dirty="0">
                <a:solidFill>
                  <a:srgbClr val="46545F"/>
                </a:solidFill>
                <a:latin typeface="Calibri" pitchFamily="34" charset="0"/>
                <a:ea typeface="Calibri" pitchFamily="34" charset="-122"/>
                <a:cs typeface="Calibri" pitchFamily="34" charset="-120"/>
              </a:rPr>
              <a:t>tách từ pyvi</a:t>
            </a:r>
            <a:endParaRPr lang="en-US" sz="1250" dirty="0"/>
          </a:p>
          <a:p>
            <a:pPr algn="ctr" indent="0" marL="0">
              <a:buNone/>
            </a:pPr>
            <a:r>
              <a:rPr lang="en-US" sz="1250" dirty="0">
                <a:solidFill>
                  <a:srgbClr val="46545F"/>
                </a:solidFill>
                <a:latin typeface="Calibri" pitchFamily="34" charset="0"/>
                <a:ea typeface="Calibri" pitchFamily="34" charset="-122"/>
                <a:cs typeface="Calibri" pitchFamily="34" charset="-120"/>
              </a:rPr>
              <a:t>61.425 điều</a:t>
            </a:r>
            <a:endParaRPr lang="en-US" sz="1250" dirty="0"/>
          </a:p>
        </p:txBody>
      </p:sp>
      <p:sp>
        <p:nvSpPr>
          <p:cNvPr id="16" name="Shape 13"/>
          <p:cNvSpPr/>
          <p:nvPr/>
        </p:nvSpPr>
        <p:spPr>
          <a:xfrm>
            <a:off x="5166360" y="4617720"/>
            <a:ext cx="2377440" cy="1143000"/>
          </a:xfrm>
          <a:prstGeom prst="rect">
            <a:avLst/>
          </a:prstGeom>
          <a:solidFill>
            <a:srgbClr val="FBF1E1"/>
          </a:solidFill>
          <a:ln w="15875">
            <a:solidFill>
              <a:srgbClr val="B7791F"/>
            </a:solidFill>
            <a:prstDash val="solid"/>
          </a:ln>
        </p:spPr>
      </p:sp>
      <p:sp>
        <p:nvSpPr>
          <p:cNvPr id="17" name="Text 14"/>
          <p:cNvSpPr txBox="1"/>
          <p:nvPr/>
        </p:nvSpPr>
        <p:spPr>
          <a:xfrm>
            <a:off x="5303520" y="4782312"/>
            <a:ext cx="2103120" cy="365760"/>
          </a:xfrm>
          <a:prstGeom prst="rect">
            <a:avLst/>
          </a:prstGeom>
          <a:noFill/>
          <a:ln/>
        </p:spPr>
        <p:txBody>
          <a:bodyPr wrap="square" lIns="0" tIns="0" rIns="0" bIns="0" rtlCol="0" anchor="ctr"/>
          <a:lstStyle/>
          <a:p>
            <a:pPr algn="ctr" indent="0" marL="0">
              <a:buNone/>
            </a:pPr>
            <a:r>
              <a:rPr lang="en-US" sz="1700" b="1" dirty="0">
                <a:solidFill>
                  <a:srgbClr val="B7791F"/>
                </a:solidFill>
                <a:latin typeface="Calibri" pitchFamily="34" charset="0"/>
                <a:ea typeface="Calibri" pitchFamily="34" charset="-122"/>
                <a:cs typeface="Calibri" pitchFamily="34" charset="-120"/>
              </a:rPr>
              <a:t>Ngữ nghĩa</a:t>
            </a:r>
            <a:endParaRPr lang="en-US" sz="1700" dirty="0"/>
          </a:p>
        </p:txBody>
      </p:sp>
      <p:sp>
        <p:nvSpPr>
          <p:cNvPr id="18" name="Text 15"/>
          <p:cNvSpPr txBox="1"/>
          <p:nvPr/>
        </p:nvSpPr>
        <p:spPr>
          <a:xfrm>
            <a:off x="5303520" y="5166360"/>
            <a:ext cx="2103120" cy="502920"/>
          </a:xfrm>
          <a:prstGeom prst="rect">
            <a:avLst/>
          </a:prstGeom>
          <a:noFill/>
          <a:ln/>
        </p:spPr>
        <p:txBody>
          <a:bodyPr wrap="square" lIns="0" tIns="0" rIns="0" bIns="0" rtlCol="0" anchor="t"/>
          <a:lstStyle/>
          <a:p>
            <a:pPr algn="ctr" indent="0" marL="0">
              <a:buNone/>
            </a:pPr>
            <a:r>
              <a:rPr lang="en-US" sz="1250" dirty="0">
                <a:solidFill>
                  <a:srgbClr val="46545F"/>
                </a:solidFill>
                <a:latin typeface="Calibri" pitchFamily="34" charset="0"/>
                <a:ea typeface="Calibri" pitchFamily="34" charset="-122"/>
                <a:cs typeface="Calibri" pitchFamily="34" charset="-120"/>
              </a:rPr>
              <a:t>AITeamVN, 154.176 đoạn</a:t>
            </a:r>
            <a:endParaRPr lang="en-US" sz="1250" dirty="0"/>
          </a:p>
          <a:p>
            <a:pPr algn="ctr" indent="0" marL="0">
              <a:buNone/>
            </a:pPr>
            <a:r>
              <a:rPr lang="en-US" sz="1250" dirty="0">
                <a:solidFill>
                  <a:srgbClr val="46545F"/>
                </a:solidFill>
                <a:latin typeface="Calibri" pitchFamily="34" charset="0"/>
                <a:ea typeface="Calibri" pitchFamily="34" charset="-122"/>
                <a:cs typeface="Calibri" pitchFamily="34" charset="-120"/>
              </a:rPr>
              <a:t>gộp về điều bằng max</a:t>
            </a:r>
            <a:endParaRPr lang="en-US" sz="1250" dirty="0"/>
          </a:p>
        </p:txBody>
      </p:sp>
      <p:sp>
        <p:nvSpPr>
          <p:cNvPr id="19" name="Shape 16"/>
          <p:cNvSpPr/>
          <p:nvPr/>
        </p:nvSpPr>
        <p:spPr>
          <a:xfrm>
            <a:off x="8092440" y="3246120"/>
            <a:ext cx="1737360" cy="1143000"/>
          </a:xfrm>
          <a:prstGeom prst="rect">
            <a:avLst/>
          </a:prstGeom>
          <a:solidFill>
            <a:srgbClr val="E4F0EB"/>
          </a:solidFill>
          <a:ln w="15875">
            <a:solidFill>
              <a:srgbClr val="1B6E5A"/>
            </a:solidFill>
            <a:prstDash val="solid"/>
          </a:ln>
        </p:spPr>
      </p:sp>
      <p:sp>
        <p:nvSpPr>
          <p:cNvPr id="20" name="Text 17"/>
          <p:cNvSpPr txBox="1"/>
          <p:nvPr/>
        </p:nvSpPr>
        <p:spPr>
          <a:xfrm>
            <a:off x="8229600" y="3410712"/>
            <a:ext cx="1463040" cy="365760"/>
          </a:xfrm>
          <a:prstGeom prst="rect">
            <a:avLst/>
          </a:prstGeom>
          <a:noFill/>
          <a:ln/>
        </p:spPr>
        <p:txBody>
          <a:bodyPr wrap="square" lIns="0" tIns="0" rIns="0" bIns="0" rtlCol="0" anchor="ctr"/>
          <a:lstStyle/>
          <a:p>
            <a:pPr algn="ctr" indent="0" marL="0">
              <a:buNone/>
            </a:pPr>
            <a:r>
              <a:rPr lang="en-US" sz="1700" b="1" dirty="0">
                <a:solidFill>
                  <a:srgbClr val="1B6E5A"/>
                </a:solidFill>
                <a:latin typeface="Calibri" pitchFamily="34" charset="0"/>
                <a:ea typeface="Calibri" pitchFamily="34" charset="-122"/>
                <a:cs typeface="Calibri" pitchFamily="34" charset="-120"/>
              </a:rPr>
              <a:t>Hợp nhất</a:t>
            </a:r>
            <a:endParaRPr lang="en-US" sz="1700" dirty="0"/>
          </a:p>
        </p:txBody>
      </p:sp>
      <p:sp>
        <p:nvSpPr>
          <p:cNvPr id="21" name="Text 18"/>
          <p:cNvSpPr txBox="1"/>
          <p:nvPr/>
        </p:nvSpPr>
        <p:spPr>
          <a:xfrm>
            <a:off x="8229600" y="3794760"/>
            <a:ext cx="1463040" cy="502920"/>
          </a:xfrm>
          <a:prstGeom prst="rect">
            <a:avLst/>
          </a:prstGeom>
          <a:noFill/>
          <a:ln/>
        </p:spPr>
        <p:txBody>
          <a:bodyPr wrap="square" lIns="0" tIns="0" rIns="0" bIns="0" rtlCol="0" anchor="t"/>
          <a:lstStyle/>
          <a:p>
            <a:pPr algn="ctr" indent="0" marL="0">
              <a:buNone/>
            </a:pPr>
            <a:r>
              <a:rPr lang="en-US" sz="1250" dirty="0">
                <a:solidFill>
                  <a:srgbClr val="46545F"/>
                </a:solidFill>
                <a:latin typeface="Calibri" pitchFamily="34" charset="0"/>
                <a:ea typeface="Calibri" pitchFamily="34" charset="-122"/>
                <a:cs typeface="Calibri" pitchFamily="34" charset="-120"/>
              </a:rPr>
              <a:t>trọng số</a:t>
            </a:r>
            <a:endParaRPr lang="en-US" sz="1250" dirty="0"/>
          </a:p>
          <a:p>
            <a:pPr algn="ctr" indent="0" marL="0">
              <a:buNone/>
            </a:pPr>
            <a:r>
              <a:rPr lang="en-US" sz="1250" dirty="0">
                <a:solidFill>
                  <a:srgbClr val="46545F"/>
                </a:solidFill>
                <a:latin typeface="Calibri" pitchFamily="34" charset="0"/>
                <a:ea typeface="Calibri" pitchFamily="34" charset="-122"/>
                <a:cs typeface="Calibri" pitchFamily="34" charset="-120"/>
              </a:rPr>
              <a:t>alpha = 0,75</a:t>
            </a:r>
            <a:endParaRPr lang="en-US" sz="1250" dirty="0"/>
          </a:p>
        </p:txBody>
      </p:sp>
      <p:sp>
        <p:nvSpPr>
          <p:cNvPr id="22" name="Shape 19"/>
          <p:cNvSpPr/>
          <p:nvPr/>
        </p:nvSpPr>
        <p:spPr>
          <a:xfrm>
            <a:off x="10149840" y="3246120"/>
            <a:ext cx="1447495" cy="1143000"/>
          </a:xfrm>
          <a:prstGeom prst="rect">
            <a:avLst/>
          </a:prstGeom>
          <a:solidFill>
            <a:srgbClr val="FFFFFF"/>
          </a:solidFill>
          <a:ln w="15875">
            <a:solidFill>
              <a:srgbClr val="77858E"/>
            </a:solidFill>
            <a:prstDash val="solid"/>
          </a:ln>
        </p:spPr>
      </p:sp>
      <p:sp>
        <p:nvSpPr>
          <p:cNvPr id="23" name="Text 20"/>
          <p:cNvSpPr txBox="1"/>
          <p:nvPr/>
        </p:nvSpPr>
        <p:spPr>
          <a:xfrm>
            <a:off x="10287000" y="3410712"/>
            <a:ext cx="1173175" cy="365760"/>
          </a:xfrm>
          <a:prstGeom prst="rect">
            <a:avLst/>
          </a:prstGeom>
          <a:noFill/>
          <a:ln/>
        </p:spPr>
        <p:txBody>
          <a:bodyPr wrap="square" lIns="0" tIns="0" rIns="0" bIns="0" rtlCol="0" anchor="ctr"/>
          <a:lstStyle/>
          <a:p>
            <a:pPr algn="ctr" indent="0" marL="0">
              <a:buNone/>
            </a:pPr>
            <a:r>
              <a:rPr lang="en-US" sz="1700" b="1" dirty="0">
                <a:solidFill>
                  <a:srgbClr val="16222C"/>
                </a:solidFill>
                <a:latin typeface="Calibri" pitchFamily="34" charset="0"/>
                <a:ea typeface="Calibri" pitchFamily="34" charset="-122"/>
                <a:cs typeface="Calibri" pitchFamily="34" charset="-120"/>
              </a:rPr>
              <a:t>Điều luật</a:t>
            </a:r>
            <a:endParaRPr lang="en-US" sz="1700" dirty="0"/>
          </a:p>
        </p:txBody>
      </p:sp>
      <p:sp>
        <p:nvSpPr>
          <p:cNvPr id="24" name="Text 21"/>
          <p:cNvSpPr txBox="1"/>
          <p:nvPr/>
        </p:nvSpPr>
        <p:spPr>
          <a:xfrm>
            <a:off x="10287000" y="3794760"/>
            <a:ext cx="1173175" cy="502920"/>
          </a:xfrm>
          <a:prstGeom prst="rect">
            <a:avLst/>
          </a:prstGeom>
          <a:noFill/>
          <a:ln/>
        </p:spPr>
        <p:txBody>
          <a:bodyPr wrap="square" lIns="0" tIns="0" rIns="0" bIns="0" rtlCol="0" anchor="t"/>
          <a:lstStyle/>
          <a:p>
            <a:pPr algn="ctr" indent="0" marL="0">
              <a:buNone/>
            </a:pPr>
            <a:r>
              <a:rPr lang="en-US" sz="1250" dirty="0">
                <a:solidFill>
                  <a:srgbClr val="46545F"/>
                </a:solidFill>
                <a:latin typeface="Calibri" pitchFamily="34" charset="0"/>
                <a:ea typeface="Calibri" pitchFamily="34" charset="-122"/>
                <a:cs typeface="Calibri" pitchFamily="34" charset="-120"/>
              </a:rPr>
              <a:t>trích nguyên văn</a:t>
            </a:r>
            <a:endParaRPr lang="en-US" sz="1250" dirty="0"/>
          </a:p>
          <a:p>
            <a:pPr algn="ctr" indent="0" marL="0">
              <a:buNone/>
            </a:pPr>
            <a:r>
              <a:rPr lang="en-US" sz="1250" dirty="0">
                <a:solidFill>
                  <a:srgbClr val="46545F"/>
                </a:solidFill>
                <a:latin typeface="Calibri" pitchFamily="34" charset="0"/>
                <a:ea typeface="Calibri" pitchFamily="34" charset="-122"/>
                <a:cs typeface="Calibri" pitchFamily="34" charset="-120"/>
              </a:rPr>
              <a:t>khoản luật</a:t>
            </a:r>
            <a:endParaRPr lang="en-US" sz="1250" dirty="0"/>
          </a:p>
        </p:txBody>
      </p:sp>
      <p:sp>
        <p:nvSpPr>
          <p:cNvPr id="25" name="Shape 22"/>
          <p:cNvSpPr/>
          <p:nvPr/>
        </p:nvSpPr>
        <p:spPr>
          <a:xfrm>
            <a:off x="2194560" y="3817620"/>
            <a:ext cx="411480" cy="914"/>
          </a:xfrm>
          <a:prstGeom prst="line">
            <a:avLst/>
          </a:prstGeom>
          <a:noFill/>
          <a:ln w="22225">
            <a:solidFill>
              <a:srgbClr val="77858E"/>
            </a:solidFill>
            <a:prstDash val="solid"/>
            <a:tailEnd type="triangle"/>
          </a:ln>
        </p:spPr>
      </p:sp>
      <p:sp>
        <p:nvSpPr>
          <p:cNvPr id="26" name="Shape 23"/>
          <p:cNvSpPr/>
          <p:nvPr/>
        </p:nvSpPr>
        <p:spPr>
          <a:xfrm flipV="1">
            <a:off x="4617720" y="2446020"/>
            <a:ext cx="548640" cy="1188720"/>
          </a:xfrm>
          <a:prstGeom prst="line">
            <a:avLst/>
          </a:prstGeom>
          <a:noFill/>
          <a:ln w="22225">
            <a:solidFill>
              <a:srgbClr val="77858E"/>
            </a:solidFill>
            <a:prstDash val="solid"/>
            <a:tailEnd type="triangle"/>
          </a:ln>
        </p:spPr>
      </p:sp>
      <p:sp>
        <p:nvSpPr>
          <p:cNvPr id="27" name="Shape 24"/>
          <p:cNvSpPr/>
          <p:nvPr/>
        </p:nvSpPr>
        <p:spPr>
          <a:xfrm>
            <a:off x="4617720" y="4000500"/>
            <a:ext cx="548640" cy="1188720"/>
          </a:xfrm>
          <a:prstGeom prst="line">
            <a:avLst/>
          </a:prstGeom>
          <a:noFill/>
          <a:ln w="22225">
            <a:solidFill>
              <a:srgbClr val="77858E"/>
            </a:solidFill>
            <a:prstDash val="solid"/>
            <a:tailEnd type="triangle"/>
          </a:ln>
        </p:spPr>
      </p:sp>
      <p:sp>
        <p:nvSpPr>
          <p:cNvPr id="28" name="Shape 25"/>
          <p:cNvSpPr/>
          <p:nvPr/>
        </p:nvSpPr>
        <p:spPr>
          <a:xfrm>
            <a:off x="7543800" y="2446020"/>
            <a:ext cx="548640" cy="1188720"/>
          </a:xfrm>
          <a:prstGeom prst="line">
            <a:avLst/>
          </a:prstGeom>
          <a:noFill/>
          <a:ln w="22225">
            <a:solidFill>
              <a:srgbClr val="77858E"/>
            </a:solidFill>
            <a:prstDash val="solid"/>
            <a:tailEnd type="triangle"/>
          </a:ln>
        </p:spPr>
      </p:sp>
      <p:sp>
        <p:nvSpPr>
          <p:cNvPr id="29" name="Shape 26"/>
          <p:cNvSpPr/>
          <p:nvPr/>
        </p:nvSpPr>
        <p:spPr>
          <a:xfrm flipV="1">
            <a:off x="7543800" y="4000500"/>
            <a:ext cx="548640" cy="1188720"/>
          </a:xfrm>
          <a:prstGeom prst="line">
            <a:avLst/>
          </a:prstGeom>
          <a:noFill/>
          <a:ln w="22225">
            <a:solidFill>
              <a:srgbClr val="77858E"/>
            </a:solidFill>
            <a:prstDash val="solid"/>
            <a:tailEnd type="triangle"/>
          </a:ln>
        </p:spPr>
      </p:sp>
      <p:sp>
        <p:nvSpPr>
          <p:cNvPr id="30" name="Shape 27"/>
          <p:cNvSpPr/>
          <p:nvPr/>
        </p:nvSpPr>
        <p:spPr>
          <a:xfrm>
            <a:off x="9829800" y="3817620"/>
            <a:ext cx="320040" cy="914"/>
          </a:xfrm>
          <a:prstGeom prst="line">
            <a:avLst/>
          </a:prstGeom>
          <a:noFill/>
          <a:ln w="22225">
            <a:solidFill>
              <a:srgbClr val="77858E"/>
            </a:solidFill>
            <a:prstDash val="solid"/>
            <a:tailEnd type="triangle"/>
          </a:ln>
        </p:spPr>
      </p:sp>
      <p:sp>
        <p:nvSpPr>
          <p:cNvPr id="31" name="Text 28"/>
          <p:cNvSpPr txBox="1"/>
          <p:nvPr/>
        </p:nvSpPr>
        <p:spPr>
          <a:xfrm>
            <a:off x="4937760" y="1554480"/>
            <a:ext cx="2834640" cy="274320"/>
          </a:xfrm>
          <a:prstGeom prst="rect">
            <a:avLst/>
          </a:prstGeom>
          <a:noFill/>
          <a:ln/>
        </p:spPr>
        <p:txBody>
          <a:bodyPr wrap="square" lIns="0" tIns="0" rIns="0" bIns="0" rtlCol="0" anchor="ctr"/>
          <a:lstStyle/>
          <a:p>
            <a:pPr algn="ctr" indent="0" marL="0">
              <a:buNone/>
            </a:pPr>
            <a:r>
              <a:rPr lang="en-US" sz="1250" i="1" dirty="0">
                <a:solidFill>
                  <a:srgbClr val="2C5F8A"/>
                </a:solidFill>
                <a:latin typeface="Calibri" pitchFamily="34" charset="0"/>
                <a:ea typeface="Calibri" pitchFamily="34" charset="-122"/>
                <a:cs typeface="Calibri" pitchFamily="34" charset="-120"/>
              </a:rPr>
              <a:t>bắt đúng số hiệu, thuật ngữ, con số</a:t>
            </a:r>
            <a:endParaRPr lang="en-US" sz="1250" dirty="0"/>
          </a:p>
        </p:txBody>
      </p:sp>
      <p:sp>
        <p:nvSpPr>
          <p:cNvPr id="32" name="Text 29"/>
          <p:cNvSpPr txBox="1"/>
          <p:nvPr/>
        </p:nvSpPr>
        <p:spPr>
          <a:xfrm>
            <a:off x="4937760" y="5806440"/>
            <a:ext cx="2834640" cy="274320"/>
          </a:xfrm>
          <a:prstGeom prst="rect">
            <a:avLst/>
          </a:prstGeom>
          <a:noFill/>
          <a:ln/>
        </p:spPr>
        <p:txBody>
          <a:bodyPr wrap="square" lIns="0" tIns="0" rIns="0" bIns="0" rtlCol="0" anchor="ctr"/>
          <a:lstStyle/>
          <a:p>
            <a:pPr algn="ctr" indent="0" marL="0">
              <a:buNone/>
            </a:pPr>
            <a:r>
              <a:rPr lang="en-US" sz="1250" i="1" dirty="0">
                <a:solidFill>
                  <a:srgbClr val="B7791F"/>
                </a:solidFill>
                <a:latin typeface="Calibri" pitchFamily="34" charset="0"/>
                <a:ea typeface="Calibri" pitchFamily="34" charset="-122"/>
                <a:cs typeface="Calibri" pitchFamily="34" charset="-120"/>
              </a:rPr>
              <a:t>bắt được cách diễn đạt khác</a:t>
            </a:r>
            <a:endParaRPr lang="en-US" sz="1250" dirty="0"/>
          </a:p>
        </p:txBody>
      </p:sp>
      <p:sp>
        <p:nvSpPr>
          <p:cNvPr id="33" name="Text 30"/>
          <p:cNvSpPr txBox="1"/>
          <p:nvPr/>
        </p:nvSpPr>
        <p:spPr>
          <a:xfrm>
            <a:off x="8092440" y="4937760"/>
            <a:ext cx="3504895" cy="731520"/>
          </a:xfrm>
          <a:prstGeom prst="rect">
            <a:avLst/>
          </a:prstGeom>
          <a:noFill/>
          <a:ln/>
        </p:spPr>
        <p:txBody>
          <a:bodyPr wrap="square" lIns="0" tIns="0" rIns="0" bIns="0" rtlCol="0" anchor="t"/>
          <a:lstStyle/>
          <a:p>
            <a:pPr indent="0" marL="0">
              <a:buNone/>
            </a:pPr>
            <a:r>
              <a:rPr lang="en-US" sz="1300" dirty="0">
                <a:solidFill>
                  <a:srgbClr val="77858E"/>
                </a:solidFill>
                <a:latin typeface="Calibri" pitchFamily="34" charset="0"/>
                <a:ea typeface="Calibri" pitchFamily="34" charset="-122"/>
                <a:cs typeface="Calibri" pitchFamily="34" charset="-120"/>
              </a:rPr>
              <a:t>Chốt trên val: k1 = 0,6, b = 0,9, lambda = 0,9.</a:t>
            </a:r>
            <a:endParaRPr lang="en-US" sz="1300" dirty="0"/>
          </a:p>
          <a:p>
            <a:pPr indent="0" marL="0">
              <a:buNone/>
            </a:pPr>
            <a:r>
              <a:rPr lang="en-US" sz="1300" dirty="0">
                <a:solidFill>
                  <a:srgbClr val="77858E"/>
                </a:solidFill>
                <a:latin typeface="Calibri" pitchFamily="34" charset="0"/>
                <a:ea typeface="Calibri" pitchFamily="34" charset="-122"/>
                <a:cs typeface="Calibri" pitchFamily="34" charset="-120"/>
              </a:rPr>
              <a:t>Tập test chỉ chạy một lần.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PHƯƠNG PHÁP  ·  09</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61% điều luật dài hơn giới hạn của mô hình, nên phải chia đoạn</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08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09 / 16</a:t>
            </a:r>
            <a:endParaRPr lang="en-US" sz="1000" dirty="0"/>
          </a:p>
        </p:txBody>
      </p:sp>
      <p:graphicFrame>
        <p:nvGraphicFramePr>
          <p:cNvPr id="7" name="Chart 0" descr=""/>
          <p:cNvGraphicFramePr/>
          <p:nvPr/>
        </p:nvGraphicFramePr>
        <p:xfrm>
          <a:off x="594360" y="1645920"/>
          <a:ext cx="7498080" cy="434340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8503920" y="1828800"/>
            <a:ext cx="3093415" cy="731520"/>
          </a:xfrm>
          <a:prstGeom prst="rect">
            <a:avLst/>
          </a:prstGeom>
          <a:noFill/>
          <a:ln/>
        </p:spPr>
        <p:txBody>
          <a:bodyPr wrap="square" lIns="0" tIns="0" rIns="0" bIns="0" rtlCol="0" anchor="ctr"/>
          <a:lstStyle/>
          <a:p>
            <a:pPr indent="0" marL="0">
              <a:buNone/>
            </a:pPr>
            <a:r>
              <a:rPr lang="en-US" sz="4800" b="1" dirty="0">
                <a:solidFill>
                  <a:srgbClr val="A8202B"/>
                </a:solidFill>
                <a:latin typeface="Cambria" pitchFamily="34" charset="0"/>
                <a:ea typeface="Cambria" pitchFamily="34" charset="-122"/>
                <a:cs typeface="Cambria" pitchFamily="34" charset="-120"/>
              </a:rPr>
              <a:t>61,1%</a:t>
            </a:r>
            <a:endParaRPr lang="en-US" sz="4800" dirty="0"/>
          </a:p>
        </p:txBody>
      </p:sp>
      <p:sp>
        <p:nvSpPr>
          <p:cNvPr id="9" name="Text 5"/>
          <p:cNvSpPr txBox="1"/>
          <p:nvPr/>
        </p:nvSpPr>
        <p:spPr>
          <a:xfrm>
            <a:off x="8503920" y="2615184"/>
            <a:ext cx="3093415" cy="566928"/>
          </a:xfrm>
          <a:prstGeom prst="rect">
            <a:avLst/>
          </a:prstGeom>
          <a:noFill/>
          <a:ln/>
        </p:spPr>
        <p:txBody>
          <a:bodyPr wrap="square" lIns="0" tIns="0" rIns="0" bIns="0" rtlCol="0" anchor="t"/>
          <a:lstStyle/>
          <a:p>
            <a:pPr indent="0" marL="0">
              <a:buNone/>
            </a:pPr>
            <a:r>
              <a:rPr lang="en-US" sz="1300" dirty="0">
                <a:solidFill>
                  <a:srgbClr val="46545F"/>
                </a:solidFill>
                <a:latin typeface="Calibri" pitchFamily="34" charset="0"/>
                <a:ea typeface="Calibri" pitchFamily="34" charset="-122"/>
                <a:cs typeface="Calibri" pitchFamily="34" charset="-120"/>
              </a:rPr>
              <a:t>điều luật dài hơn 256 token (khoảng 140 từ)</a:t>
            </a:r>
            <a:endParaRPr lang="en-US" sz="1300" dirty="0"/>
          </a:p>
        </p:txBody>
      </p:sp>
      <p:sp>
        <p:nvSpPr>
          <p:cNvPr id="10" name="Text 6"/>
          <p:cNvSpPr txBox="1"/>
          <p:nvPr/>
        </p:nvSpPr>
        <p:spPr>
          <a:xfrm>
            <a:off x="8503920" y="3429000"/>
            <a:ext cx="3093415" cy="1234440"/>
          </a:xfrm>
          <a:prstGeom prst="rect">
            <a:avLst/>
          </a:prstGeom>
          <a:noFill/>
          <a:ln/>
        </p:spPr>
        <p:txBody>
          <a:bodyPr wrap="square" lIns="0" tIns="0" rIns="0" bIns="0" rtlCol="0" anchor="t"/>
          <a:lstStyle/>
          <a:p>
            <a:pPr indent="0" marL="0">
              <a:buNone/>
            </a:pPr>
            <a:r>
              <a:rPr lang="en-US" sz="2400" b="1" dirty="0">
                <a:solidFill>
                  <a:srgbClr val="16222C"/>
                </a:solidFill>
                <a:latin typeface="Cambria" pitchFamily="34" charset="0"/>
                <a:ea typeface="Cambria" pitchFamily="34" charset="-122"/>
                <a:cs typeface="Cambria" pitchFamily="34" charset="-120"/>
              </a:rPr>
              <a:t>61.425</a:t>
            </a:r>
            <a:pPr indent="0" marL="0">
              <a:buNone/>
            </a:pPr>
            <a:r>
              <a:rPr lang="en-US" sz="2400" dirty="0">
                <a:solidFill>
                  <a:srgbClr val="16222C"/>
                </a:solidFill>
                <a:latin typeface="Cambria" pitchFamily="34" charset="0"/>
                <a:ea typeface="Cambria" pitchFamily="34" charset="-122"/>
                <a:cs typeface="Cambria" pitchFamily="34" charset="-120"/>
              </a:rPr>
              <a:t> điều</a:t>
            </a:r>
            <a:endParaRPr lang="en-US" sz="2400" dirty="0"/>
          </a:p>
          <a:p>
            <a:pPr indent="0" marL="0">
              <a:buNone/>
            </a:pPr>
            <a:r>
              <a:rPr lang="en-US" sz="2400" dirty="0">
                <a:solidFill>
                  <a:srgbClr val="77858E"/>
                </a:solidFill>
                <a:latin typeface="Cambria" pitchFamily="34" charset="0"/>
                <a:ea typeface="Cambria" pitchFamily="34" charset="-122"/>
                <a:cs typeface="Cambria" pitchFamily="34" charset="-120"/>
              </a:rPr>
              <a:t>↓</a:t>
            </a:r>
            <a:endParaRPr lang="en-US" sz="2400" dirty="0"/>
          </a:p>
          <a:p>
            <a:pPr indent="0" marL="0">
              <a:buNone/>
            </a:pPr>
            <a:r>
              <a:rPr lang="en-US" sz="2400" b="1" dirty="0">
                <a:solidFill>
                  <a:srgbClr val="16222C"/>
                </a:solidFill>
                <a:latin typeface="Cambria" pitchFamily="34" charset="0"/>
                <a:ea typeface="Cambria" pitchFamily="34" charset="-122"/>
                <a:cs typeface="Cambria" pitchFamily="34" charset="-120"/>
              </a:rPr>
              <a:t>154.176</a:t>
            </a:r>
            <a:pPr indent="0" marL="0">
              <a:buNone/>
            </a:pPr>
            <a:r>
              <a:rPr lang="en-US" sz="2400" dirty="0">
                <a:solidFill>
                  <a:srgbClr val="16222C"/>
                </a:solidFill>
                <a:latin typeface="Cambria" pitchFamily="34" charset="0"/>
                <a:ea typeface="Cambria" pitchFamily="34" charset="-122"/>
                <a:cs typeface="Cambria" pitchFamily="34" charset="-120"/>
              </a:rPr>
              <a:t> đoạn</a:t>
            </a:r>
            <a:endParaRPr lang="en-US" sz="2400" dirty="0"/>
          </a:p>
        </p:txBody>
      </p:sp>
      <p:sp>
        <p:nvSpPr>
          <p:cNvPr id="11" name="Text 7"/>
          <p:cNvSpPr txBox="1"/>
          <p:nvPr/>
        </p:nvSpPr>
        <p:spPr>
          <a:xfrm>
            <a:off x="8503920" y="4754880"/>
            <a:ext cx="3093415" cy="822960"/>
          </a:xfrm>
          <a:prstGeom prst="rect">
            <a:avLst/>
          </a:prstGeom>
          <a:noFill/>
          <a:ln/>
        </p:spPr>
        <p:txBody>
          <a:bodyPr wrap="square" lIns="0" tIns="0" rIns="0" bIns="0" rtlCol="0" anchor="t"/>
          <a:lstStyle/>
          <a:p>
            <a:pPr indent="0" marL="0">
              <a:buNone/>
            </a:pPr>
            <a:r>
              <a:rPr lang="en-US" sz="1300" dirty="0">
                <a:solidFill>
                  <a:srgbClr val="46545F"/>
                </a:solidFill>
                <a:latin typeface="Calibri" pitchFamily="34" charset="0"/>
                <a:ea typeface="Calibri" pitchFamily="34" charset="-122"/>
                <a:cs typeface="Calibri" pitchFamily="34" charset="-120"/>
              </a:rPr>
              <a:t>Cắt theo ranh giới khoản, khoản quá dài mới trượt cửa sổ. Mỗi đoạn mang tiêu đề điều.</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CH1  ·  CÂU CÓ DẤU  ·  10</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Trên câu có dấu, hợp nhất chỉ hơn ngữ nghĩa 0,51 điểm Recall@10</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08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10 / 16</a:t>
            </a:r>
            <a:endParaRPr lang="en-US" sz="1000" dirty="0"/>
          </a:p>
        </p:txBody>
      </p:sp>
      <p:graphicFrame>
        <p:nvGraphicFramePr>
          <p:cNvPr id="7" name="Chart 0" descr=""/>
          <p:cNvGraphicFramePr/>
          <p:nvPr/>
        </p:nvGraphicFramePr>
        <p:xfrm>
          <a:off x="594360" y="1645920"/>
          <a:ext cx="7406640" cy="434340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8458200" y="1828800"/>
            <a:ext cx="3139135" cy="822960"/>
          </a:xfrm>
          <a:prstGeom prst="rect">
            <a:avLst/>
          </a:prstGeom>
          <a:noFill/>
          <a:ln/>
        </p:spPr>
        <p:txBody>
          <a:bodyPr wrap="square" lIns="0" tIns="0" rIns="0" bIns="0" rtlCol="0" anchor="ctr"/>
          <a:lstStyle/>
          <a:p>
            <a:pPr indent="0" marL="0">
              <a:buNone/>
            </a:pPr>
            <a:r>
              <a:rPr lang="en-US" sz="5400" b="1" dirty="0">
                <a:solidFill>
                  <a:srgbClr val="2C5F8A"/>
                </a:solidFill>
                <a:latin typeface="Cambria" pitchFamily="34" charset="0"/>
                <a:ea typeface="Cambria" pitchFamily="34" charset="-122"/>
                <a:cs typeface="Cambria" pitchFamily="34" charset="-120"/>
              </a:rPr>
              <a:t>+0,51</a:t>
            </a:r>
            <a:endParaRPr lang="en-US" sz="5400" dirty="0"/>
          </a:p>
        </p:txBody>
      </p:sp>
      <p:sp>
        <p:nvSpPr>
          <p:cNvPr id="9" name="Text 5"/>
          <p:cNvSpPr txBox="1"/>
          <p:nvPr/>
        </p:nvSpPr>
        <p:spPr>
          <a:xfrm>
            <a:off x="8458200" y="2706624"/>
            <a:ext cx="3139135" cy="566928"/>
          </a:xfrm>
          <a:prstGeom prst="rect">
            <a:avLst/>
          </a:prstGeom>
          <a:noFill/>
          <a:ln/>
        </p:spPr>
        <p:txBody>
          <a:bodyPr wrap="square" lIns="0" tIns="0" rIns="0" bIns="0" rtlCol="0" anchor="t"/>
          <a:lstStyle/>
          <a:p>
            <a:pPr indent="0" marL="0">
              <a:buNone/>
            </a:pPr>
            <a:r>
              <a:rPr lang="en-US" sz="1300" dirty="0">
                <a:solidFill>
                  <a:srgbClr val="46545F"/>
                </a:solidFill>
                <a:latin typeface="Calibri" pitchFamily="34" charset="0"/>
                <a:ea typeface="Calibri" pitchFamily="34" charset="-122"/>
                <a:cs typeface="Calibri" pitchFamily="34" charset="-120"/>
              </a:rPr>
              <a:t>điểm Recall@10 của hợp nhất so với ngữ nghĩa thuần</a:t>
            </a:r>
            <a:endParaRPr lang="en-US" sz="1300" dirty="0"/>
          </a:p>
        </p:txBody>
      </p:sp>
      <p:sp>
        <p:nvSpPr>
          <p:cNvPr id="10" name="Text 6"/>
          <p:cNvSpPr txBox="1"/>
          <p:nvPr/>
        </p:nvSpPr>
        <p:spPr>
          <a:xfrm>
            <a:off x="8458200" y="3429000"/>
            <a:ext cx="3139135" cy="594360"/>
          </a:xfrm>
          <a:prstGeom prst="rect">
            <a:avLst/>
          </a:prstGeom>
          <a:noFill/>
          <a:ln/>
        </p:spPr>
        <p:txBody>
          <a:bodyPr wrap="square" lIns="0" tIns="0" rIns="0" bIns="0" rtlCol="0" anchor="t"/>
          <a:lstStyle/>
          <a:p>
            <a:pPr indent="0" marL="0">
              <a:buNone/>
            </a:pPr>
            <a:r>
              <a:rPr lang="en-US" sz="1400" dirty="0">
                <a:solidFill>
                  <a:srgbClr val="16222C"/>
                </a:solidFill>
                <a:latin typeface="Calibri" pitchFamily="34" charset="0"/>
                <a:ea typeface="Calibri" pitchFamily="34" charset="-122"/>
                <a:cs typeface="Calibri" pitchFamily="34" charset="-120"/>
              </a:rPr>
              <a:t>tức 4 câu trên 788 có gold lọt vào top-10 nhờ hợp nhất</a:t>
            </a:r>
            <a:endParaRPr lang="en-US" sz="1400" dirty="0"/>
          </a:p>
        </p:txBody>
      </p:sp>
      <p:sp>
        <p:nvSpPr>
          <p:cNvPr id="11" name="Text 7"/>
          <p:cNvSpPr txBox="1"/>
          <p:nvPr/>
        </p:nvSpPr>
        <p:spPr>
          <a:xfrm>
            <a:off x="8458200" y="4160520"/>
            <a:ext cx="3139135" cy="594360"/>
          </a:xfrm>
          <a:prstGeom prst="rect">
            <a:avLst/>
          </a:prstGeom>
          <a:noFill/>
          <a:ln/>
        </p:spPr>
        <p:txBody>
          <a:bodyPr wrap="square" lIns="0" tIns="0" rIns="0" bIns="0" rtlCol="0" anchor="t"/>
          <a:lstStyle/>
          <a:p>
            <a:pPr indent="0" marL="0">
              <a:buNone/>
            </a:pPr>
            <a:r>
              <a:rPr lang="en-US" sz="1400" dirty="0">
                <a:solidFill>
                  <a:srgbClr val="A8202B"/>
                </a:solidFill>
                <a:latin typeface="Calibri" pitchFamily="34" charset="0"/>
                <a:ea typeface="Calibri" pitchFamily="34" charset="-122"/>
                <a:cs typeface="Calibri" pitchFamily="34" charset="-120"/>
              </a:rPr>
              <a:t>RRF còn kém ngữ nghĩa ở Recall@1: 0,6701 so với 0,7811</a:t>
            </a:r>
            <a:endParaRPr lang="en-US" sz="1400" dirty="0"/>
          </a:p>
        </p:txBody>
      </p:sp>
      <p:sp>
        <p:nvSpPr>
          <p:cNvPr id="12" name="Text 8"/>
          <p:cNvSpPr txBox="1"/>
          <p:nvPr/>
        </p:nvSpPr>
        <p:spPr>
          <a:xfrm>
            <a:off x="8458200" y="4983480"/>
            <a:ext cx="3139135" cy="594360"/>
          </a:xfrm>
          <a:prstGeom prst="rect">
            <a:avLst/>
          </a:prstGeom>
          <a:noFill/>
          <a:ln/>
        </p:spPr>
        <p:txBody>
          <a:bodyPr wrap="square" lIns="0" tIns="0" rIns="0" bIns="0" rtlCol="0" anchor="t"/>
          <a:lstStyle/>
          <a:p>
            <a:pPr indent="0" marL="0">
              <a:buNone/>
            </a:pPr>
            <a:r>
              <a:rPr lang="en-US" sz="1250" i="1" dirty="0">
                <a:solidFill>
                  <a:srgbClr val="77858E"/>
                </a:solidFill>
                <a:latin typeface="Calibri" pitchFamily="34" charset="0"/>
                <a:ea typeface="Calibri" pitchFamily="34" charset="-122"/>
                <a:cs typeface="Calibri" pitchFamily="34" charset="-120"/>
              </a:rPr>
              <a:t>Chỉ so hệ sạch. bkai đạt cao hơn nhưng đã học tập test.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CH1  ·  CÂU CÓ DẤU  ·  11</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BM25 chỉ cứu thêm 3 câu, nhưng nhanh hơn khoảng 700 lần</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08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11 / 16</a:t>
            </a:r>
            <a:endParaRPr lang="en-US" sz="1000" dirty="0"/>
          </a:p>
        </p:txBody>
      </p:sp>
      <p:sp>
        <p:nvSpPr>
          <p:cNvPr id="7" name="Shape 4"/>
          <p:cNvSpPr/>
          <p:nvPr/>
        </p:nvSpPr>
        <p:spPr>
          <a:xfrm>
            <a:off x="1417320" y="2011680"/>
            <a:ext cx="3383280" cy="3383280"/>
          </a:xfrm>
          <a:prstGeom prst="ellipse">
            <a:avLst/>
          </a:prstGeom>
          <a:solidFill>
            <a:srgbClr val="2C5F8A">
              <a:alpha val="28000"/>
            </a:srgbClr>
          </a:solidFill>
          <a:ln w="19050">
            <a:solidFill>
              <a:srgbClr val="2C5F8A"/>
            </a:solidFill>
            <a:prstDash val="solid"/>
          </a:ln>
        </p:spPr>
      </p:sp>
      <p:sp>
        <p:nvSpPr>
          <p:cNvPr id="8" name="Shape 5"/>
          <p:cNvSpPr/>
          <p:nvPr/>
        </p:nvSpPr>
        <p:spPr>
          <a:xfrm>
            <a:off x="3611880" y="2011680"/>
            <a:ext cx="3383280" cy="3383280"/>
          </a:xfrm>
          <a:prstGeom prst="ellipse">
            <a:avLst/>
          </a:prstGeom>
          <a:solidFill>
            <a:srgbClr val="B7791F">
              <a:alpha val="28000"/>
            </a:srgbClr>
          </a:solidFill>
          <a:ln w="19050">
            <a:solidFill>
              <a:srgbClr val="B7791F"/>
            </a:solidFill>
            <a:prstDash val="solid"/>
          </a:ln>
        </p:spPr>
      </p:sp>
      <p:sp>
        <p:nvSpPr>
          <p:cNvPr id="9" name="Text 6"/>
          <p:cNvSpPr txBox="1"/>
          <p:nvPr/>
        </p:nvSpPr>
        <p:spPr>
          <a:xfrm>
            <a:off x="1417320" y="1600200"/>
            <a:ext cx="2011680" cy="320040"/>
          </a:xfrm>
          <a:prstGeom prst="rect">
            <a:avLst/>
          </a:prstGeom>
          <a:noFill/>
          <a:ln/>
        </p:spPr>
        <p:txBody>
          <a:bodyPr wrap="square" lIns="0" tIns="0" rIns="0" bIns="0" rtlCol="0" anchor="ctr"/>
          <a:lstStyle/>
          <a:p>
            <a:pPr indent="0" marL="0">
              <a:buNone/>
            </a:pPr>
            <a:r>
              <a:rPr lang="en-US" sz="1500" b="1" dirty="0">
                <a:solidFill>
                  <a:srgbClr val="2C5F8A"/>
                </a:solidFill>
                <a:latin typeface="Calibri" pitchFamily="34" charset="0"/>
                <a:ea typeface="Calibri" pitchFamily="34" charset="-122"/>
                <a:cs typeface="Calibri" pitchFamily="34" charset="-120"/>
              </a:rPr>
              <a:t>BM25 đúng</a:t>
            </a:r>
            <a:endParaRPr lang="en-US" sz="1500" dirty="0"/>
          </a:p>
        </p:txBody>
      </p:sp>
      <p:sp>
        <p:nvSpPr>
          <p:cNvPr id="10" name="Text 7"/>
          <p:cNvSpPr txBox="1"/>
          <p:nvPr/>
        </p:nvSpPr>
        <p:spPr>
          <a:xfrm>
            <a:off x="4800600" y="1600200"/>
            <a:ext cx="2194560" cy="320040"/>
          </a:xfrm>
          <a:prstGeom prst="rect">
            <a:avLst/>
          </a:prstGeom>
          <a:noFill/>
          <a:ln/>
        </p:spPr>
        <p:txBody>
          <a:bodyPr wrap="square" lIns="0" tIns="0" rIns="0" bIns="0" rtlCol="0" anchor="ctr"/>
          <a:lstStyle/>
          <a:p>
            <a:pPr algn="r" indent="0" marL="0">
              <a:buNone/>
            </a:pPr>
            <a:r>
              <a:rPr lang="en-US" sz="1500" b="1" dirty="0">
                <a:solidFill>
                  <a:srgbClr val="B7791F"/>
                </a:solidFill>
                <a:latin typeface="Calibri" pitchFamily="34" charset="0"/>
                <a:ea typeface="Calibri" pitchFamily="34" charset="-122"/>
                <a:cs typeface="Calibri" pitchFamily="34" charset="-120"/>
              </a:rPr>
              <a:t>Ngữ nghĩa đúng</a:t>
            </a:r>
            <a:endParaRPr lang="en-US" sz="1500" dirty="0"/>
          </a:p>
        </p:txBody>
      </p:sp>
      <p:sp>
        <p:nvSpPr>
          <p:cNvPr id="11" name="Text 8"/>
          <p:cNvSpPr txBox="1"/>
          <p:nvPr/>
        </p:nvSpPr>
        <p:spPr>
          <a:xfrm>
            <a:off x="1645920" y="3337560"/>
            <a:ext cx="1280160" cy="731520"/>
          </a:xfrm>
          <a:prstGeom prst="rect">
            <a:avLst/>
          </a:prstGeom>
          <a:noFill/>
          <a:ln/>
        </p:spPr>
        <p:txBody>
          <a:bodyPr wrap="square" lIns="0" tIns="0" rIns="0" bIns="0" rtlCol="0" anchor="ctr"/>
          <a:lstStyle/>
          <a:p>
            <a:pPr algn="ctr" indent="0" marL="0">
              <a:buNone/>
            </a:pPr>
            <a:r>
              <a:rPr lang="en-US" sz="4000" b="1" dirty="0">
                <a:solidFill>
                  <a:srgbClr val="A8202B"/>
                </a:solidFill>
                <a:latin typeface="Cambria" pitchFamily="34" charset="0"/>
                <a:ea typeface="Cambria" pitchFamily="34" charset="-122"/>
                <a:cs typeface="Cambria" pitchFamily="34" charset="-120"/>
              </a:rPr>
              <a:t>3</a:t>
            </a:r>
            <a:endParaRPr lang="en-US" sz="4000" dirty="0"/>
          </a:p>
        </p:txBody>
      </p:sp>
      <p:sp>
        <p:nvSpPr>
          <p:cNvPr id="12" name="Text 9"/>
          <p:cNvSpPr txBox="1"/>
          <p:nvPr/>
        </p:nvSpPr>
        <p:spPr>
          <a:xfrm>
            <a:off x="3611880" y="3337560"/>
            <a:ext cx="1188720" cy="731520"/>
          </a:xfrm>
          <a:prstGeom prst="rect">
            <a:avLst/>
          </a:prstGeom>
          <a:noFill/>
          <a:ln/>
        </p:spPr>
        <p:txBody>
          <a:bodyPr wrap="square" lIns="0" tIns="0" rIns="0" bIns="0" rtlCol="0" anchor="ctr"/>
          <a:lstStyle/>
          <a:p>
            <a:pPr algn="ctr" indent="0" marL="0">
              <a:buNone/>
            </a:pPr>
            <a:r>
              <a:rPr lang="en-US" sz="3400" b="1" dirty="0">
                <a:solidFill>
                  <a:srgbClr val="16222C"/>
                </a:solidFill>
                <a:latin typeface="Cambria" pitchFamily="34" charset="0"/>
                <a:ea typeface="Cambria" pitchFamily="34" charset="-122"/>
                <a:cs typeface="Cambria" pitchFamily="34" charset="-120"/>
              </a:rPr>
              <a:t>669</a:t>
            </a:r>
            <a:endParaRPr lang="en-US" sz="3400" dirty="0"/>
          </a:p>
        </p:txBody>
      </p:sp>
      <p:sp>
        <p:nvSpPr>
          <p:cNvPr id="13" name="Text 10"/>
          <p:cNvSpPr txBox="1"/>
          <p:nvPr/>
        </p:nvSpPr>
        <p:spPr>
          <a:xfrm>
            <a:off x="4846320" y="3337560"/>
            <a:ext cx="2011680" cy="731520"/>
          </a:xfrm>
          <a:prstGeom prst="rect">
            <a:avLst/>
          </a:prstGeom>
          <a:noFill/>
          <a:ln/>
        </p:spPr>
        <p:txBody>
          <a:bodyPr wrap="square" lIns="0" tIns="0" rIns="0" bIns="0" rtlCol="0" anchor="ctr"/>
          <a:lstStyle/>
          <a:p>
            <a:pPr algn="ctr" indent="0" marL="0">
              <a:buNone/>
            </a:pPr>
            <a:r>
              <a:rPr lang="en-US" sz="3400" b="1" dirty="0">
                <a:solidFill>
                  <a:srgbClr val="16222C"/>
                </a:solidFill>
                <a:latin typeface="Cambria" pitchFamily="34" charset="0"/>
                <a:ea typeface="Cambria" pitchFamily="34" charset="-122"/>
                <a:cs typeface="Cambria" pitchFamily="34" charset="-120"/>
              </a:rPr>
              <a:t>98</a:t>
            </a:r>
            <a:endParaRPr lang="en-US" sz="3400" dirty="0"/>
          </a:p>
        </p:txBody>
      </p:sp>
      <p:sp>
        <p:nvSpPr>
          <p:cNvPr id="14" name="Text 11"/>
          <p:cNvSpPr txBox="1"/>
          <p:nvPr/>
        </p:nvSpPr>
        <p:spPr>
          <a:xfrm>
            <a:off x="1417320" y="5532120"/>
            <a:ext cx="5669280" cy="320040"/>
          </a:xfrm>
          <a:prstGeom prst="rect">
            <a:avLst/>
          </a:prstGeom>
          <a:noFill/>
          <a:ln/>
        </p:spPr>
        <p:txBody>
          <a:bodyPr wrap="square" lIns="0" tIns="0" rIns="0" bIns="0" rtlCol="0" anchor="ctr"/>
          <a:lstStyle/>
          <a:p>
            <a:pPr indent="0" marL="0">
              <a:buNone/>
            </a:pPr>
            <a:r>
              <a:rPr lang="en-US" sz="1300" dirty="0">
                <a:solidFill>
                  <a:srgbClr val="77858E"/>
                </a:solidFill>
                <a:latin typeface="Calibri" pitchFamily="34" charset="0"/>
                <a:ea typeface="Calibri" pitchFamily="34" charset="-122"/>
                <a:cs typeface="Calibri" pitchFamily="34" charset="-120"/>
              </a:rPr>
              <a:t>Cả hai sai: 18 câu. Tính ở top-10, 788 câu test.</a:t>
            </a:r>
            <a:endParaRPr lang="en-US" sz="1300" dirty="0"/>
          </a:p>
        </p:txBody>
      </p:sp>
      <p:sp>
        <p:nvSpPr>
          <p:cNvPr id="15" name="Text 12"/>
          <p:cNvSpPr txBox="1"/>
          <p:nvPr/>
        </p:nvSpPr>
        <p:spPr>
          <a:xfrm>
            <a:off x="7955280" y="1783080"/>
            <a:ext cx="3642055" cy="274320"/>
          </a:xfrm>
          <a:prstGeom prst="rect">
            <a:avLst/>
          </a:prstGeom>
          <a:noFill/>
          <a:ln/>
        </p:spPr>
        <p:txBody>
          <a:bodyPr wrap="square" lIns="0" tIns="0" rIns="0" bIns="0" rtlCol="0" anchor="ctr"/>
          <a:lstStyle/>
          <a:p>
            <a:pPr indent="0" marL="0">
              <a:buNone/>
            </a:pPr>
            <a:r>
              <a:rPr lang="en-US" sz="1200" b="1" dirty="0">
                <a:solidFill>
                  <a:srgbClr val="2C5F8A"/>
                </a:solidFill>
                <a:latin typeface="Consolas" pitchFamily="34" charset="0"/>
                <a:ea typeface="Consolas" pitchFamily="34" charset="-122"/>
                <a:cs typeface="Consolas" pitchFamily="34" charset="-120"/>
              </a:rPr>
              <a:t>MỖI TRUY VẤN</a:t>
            </a:r>
            <a:endParaRPr lang="en-US" sz="1200" dirty="0"/>
          </a:p>
        </p:txBody>
      </p:sp>
      <p:sp>
        <p:nvSpPr>
          <p:cNvPr id="16" name="Text 13"/>
          <p:cNvSpPr txBox="1"/>
          <p:nvPr/>
        </p:nvSpPr>
        <p:spPr>
          <a:xfrm>
            <a:off x="7955280" y="2103120"/>
            <a:ext cx="1821028" cy="518160"/>
          </a:xfrm>
          <a:prstGeom prst="rect">
            <a:avLst/>
          </a:prstGeom>
          <a:noFill/>
          <a:ln/>
        </p:spPr>
        <p:txBody>
          <a:bodyPr wrap="square" lIns="0" tIns="0" rIns="0" bIns="0" rtlCol="0" anchor="ctr"/>
          <a:lstStyle/>
          <a:p>
            <a:pPr indent="0" marL="0">
              <a:buNone/>
            </a:pPr>
            <a:r>
              <a:rPr lang="en-US" sz="3400" b="1" dirty="0">
                <a:solidFill>
                  <a:srgbClr val="2C5F8A"/>
                </a:solidFill>
                <a:latin typeface="Cambria" pitchFamily="34" charset="0"/>
                <a:ea typeface="Cambria" pitchFamily="34" charset="-122"/>
                <a:cs typeface="Cambria" pitchFamily="34" charset="-120"/>
              </a:rPr>
              <a:t>0,5 ms</a:t>
            </a:r>
            <a:endParaRPr lang="en-US" sz="3400" dirty="0"/>
          </a:p>
        </p:txBody>
      </p:sp>
      <p:sp>
        <p:nvSpPr>
          <p:cNvPr id="17" name="Text 14"/>
          <p:cNvSpPr txBox="1"/>
          <p:nvPr/>
        </p:nvSpPr>
        <p:spPr>
          <a:xfrm>
            <a:off x="7955280" y="2676144"/>
            <a:ext cx="1821028" cy="566928"/>
          </a:xfrm>
          <a:prstGeom prst="rect">
            <a:avLst/>
          </a:prstGeom>
          <a:noFill/>
          <a:ln/>
        </p:spPr>
        <p:txBody>
          <a:bodyPr wrap="square" lIns="0" tIns="0" rIns="0" bIns="0" rtlCol="0" anchor="t"/>
          <a:lstStyle/>
          <a:p>
            <a:pPr indent="0" marL="0">
              <a:buNone/>
            </a:pPr>
            <a:r>
              <a:rPr lang="en-US" sz="1300" dirty="0">
                <a:solidFill>
                  <a:srgbClr val="46545F"/>
                </a:solidFill>
                <a:latin typeface="Calibri" pitchFamily="34" charset="0"/>
                <a:ea typeface="Calibri" pitchFamily="34" charset="-122"/>
                <a:cs typeface="Calibri" pitchFamily="34" charset="-120"/>
              </a:rPr>
              <a:t>BM25</a:t>
            </a:r>
            <a:endParaRPr lang="en-US" sz="1300" dirty="0"/>
          </a:p>
        </p:txBody>
      </p:sp>
      <p:sp>
        <p:nvSpPr>
          <p:cNvPr id="18" name="Text 15"/>
          <p:cNvSpPr txBox="1"/>
          <p:nvPr/>
        </p:nvSpPr>
        <p:spPr>
          <a:xfrm>
            <a:off x="9776308" y="2103120"/>
            <a:ext cx="1821028" cy="518160"/>
          </a:xfrm>
          <a:prstGeom prst="rect">
            <a:avLst/>
          </a:prstGeom>
          <a:noFill/>
          <a:ln/>
        </p:spPr>
        <p:txBody>
          <a:bodyPr wrap="square" lIns="0" tIns="0" rIns="0" bIns="0" rtlCol="0" anchor="ctr"/>
          <a:lstStyle/>
          <a:p>
            <a:pPr indent="0" marL="0">
              <a:buNone/>
            </a:pPr>
            <a:r>
              <a:rPr lang="en-US" sz="3400" b="1" dirty="0">
                <a:solidFill>
                  <a:srgbClr val="B7791F"/>
                </a:solidFill>
                <a:latin typeface="Cambria" pitchFamily="34" charset="0"/>
                <a:ea typeface="Cambria" pitchFamily="34" charset="-122"/>
                <a:cs typeface="Cambria" pitchFamily="34" charset="-120"/>
              </a:rPr>
              <a:t>352 ms</a:t>
            </a:r>
            <a:endParaRPr lang="en-US" sz="3400" dirty="0"/>
          </a:p>
        </p:txBody>
      </p:sp>
      <p:sp>
        <p:nvSpPr>
          <p:cNvPr id="19" name="Text 16"/>
          <p:cNvSpPr txBox="1"/>
          <p:nvPr/>
        </p:nvSpPr>
        <p:spPr>
          <a:xfrm>
            <a:off x="9776308" y="2676144"/>
            <a:ext cx="1821028" cy="566928"/>
          </a:xfrm>
          <a:prstGeom prst="rect">
            <a:avLst/>
          </a:prstGeom>
          <a:noFill/>
          <a:ln/>
        </p:spPr>
        <p:txBody>
          <a:bodyPr wrap="square" lIns="0" tIns="0" rIns="0" bIns="0" rtlCol="0" anchor="t"/>
          <a:lstStyle/>
          <a:p>
            <a:pPr indent="0" marL="0">
              <a:buNone/>
            </a:pPr>
            <a:r>
              <a:rPr lang="en-US" sz="1300" dirty="0">
                <a:solidFill>
                  <a:srgbClr val="46545F"/>
                </a:solidFill>
                <a:latin typeface="Calibri" pitchFamily="34" charset="0"/>
                <a:ea typeface="Calibri" pitchFamily="34" charset="-122"/>
                <a:cs typeface="Calibri" pitchFamily="34" charset="-120"/>
              </a:rPr>
              <a:t>ngữ nghĩa</a:t>
            </a:r>
            <a:endParaRPr lang="en-US" sz="1300" dirty="0"/>
          </a:p>
        </p:txBody>
      </p:sp>
      <p:sp>
        <p:nvSpPr>
          <p:cNvPr id="20" name="Text 17"/>
          <p:cNvSpPr txBox="1"/>
          <p:nvPr/>
        </p:nvSpPr>
        <p:spPr>
          <a:xfrm>
            <a:off x="7955280" y="3429000"/>
            <a:ext cx="3642055" cy="274320"/>
          </a:xfrm>
          <a:prstGeom prst="rect">
            <a:avLst/>
          </a:prstGeom>
          <a:noFill/>
          <a:ln/>
        </p:spPr>
        <p:txBody>
          <a:bodyPr wrap="square" lIns="0" tIns="0" rIns="0" bIns="0" rtlCol="0" anchor="ctr"/>
          <a:lstStyle/>
          <a:p>
            <a:pPr indent="0" marL="0">
              <a:buNone/>
            </a:pPr>
            <a:r>
              <a:rPr lang="en-US" sz="1200" b="1" dirty="0">
                <a:solidFill>
                  <a:srgbClr val="2C5F8A"/>
                </a:solidFill>
                <a:latin typeface="Consolas" pitchFamily="34" charset="0"/>
                <a:ea typeface="Consolas" pitchFamily="34" charset="-122"/>
                <a:cs typeface="Consolas" pitchFamily="34" charset="-120"/>
              </a:rPr>
              <a:t>CHỈ MỤC</a:t>
            </a:r>
            <a:endParaRPr lang="en-US" sz="1200" dirty="0"/>
          </a:p>
        </p:txBody>
      </p:sp>
      <p:sp>
        <p:nvSpPr>
          <p:cNvPr id="21" name="Text 18"/>
          <p:cNvSpPr txBox="1"/>
          <p:nvPr/>
        </p:nvSpPr>
        <p:spPr>
          <a:xfrm>
            <a:off x="7955280" y="3749040"/>
            <a:ext cx="1821028" cy="518160"/>
          </a:xfrm>
          <a:prstGeom prst="rect">
            <a:avLst/>
          </a:prstGeom>
          <a:noFill/>
          <a:ln/>
        </p:spPr>
        <p:txBody>
          <a:bodyPr wrap="square" lIns="0" tIns="0" rIns="0" bIns="0" rtlCol="0" anchor="ctr"/>
          <a:lstStyle/>
          <a:p>
            <a:pPr indent="0" marL="0">
              <a:buNone/>
            </a:pPr>
            <a:r>
              <a:rPr lang="en-US" sz="3400" b="1" dirty="0">
                <a:solidFill>
                  <a:srgbClr val="2C5F8A"/>
                </a:solidFill>
                <a:latin typeface="Cambria" pitchFamily="34" charset="0"/>
                <a:ea typeface="Cambria" pitchFamily="34" charset="-122"/>
                <a:cs typeface="Cambria" pitchFamily="34" charset="-120"/>
              </a:rPr>
              <a:t>35 MB</a:t>
            </a:r>
            <a:endParaRPr lang="en-US" sz="3400" dirty="0"/>
          </a:p>
        </p:txBody>
      </p:sp>
      <p:sp>
        <p:nvSpPr>
          <p:cNvPr id="22" name="Text 19"/>
          <p:cNvSpPr txBox="1"/>
          <p:nvPr/>
        </p:nvSpPr>
        <p:spPr>
          <a:xfrm>
            <a:off x="7955280" y="4322064"/>
            <a:ext cx="1821028" cy="566928"/>
          </a:xfrm>
          <a:prstGeom prst="rect">
            <a:avLst/>
          </a:prstGeom>
          <a:noFill/>
          <a:ln/>
        </p:spPr>
        <p:txBody>
          <a:bodyPr wrap="square" lIns="0" tIns="0" rIns="0" bIns="0" rtlCol="0" anchor="t"/>
          <a:lstStyle/>
          <a:p>
            <a:pPr indent="0" marL="0">
              <a:buNone/>
            </a:pPr>
            <a:r>
              <a:rPr lang="en-US" sz="1300" dirty="0">
                <a:solidFill>
                  <a:srgbClr val="46545F"/>
                </a:solidFill>
                <a:latin typeface="Calibri" pitchFamily="34" charset="0"/>
                <a:ea typeface="Calibri" pitchFamily="34" charset="-122"/>
                <a:cs typeface="Calibri" pitchFamily="34" charset="-120"/>
              </a:rPr>
              <a:t>BM25</a:t>
            </a:r>
            <a:endParaRPr lang="en-US" sz="1300" dirty="0"/>
          </a:p>
        </p:txBody>
      </p:sp>
      <p:sp>
        <p:nvSpPr>
          <p:cNvPr id="23" name="Text 20"/>
          <p:cNvSpPr txBox="1"/>
          <p:nvPr/>
        </p:nvSpPr>
        <p:spPr>
          <a:xfrm>
            <a:off x="9776308" y="3749040"/>
            <a:ext cx="1821028" cy="518160"/>
          </a:xfrm>
          <a:prstGeom prst="rect">
            <a:avLst/>
          </a:prstGeom>
          <a:noFill/>
          <a:ln/>
        </p:spPr>
        <p:txBody>
          <a:bodyPr wrap="square" lIns="0" tIns="0" rIns="0" bIns="0" rtlCol="0" anchor="ctr"/>
          <a:lstStyle/>
          <a:p>
            <a:pPr indent="0" marL="0">
              <a:buNone/>
            </a:pPr>
            <a:r>
              <a:rPr lang="en-US" sz="3400" b="1" dirty="0">
                <a:solidFill>
                  <a:srgbClr val="B7791F"/>
                </a:solidFill>
                <a:latin typeface="Cambria" pitchFamily="34" charset="0"/>
                <a:ea typeface="Cambria" pitchFamily="34" charset="-122"/>
                <a:cs typeface="Cambria" pitchFamily="34" charset="-120"/>
              </a:rPr>
              <a:t>319 MB</a:t>
            </a:r>
            <a:endParaRPr lang="en-US" sz="3400" dirty="0"/>
          </a:p>
        </p:txBody>
      </p:sp>
      <p:sp>
        <p:nvSpPr>
          <p:cNvPr id="24" name="Text 21"/>
          <p:cNvSpPr txBox="1"/>
          <p:nvPr/>
        </p:nvSpPr>
        <p:spPr>
          <a:xfrm>
            <a:off x="9776308" y="4322064"/>
            <a:ext cx="1821028" cy="566928"/>
          </a:xfrm>
          <a:prstGeom prst="rect">
            <a:avLst/>
          </a:prstGeom>
          <a:noFill/>
          <a:ln/>
        </p:spPr>
        <p:txBody>
          <a:bodyPr wrap="square" lIns="0" tIns="0" rIns="0" bIns="0" rtlCol="0" anchor="t"/>
          <a:lstStyle/>
          <a:p>
            <a:pPr indent="0" marL="0">
              <a:buNone/>
            </a:pPr>
            <a:r>
              <a:rPr lang="en-US" sz="1300" dirty="0">
                <a:solidFill>
                  <a:srgbClr val="46545F"/>
                </a:solidFill>
                <a:latin typeface="Calibri" pitchFamily="34" charset="0"/>
                <a:ea typeface="Calibri" pitchFamily="34" charset="-122"/>
                <a:cs typeface="Calibri" pitchFamily="34" charset="-120"/>
              </a:rPr>
              <a:t>ngữ nghĩa</a:t>
            </a:r>
            <a:endParaRPr lang="en-US" sz="1300" dirty="0"/>
          </a:p>
        </p:txBody>
      </p:sp>
      <p:sp>
        <p:nvSpPr>
          <p:cNvPr id="25" name="Text 22"/>
          <p:cNvSpPr txBox="1"/>
          <p:nvPr/>
        </p:nvSpPr>
        <p:spPr>
          <a:xfrm>
            <a:off x="7955280" y="5120640"/>
            <a:ext cx="3642055" cy="457200"/>
          </a:xfrm>
          <a:prstGeom prst="rect">
            <a:avLst/>
          </a:prstGeom>
          <a:noFill/>
          <a:ln/>
        </p:spPr>
        <p:txBody>
          <a:bodyPr wrap="square" lIns="0" tIns="0" rIns="0" bIns="0" rtlCol="0" anchor="ctr"/>
          <a:lstStyle/>
          <a:p>
            <a:pPr indent="0" marL="0">
              <a:buNone/>
            </a:pPr>
            <a:r>
              <a:rPr lang="en-US" sz="1400" b="1" dirty="0">
                <a:solidFill>
                  <a:srgbClr val="16222C"/>
                </a:solidFill>
                <a:latin typeface="Calibri" pitchFamily="34" charset="0"/>
                <a:ea typeface="Calibri" pitchFamily="34" charset="-122"/>
                <a:cs typeface="Calibri" pitchFamily="34" charset="-120"/>
              </a:rPr>
              <a:t>BM25 còn chỉ ra được từ nào đã khớp.</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CH2  ·  CÂU MẤT DẤU  ·  12</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Mất dấu, mô hình ngữ nghĩa tốt nhất tụt từ 97% còn 12%</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08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12 / 16</a:t>
            </a:r>
            <a:endParaRPr lang="en-US" sz="1000" dirty="0"/>
          </a:p>
        </p:txBody>
      </p:sp>
      <p:graphicFrame>
        <p:nvGraphicFramePr>
          <p:cNvPr id="7" name="Chart 0" descr=""/>
          <p:cNvGraphicFramePr/>
          <p:nvPr/>
        </p:nvGraphicFramePr>
        <p:xfrm>
          <a:off x="594360" y="1645920"/>
          <a:ext cx="7406640" cy="434340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8458200" y="1828800"/>
            <a:ext cx="3139135" cy="274320"/>
          </a:xfrm>
          <a:prstGeom prst="rect">
            <a:avLst/>
          </a:prstGeom>
          <a:noFill/>
          <a:ln/>
        </p:spPr>
        <p:txBody>
          <a:bodyPr wrap="square" lIns="0" tIns="0" rIns="0" bIns="0" rtlCol="0" anchor="ctr"/>
          <a:lstStyle/>
          <a:p>
            <a:pPr indent="0" marL="0">
              <a:buNone/>
            </a:pPr>
            <a:r>
              <a:rPr lang="en-US" sz="1200" b="1" dirty="0">
                <a:solidFill>
                  <a:srgbClr val="A8202B"/>
                </a:solidFill>
                <a:latin typeface="Consolas" pitchFamily="34" charset="0"/>
                <a:ea typeface="Consolas" pitchFamily="34" charset="-122"/>
                <a:cs typeface="Consolas" pitchFamily="34" charset="-120"/>
              </a:rPr>
              <a:t>VÌ SAO</a:t>
            </a:r>
            <a:endParaRPr lang="en-US" sz="1200" dirty="0"/>
          </a:p>
        </p:txBody>
      </p:sp>
      <p:sp>
        <p:nvSpPr>
          <p:cNvPr id="9" name="Text 5"/>
          <p:cNvSpPr txBox="1"/>
          <p:nvPr/>
        </p:nvSpPr>
        <p:spPr>
          <a:xfrm>
            <a:off x="8458200" y="2148840"/>
            <a:ext cx="3139135" cy="2011680"/>
          </a:xfrm>
          <a:prstGeom prst="rect">
            <a:avLst/>
          </a:prstGeom>
          <a:noFill/>
          <a:ln/>
        </p:spPr>
        <p:txBody>
          <a:bodyPr wrap="square" lIns="0" tIns="0" rIns="0" bIns="0" rtlCol="0" anchor="t"/>
          <a:lstStyle/>
          <a:p>
            <a:pPr indent="0" marL="0">
              <a:buNone/>
            </a:pPr>
            <a:r>
              <a:rPr lang="en-US" sz="1500" b="1" dirty="0">
                <a:solidFill>
                  <a:srgbClr val="16222C"/>
                </a:solidFill>
                <a:latin typeface="Calibri" pitchFamily="34" charset="0"/>
                <a:ea typeface="Calibri" pitchFamily="34" charset="-122"/>
                <a:cs typeface="Calibri" pitchFamily="34" charset="-120"/>
              </a:rPr>
              <a:t>BM25: </a:t>
            </a:r>
            <a:pPr indent="0" marL="0">
              <a:buNone/>
            </a:pPr>
            <a:r>
              <a:rPr lang="en-US" sz="1500" dirty="0">
                <a:solidFill>
                  <a:srgbClr val="16222C"/>
                </a:solidFill>
                <a:latin typeface="Calibri" pitchFamily="34" charset="0"/>
                <a:ea typeface="Calibri" pitchFamily="34" charset="-122"/>
                <a:cs typeface="Calibri" pitchFamily="34" charset="-120"/>
              </a:rPr>
              <a:t>“phat” và “phạt” là hai chữ khác nhau, không khớp gì.</a:t>
            </a:r>
            <a:endParaRPr lang="en-US" sz="1500" dirty="0"/>
          </a:p>
          <a:p>
            <a:pPr indent="0" marL="0">
              <a:buNone/>
            </a:pPr>
            <a:r>
              <a:rPr lang="en-US" sz="800" dirty="0">
                <a:solidFill>
                  <a:srgbClr val="16222C"/>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16222C"/>
                </a:solidFill>
                <a:latin typeface="Calibri" pitchFamily="34" charset="0"/>
                <a:ea typeface="Calibri" pitchFamily="34" charset="-122"/>
                <a:cs typeface="Calibri" pitchFamily="34" charset="-120"/>
              </a:rPr>
              <a:t>Ngữ nghĩa: </a:t>
            </a:r>
            <a:pPr indent="0" marL="0">
              <a:buNone/>
            </a:pPr>
            <a:r>
              <a:rPr lang="en-US" sz="1500" dirty="0">
                <a:solidFill>
                  <a:srgbClr val="16222C"/>
                </a:solidFill>
                <a:latin typeface="Calibri" pitchFamily="34" charset="0"/>
                <a:ea typeface="Calibri" pitchFamily="34" charset="-122"/>
                <a:cs typeface="Calibri" pitchFamily="34" charset="-120"/>
              </a:rPr>
              <a:t>giả thuyết là mô hình học chủ yếu văn bản có dấu. Chưa kiểm chứng.</a:t>
            </a:r>
            <a:endParaRPr lang="en-US" sz="1500" dirty="0"/>
          </a:p>
        </p:txBody>
      </p:sp>
      <p:sp>
        <p:nvSpPr>
          <p:cNvPr id="10" name="Shape 6"/>
          <p:cNvSpPr/>
          <p:nvPr/>
        </p:nvSpPr>
        <p:spPr>
          <a:xfrm>
            <a:off x="8458200" y="4343400"/>
            <a:ext cx="3139135" cy="1234440"/>
          </a:xfrm>
          <a:prstGeom prst="rect">
            <a:avLst/>
          </a:prstGeom>
          <a:solidFill>
            <a:srgbClr val="F3F5F2"/>
          </a:solidFill>
          <a:ln/>
        </p:spPr>
      </p:sp>
      <p:sp>
        <p:nvSpPr>
          <p:cNvPr id="11" name="Text 7"/>
          <p:cNvSpPr txBox="1"/>
          <p:nvPr/>
        </p:nvSpPr>
        <p:spPr>
          <a:xfrm>
            <a:off x="8686800" y="4343400"/>
            <a:ext cx="2681935" cy="1234440"/>
          </a:xfrm>
          <a:prstGeom prst="rect">
            <a:avLst/>
          </a:prstGeom>
          <a:noFill/>
          <a:ln/>
        </p:spPr>
        <p:txBody>
          <a:bodyPr wrap="square" lIns="0" tIns="0" rIns="0" bIns="0" rtlCol="0" anchor="ctr"/>
          <a:lstStyle/>
          <a:p>
            <a:pPr indent="0" marL="0">
              <a:buNone/>
            </a:pPr>
            <a:r>
              <a:rPr lang="en-US" sz="1400" dirty="0">
                <a:solidFill>
                  <a:srgbClr val="16222C"/>
                </a:solidFill>
                <a:latin typeface="Calibri" pitchFamily="34" charset="0"/>
                <a:ea typeface="Calibri" pitchFamily="34" charset="-122"/>
                <a:cs typeface="Calibri" pitchFamily="34" charset="-120"/>
              </a:rPr>
              <a:t>Chỉ mục BM25 trên văn bản bỏ dấu lên lại 74,30%, không cần mô hình.</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CH2  ·  CÂU MẤT DẤU  ·  13</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Phục hồi dấu bằng bigram kéo hệ về 96,7%, không cần GPU</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08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13 / 16</a:t>
            </a:r>
            <a:endParaRPr lang="en-US" sz="1000" dirty="0"/>
          </a:p>
        </p:txBody>
      </p:sp>
      <p:sp>
        <p:nvSpPr>
          <p:cNvPr id="7" name="Text 4"/>
          <p:cNvSpPr txBox="1"/>
          <p:nvPr/>
        </p:nvSpPr>
        <p:spPr>
          <a:xfrm>
            <a:off x="594360" y="1783080"/>
            <a:ext cx="5120640" cy="274320"/>
          </a:xfrm>
          <a:prstGeom prst="rect">
            <a:avLst/>
          </a:prstGeom>
          <a:noFill/>
          <a:ln/>
        </p:spPr>
        <p:txBody>
          <a:bodyPr wrap="square" lIns="0" tIns="0" rIns="0" bIns="0" rtlCol="0" anchor="ctr"/>
          <a:lstStyle/>
          <a:p>
            <a:pPr indent="0" marL="0">
              <a:buNone/>
            </a:pPr>
            <a:r>
              <a:rPr lang="en-US" sz="1200" b="1" dirty="0">
                <a:solidFill>
                  <a:srgbClr val="2C5F8A"/>
                </a:solidFill>
                <a:latin typeface="Consolas" pitchFamily="34" charset="0"/>
                <a:ea typeface="Consolas" pitchFamily="34" charset="-122"/>
                <a:cs typeface="Consolas" pitchFamily="34" charset="-120"/>
              </a:rPr>
              <a:t>VÍ DỤ</a:t>
            </a:r>
            <a:endParaRPr lang="en-US" sz="1200" dirty="0"/>
          </a:p>
        </p:txBody>
      </p:sp>
      <p:sp>
        <p:nvSpPr>
          <p:cNvPr id="8" name="Text 5"/>
          <p:cNvSpPr txBox="1"/>
          <p:nvPr/>
        </p:nvSpPr>
        <p:spPr>
          <a:xfrm>
            <a:off x="594360" y="2103120"/>
            <a:ext cx="5120640" cy="411480"/>
          </a:xfrm>
          <a:prstGeom prst="rect">
            <a:avLst/>
          </a:prstGeom>
          <a:noFill/>
          <a:ln/>
        </p:spPr>
        <p:txBody>
          <a:bodyPr wrap="square" lIns="0" tIns="0" rIns="0" bIns="0" rtlCol="0" anchor="ctr"/>
          <a:lstStyle/>
          <a:p>
            <a:pPr indent="0" marL="0">
              <a:buNone/>
            </a:pPr>
            <a:r>
              <a:rPr lang="en-US" sz="2000" dirty="0">
                <a:solidFill>
                  <a:srgbClr val="A8202B"/>
                </a:solidFill>
                <a:latin typeface="Consolas" pitchFamily="34" charset="0"/>
                <a:ea typeface="Consolas" pitchFamily="34" charset="-122"/>
                <a:cs typeface="Consolas" pitchFamily="34" charset="-120"/>
              </a:rPr>
              <a:t>nguoi lao dong nghi viec</a:t>
            </a:r>
            <a:endParaRPr lang="en-US" sz="2000" dirty="0"/>
          </a:p>
        </p:txBody>
      </p:sp>
      <p:sp>
        <p:nvSpPr>
          <p:cNvPr id="9" name="Text 6"/>
          <p:cNvSpPr txBox="1"/>
          <p:nvPr/>
        </p:nvSpPr>
        <p:spPr>
          <a:xfrm>
            <a:off x="594360" y="2606040"/>
            <a:ext cx="5120640" cy="411480"/>
          </a:xfrm>
          <a:prstGeom prst="rect">
            <a:avLst/>
          </a:prstGeom>
          <a:noFill/>
          <a:ln/>
        </p:spPr>
        <p:txBody>
          <a:bodyPr wrap="square" lIns="0" tIns="0" rIns="0" bIns="0" rtlCol="0" anchor="ctr"/>
          <a:lstStyle/>
          <a:p>
            <a:pPr indent="0" marL="0">
              <a:buNone/>
            </a:pPr>
            <a:r>
              <a:rPr lang="en-US" sz="1800" dirty="0">
                <a:solidFill>
                  <a:srgbClr val="77858E"/>
                </a:solidFill>
                <a:latin typeface="Consolas" pitchFamily="34" charset="0"/>
                <a:ea typeface="Consolas" pitchFamily="34" charset="-122"/>
                <a:cs typeface="Consolas" pitchFamily="34" charset="-120"/>
              </a:rPr>
              <a:t>nghi  →  </a:t>
            </a:r>
            <a:pPr indent="0" marL="0">
              <a:buNone/>
            </a:pPr>
            <a:r>
              <a:rPr lang="en-US" sz="1800" b="1" dirty="0">
                <a:solidFill>
                  <a:srgbClr val="1B6E5A"/>
                </a:solidFill>
                <a:latin typeface="Calibri" pitchFamily="34" charset="0"/>
                <a:ea typeface="Calibri" pitchFamily="34" charset="-122"/>
                <a:cs typeface="Calibri" pitchFamily="34" charset="-120"/>
              </a:rPr>
              <a:t>nghỉ</a:t>
            </a:r>
            <a:pPr indent="0" marL="0">
              <a:buNone/>
            </a:pPr>
            <a:r>
              <a:rPr lang="en-US" sz="1800" dirty="0">
                <a:solidFill>
                  <a:srgbClr val="77858E"/>
                </a:solidFill>
                <a:latin typeface="Calibri" pitchFamily="34" charset="0"/>
                <a:ea typeface="Calibri" pitchFamily="34" charset="-122"/>
                <a:cs typeface="Calibri" pitchFamily="34" charset="-120"/>
              </a:rPr>
              <a:t>   nghị   nghĩ   nghi</a:t>
            </a:r>
            <a:endParaRPr lang="en-US" sz="1800" dirty="0"/>
          </a:p>
        </p:txBody>
      </p:sp>
      <p:sp>
        <p:nvSpPr>
          <p:cNvPr id="10" name="Text 7"/>
          <p:cNvSpPr txBox="1"/>
          <p:nvPr/>
        </p:nvSpPr>
        <p:spPr>
          <a:xfrm>
            <a:off x="594360" y="3108960"/>
            <a:ext cx="5120640" cy="457200"/>
          </a:xfrm>
          <a:prstGeom prst="rect">
            <a:avLst/>
          </a:prstGeom>
          <a:noFill/>
          <a:ln/>
        </p:spPr>
        <p:txBody>
          <a:bodyPr wrap="square" lIns="0" tIns="0" rIns="0" bIns="0" rtlCol="0" anchor="ctr"/>
          <a:lstStyle/>
          <a:p>
            <a:pPr indent="0" marL="0">
              <a:buNone/>
            </a:pPr>
            <a:r>
              <a:rPr lang="en-US" sz="2200" b="1" dirty="0">
                <a:solidFill>
                  <a:srgbClr val="1B6E5A"/>
                </a:solidFill>
                <a:latin typeface="Cambria" pitchFamily="34" charset="0"/>
                <a:ea typeface="Cambria" pitchFamily="34" charset="-122"/>
                <a:cs typeface="Cambria" pitchFamily="34" charset="-120"/>
              </a:rPr>
              <a:t>người lao động nghỉ việc</a:t>
            </a:r>
            <a:endParaRPr lang="en-US" sz="2200" dirty="0"/>
          </a:p>
        </p:txBody>
      </p:sp>
      <p:sp>
        <p:nvSpPr>
          <p:cNvPr id="11" name="Text 8"/>
          <p:cNvSpPr txBox="1"/>
          <p:nvPr/>
        </p:nvSpPr>
        <p:spPr>
          <a:xfrm>
            <a:off x="594360" y="3794760"/>
            <a:ext cx="5120640" cy="1463040"/>
          </a:xfrm>
          <a:prstGeom prst="rect">
            <a:avLst/>
          </a:prstGeom>
          <a:noFill/>
          <a:ln/>
        </p:spPr>
        <p:txBody>
          <a:bodyPr wrap="square" lIns="0" tIns="0" rIns="0" bIns="0" rtlCol="0" anchor="t"/>
          <a:lstStyle/>
          <a:p>
            <a:pPr indent="0" marL="0">
              <a:spcAft>
                <a:spcPts val="500"/>
              </a:spcAft>
              <a:buNone/>
            </a:pPr>
            <a:r>
              <a:rPr lang="en-US" sz="1500" dirty="0">
                <a:solidFill>
                  <a:srgbClr val="46545F"/>
                </a:solidFill>
                <a:latin typeface="Calibri" pitchFamily="34" charset="0"/>
                <a:ea typeface="Calibri" pitchFamily="34" charset="-122"/>
                <a:cs typeface="Calibri" pitchFamily="34" charset="-120"/>
              </a:rPr>
              <a:t>1.  Đếm bigram trên 18,6 triệu âm tiết của kho luật</a:t>
            </a:r>
            <a:endParaRPr lang="en-US" sz="1500" dirty="0"/>
          </a:p>
          <a:p>
            <a:pPr indent="0" marL="0">
              <a:spcAft>
                <a:spcPts val="500"/>
              </a:spcAft>
              <a:buNone/>
            </a:pPr>
            <a:r>
              <a:rPr lang="en-US" sz="1500" dirty="0">
                <a:solidFill>
                  <a:srgbClr val="46545F"/>
                </a:solidFill>
                <a:latin typeface="Calibri" pitchFamily="34" charset="0"/>
                <a:ea typeface="Calibri" pitchFamily="34" charset="-122"/>
                <a:cs typeface="Calibri" pitchFamily="34" charset="-120"/>
              </a:rPr>
              <a:t>2.  Sinh ứng viên có dấu cho mỗi âm tiết</a:t>
            </a:r>
            <a:endParaRPr lang="en-US" sz="1500" dirty="0"/>
          </a:p>
          <a:p>
            <a:pPr indent="0" marL="0">
              <a:spcAft>
                <a:spcPts val="500"/>
              </a:spcAft>
              <a:buNone/>
            </a:pPr>
            <a:r>
              <a:rPr lang="en-US" sz="1500" dirty="0">
                <a:solidFill>
                  <a:srgbClr val="46545F"/>
                </a:solidFill>
                <a:latin typeface="Calibri" pitchFamily="34" charset="0"/>
                <a:ea typeface="Calibri" pitchFamily="34" charset="-122"/>
                <a:cs typeface="Calibri" pitchFamily="34" charset="-120"/>
              </a:rPr>
              <a:t>3.  Viterbi chọn chuỗi xác suất cao nhất, lambda = 0,9</a:t>
            </a:r>
            <a:endParaRPr lang="en-US" sz="1500" dirty="0"/>
          </a:p>
          <a:p>
            <a:pPr indent="0" marL="0">
              <a:spcAft>
                <a:spcPts val="500"/>
              </a:spcAft>
              <a:buNone/>
            </a:pPr>
            <a:r>
              <a:rPr lang="en-US" sz="1500" dirty="0">
                <a:solidFill>
                  <a:srgbClr val="46545F"/>
                </a:solidFill>
                <a:latin typeface="Calibri" pitchFamily="34" charset="0"/>
                <a:ea typeface="Calibri" pitchFamily="34" charset="-122"/>
                <a:cs typeface="Calibri" pitchFamily="34" charset="-120"/>
              </a:rPr>
              <a:t>4.  Âm tiết đã có dấu thì giữ nguyên</a:t>
            </a:r>
            <a:endParaRPr lang="en-US" sz="1500" dirty="0"/>
          </a:p>
        </p:txBody>
      </p:sp>
      <p:graphicFrame>
        <p:nvGraphicFramePr>
          <p:cNvPr id="12" name="Chart 0" descr=""/>
          <p:cNvGraphicFramePr/>
          <p:nvPr/>
        </p:nvGraphicFramePr>
        <p:xfrm>
          <a:off x="5989320" y="1645920"/>
          <a:ext cx="5608015" cy="352044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6126480" y="5120640"/>
            <a:ext cx="3657600" cy="237744"/>
          </a:xfrm>
          <a:prstGeom prst="rect">
            <a:avLst/>
          </a:prstGeom>
          <a:noFill/>
          <a:ln/>
        </p:spPr>
        <p:txBody>
          <a:bodyPr wrap="square" lIns="0" tIns="0" rIns="0" bIns="0" rtlCol="0" anchor="ctr"/>
          <a:lstStyle/>
          <a:p>
            <a:pPr indent="0" marL="0">
              <a:buNone/>
            </a:pPr>
            <a:r>
              <a:rPr lang="en-US" sz="1100" i="1" dirty="0">
                <a:solidFill>
                  <a:srgbClr val="77858E"/>
                </a:solidFill>
                <a:latin typeface="Calibri" pitchFamily="34" charset="0"/>
                <a:ea typeface="Calibri" pitchFamily="34" charset="-122"/>
                <a:cs typeface="Calibri" pitchFamily="34" charset="-120"/>
              </a:rPr>
              <a:t>Recall@10 của hệ hợp nhất (%)</a:t>
            </a:r>
            <a:endParaRPr lang="en-US" sz="1100" dirty="0"/>
          </a:p>
        </p:txBody>
      </p:sp>
      <p:sp>
        <p:nvSpPr>
          <p:cNvPr id="14" name="Text 10"/>
          <p:cNvSpPr txBox="1"/>
          <p:nvPr/>
        </p:nvSpPr>
        <p:spPr>
          <a:xfrm>
            <a:off x="6126480" y="5440680"/>
            <a:ext cx="1783080" cy="384048"/>
          </a:xfrm>
          <a:prstGeom prst="rect">
            <a:avLst/>
          </a:prstGeom>
          <a:noFill/>
          <a:ln/>
        </p:spPr>
        <p:txBody>
          <a:bodyPr wrap="square" lIns="0" tIns="0" rIns="0" bIns="0" rtlCol="0" anchor="ctr"/>
          <a:lstStyle/>
          <a:p>
            <a:pPr indent="0" marL="0">
              <a:buNone/>
            </a:pPr>
            <a:r>
              <a:rPr lang="en-US" sz="2000" b="1" dirty="0">
                <a:solidFill>
                  <a:srgbClr val="1B6E5A"/>
                </a:solidFill>
                <a:latin typeface="Cambria" pitchFamily="34" charset="0"/>
                <a:ea typeface="Cambria" pitchFamily="34" charset="-122"/>
                <a:cs typeface="Cambria" pitchFamily="34" charset="-120"/>
              </a:rPr>
              <a:t>98,45%</a:t>
            </a:r>
            <a:endParaRPr lang="en-US" sz="2000" dirty="0"/>
          </a:p>
        </p:txBody>
      </p:sp>
      <p:sp>
        <p:nvSpPr>
          <p:cNvPr id="15" name="Text 11"/>
          <p:cNvSpPr txBox="1"/>
          <p:nvPr/>
        </p:nvSpPr>
        <p:spPr>
          <a:xfrm>
            <a:off x="6126480" y="5824728"/>
            <a:ext cx="1783080" cy="274320"/>
          </a:xfrm>
          <a:prstGeom prst="rect">
            <a:avLst/>
          </a:prstGeom>
          <a:noFill/>
          <a:ln/>
        </p:spPr>
        <p:txBody>
          <a:bodyPr wrap="square" lIns="0" tIns="0" rIns="0" bIns="0" rtlCol="0" anchor="ctr"/>
          <a:lstStyle/>
          <a:p>
            <a:pPr indent="0" marL="0">
              <a:buNone/>
            </a:pPr>
            <a:r>
              <a:rPr lang="en-US" sz="1150" dirty="0">
                <a:solidFill>
                  <a:srgbClr val="46545F"/>
                </a:solidFill>
                <a:latin typeface="Calibri" pitchFamily="34" charset="0"/>
                <a:ea typeface="Calibri" pitchFamily="34" charset="-122"/>
                <a:cs typeface="Calibri" pitchFamily="34" charset="-120"/>
              </a:rPr>
              <a:t>âm tiết phục hồi đúng</a:t>
            </a:r>
            <a:endParaRPr lang="en-US" sz="1150" dirty="0"/>
          </a:p>
        </p:txBody>
      </p:sp>
      <p:sp>
        <p:nvSpPr>
          <p:cNvPr id="16" name="Text 12"/>
          <p:cNvSpPr txBox="1"/>
          <p:nvPr/>
        </p:nvSpPr>
        <p:spPr>
          <a:xfrm>
            <a:off x="7955280" y="5440680"/>
            <a:ext cx="1783080" cy="384048"/>
          </a:xfrm>
          <a:prstGeom prst="rect">
            <a:avLst/>
          </a:prstGeom>
          <a:noFill/>
          <a:ln/>
        </p:spPr>
        <p:txBody>
          <a:bodyPr wrap="square" lIns="0" tIns="0" rIns="0" bIns="0" rtlCol="0" anchor="ctr"/>
          <a:lstStyle/>
          <a:p>
            <a:pPr indent="0" marL="0">
              <a:buNone/>
            </a:pPr>
            <a:r>
              <a:rPr lang="en-US" sz="2000" b="1" dirty="0">
                <a:solidFill>
                  <a:srgbClr val="1B6E5A"/>
                </a:solidFill>
                <a:latin typeface="Cambria" pitchFamily="34" charset="0"/>
                <a:ea typeface="Cambria" pitchFamily="34" charset="-122"/>
                <a:cs typeface="Cambria" pitchFamily="34" charset="-120"/>
              </a:rPr>
              <a:t>0,88 ms</a:t>
            </a:r>
            <a:endParaRPr lang="en-US" sz="2000" dirty="0"/>
          </a:p>
        </p:txBody>
      </p:sp>
      <p:sp>
        <p:nvSpPr>
          <p:cNvPr id="17" name="Text 13"/>
          <p:cNvSpPr txBox="1"/>
          <p:nvPr/>
        </p:nvSpPr>
        <p:spPr>
          <a:xfrm>
            <a:off x="7955280" y="5824728"/>
            <a:ext cx="1783080" cy="274320"/>
          </a:xfrm>
          <a:prstGeom prst="rect">
            <a:avLst/>
          </a:prstGeom>
          <a:noFill/>
          <a:ln/>
        </p:spPr>
        <p:txBody>
          <a:bodyPr wrap="square" lIns="0" tIns="0" rIns="0" bIns="0" rtlCol="0" anchor="ctr"/>
          <a:lstStyle/>
          <a:p>
            <a:pPr indent="0" marL="0">
              <a:buNone/>
            </a:pPr>
            <a:r>
              <a:rPr lang="en-US" sz="1150" dirty="0">
                <a:solidFill>
                  <a:srgbClr val="46545F"/>
                </a:solidFill>
                <a:latin typeface="Calibri" pitchFamily="34" charset="0"/>
                <a:ea typeface="Calibri" pitchFamily="34" charset="-122"/>
                <a:cs typeface="Calibri" pitchFamily="34" charset="-120"/>
              </a:rPr>
              <a:t>mỗi câu hỏi</a:t>
            </a:r>
            <a:endParaRPr lang="en-US" sz="1150" dirty="0"/>
          </a:p>
        </p:txBody>
      </p:sp>
      <p:sp>
        <p:nvSpPr>
          <p:cNvPr id="18" name="Text 14"/>
          <p:cNvSpPr txBox="1"/>
          <p:nvPr/>
        </p:nvSpPr>
        <p:spPr>
          <a:xfrm>
            <a:off x="9784080" y="5440680"/>
            <a:ext cx="1783080" cy="384048"/>
          </a:xfrm>
          <a:prstGeom prst="rect">
            <a:avLst/>
          </a:prstGeom>
          <a:noFill/>
          <a:ln/>
        </p:spPr>
        <p:txBody>
          <a:bodyPr wrap="square" lIns="0" tIns="0" rIns="0" bIns="0" rtlCol="0" anchor="ctr"/>
          <a:lstStyle/>
          <a:p>
            <a:pPr indent="0" marL="0">
              <a:buNone/>
            </a:pPr>
            <a:r>
              <a:rPr lang="en-US" sz="2000" b="1" dirty="0">
                <a:solidFill>
                  <a:srgbClr val="1B6E5A"/>
                </a:solidFill>
                <a:latin typeface="Cambria" pitchFamily="34" charset="0"/>
                <a:ea typeface="Cambria" pitchFamily="34" charset="-122"/>
                <a:cs typeface="Cambria" pitchFamily="34" charset="-120"/>
              </a:rPr>
              <a:t>15 giây</a:t>
            </a:r>
            <a:endParaRPr lang="en-US" sz="2000" dirty="0"/>
          </a:p>
        </p:txBody>
      </p:sp>
      <p:sp>
        <p:nvSpPr>
          <p:cNvPr id="19" name="Text 15"/>
          <p:cNvSpPr txBox="1"/>
          <p:nvPr/>
        </p:nvSpPr>
        <p:spPr>
          <a:xfrm>
            <a:off x="9784080" y="5824728"/>
            <a:ext cx="1783080" cy="274320"/>
          </a:xfrm>
          <a:prstGeom prst="rect">
            <a:avLst/>
          </a:prstGeom>
          <a:noFill/>
          <a:ln/>
        </p:spPr>
        <p:txBody>
          <a:bodyPr wrap="square" lIns="0" tIns="0" rIns="0" bIns="0" rtlCol="0" anchor="ctr"/>
          <a:lstStyle/>
          <a:p>
            <a:pPr indent="0" marL="0">
              <a:buNone/>
            </a:pPr>
            <a:r>
              <a:rPr lang="en-US" sz="1150" dirty="0">
                <a:solidFill>
                  <a:srgbClr val="46545F"/>
                </a:solidFill>
                <a:latin typeface="Calibri" pitchFamily="34" charset="0"/>
                <a:ea typeface="Calibri" pitchFamily="34" charset="-122"/>
                <a:cs typeface="Calibri" pitchFamily="34" charset="-120"/>
              </a:rPr>
              <a:t>để học, chạy trên CPU</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CH2  ·  CÂU MẤT DẤU  ·  14</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Phục hồi sai ở từ nói thường, nhưng sửa được cả câu gõ nửa dấu</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08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14 / 16</a:t>
            </a:r>
            <a:endParaRPr lang="en-US" sz="1000" dirty="0"/>
          </a:p>
        </p:txBody>
      </p:sp>
      <p:sp>
        <p:nvSpPr>
          <p:cNvPr id="7" name="Text 4"/>
          <p:cNvSpPr txBox="1"/>
          <p:nvPr/>
        </p:nvSpPr>
        <p:spPr>
          <a:xfrm>
            <a:off x="594360" y="1783080"/>
            <a:ext cx="5029200" cy="274320"/>
          </a:xfrm>
          <a:prstGeom prst="rect">
            <a:avLst/>
          </a:prstGeom>
          <a:noFill/>
          <a:ln/>
        </p:spPr>
        <p:txBody>
          <a:bodyPr wrap="square" lIns="0" tIns="0" rIns="0" bIns="0" rtlCol="0" anchor="ctr"/>
          <a:lstStyle/>
          <a:p>
            <a:pPr indent="0" marL="0">
              <a:buNone/>
            </a:pPr>
            <a:r>
              <a:rPr lang="en-US" sz="1200" b="1" dirty="0">
                <a:solidFill>
                  <a:srgbClr val="A8202B"/>
                </a:solidFill>
                <a:latin typeface="Consolas" pitchFamily="34" charset="0"/>
                <a:ea typeface="Consolas" pitchFamily="34" charset="-122"/>
                <a:cs typeface="Consolas" pitchFamily="34" charset="-120"/>
              </a:rPr>
              <a:t>PHỤC HỒI SAI</a:t>
            </a:r>
            <a:endParaRPr lang="en-US" sz="1200" dirty="0"/>
          </a:p>
        </p:txBody>
      </p:sp>
      <p:sp>
        <p:nvSpPr>
          <p:cNvPr id="8" name="Text 5"/>
          <p:cNvSpPr txBox="1"/>
          <p:nvPr/>
        </p:nvSpPr>
        <p:spPr>
          <a:xfrm>
            <a:off x="594360" y="2194560"/>
            <a:ext cx="1645920" cy="457200"/>
          </a:xfrm>
          <a:prstGeom prst="rect">
            <a:avLst/>
          </a:prstGeom>
          <a:noFill/>
          <a:ln/>
        </p:spPr>
        <p:txBody>
          <a:bodyPr wrap="square" lIns="0" tIns="0" rIns="0" bIns="0" rtlCol="0" anchor="ctr"/>
          <a:lstStyle/>
          <a:p>
            <a:pPr indent="0" marL="0">
              <a:buNone/>
            </a:pPr>
            <a:r>
              <a:rPr lang="en-US" sz="2200" b="1" dirty="0">
                <a:solidFill>
                  <a:srgbClr val="1B6E5A"/>
                </a:solidFill>
                <a:latin typeface="Cambria" pitchFamily="34" charset="0"/>
                <a:ea typeface="Cambria" pitchFamily="34" charset="-122"/>
                <a:cs typeface="Cambria" pitchFamily="34" charset="-120"/>
              </a:rPr>
              <a:t>tài xế</a:t>
            </a:r>
            <a:endParaRPr lang="en-US" sz="2200" dirty="0"/>
          </a:p>
        </p:txBody>
      </p:sp>
      <p:sp>
        <p:nvSpPr>
          <p:cNvPr id="9" name="Text 6"/>
          <p:cNvSpPr txBox="1"/>
          <p:nvPr/>
        </p:nvSpPr>
        <p:spPr>
          <a:xfrm>
            <a:off x="2331720" y="2194560"/>
            <a:ext cx="457200" cy="457200"/>
          </a:xfrm>
          <a:prstGeom prst="rect">
            <a:avLst/>
          </a:prstGeom>
          <a:noFill/>
          <a:ln/>
        </p:spPr>
        <p:txBody>
          <a:bodyPr wrap="square" lIns="0" tIns="0" rIns="0" bIns="0" rtlCol="0" anchor="ctr"/>
          <a:lstStyle/>
          <a:p>
            <a:pPr indent="0" marL="0">
              <a:buNone/>
            </a:pPr>
            <a:r>
              <a:rPr lang="en-US" sz="2000" dirty="0">
                <a:solidFill>
                  <a:srgbClr val="77858E"/>
                </a:solidFill>
                <a:latin typeface="Calibri" pitchFamily="34" charset="0"/>
                <a:ea typeface="Calibri" pitchFamily="34" charset="-122"/>
                <a:cs typeface="Calibri" pitchFamily="34" charset="-120"/>
              </a:rPr>
              <a:t>→</a:t>
            </a:r>
            <a:endParaRPr lang="en-US" sz="2000" dirty="0"/>
          </a:p>
        </p:txBody>
      </p:sp>
      <p:sp>
        <p:nvSpPr>
          <p:cNvPr id="10" name="Text 7"/>
          <p:cNvSpPr txBox="1"/>
          <p:nvPr/>
        </p:nvSpPr>
        <p:spPr>
          <a:xfrm>
            <a:off x="2880360" y="2194560"/>
            <a:ext cx="1828800" cy="457200"/>
          </a:xfrm>
          <a:prstGeom prst="rect">
            <a:avLst/>
          </a:prstGeom>
          <a:noFill/>
          <a:ln/>
        </p:spPr>
        <p:txBody>
          <a:bodyPr wrap="square" lIns="0" tIns="0" rIns="0" bIns="0" rtlCol="0" anchor="ctr"/>
          <a:lstStyle/>
          <a:p>
            <a:pPr indent="0" marL="0">
              <a:buNone/>
            </a:pPr>
            <a:r>
              <a:rPr lang="en-US" sz="2200" b="1" dirty="0">
                <a:solidFill>
                  <a:srgbClr val="A8202B"/>
                </a:solidFill>
                <a:latin typeface="Cambria" pitchFamily="34" charset="0"/>
                <a:ea typeface="Cambria" pitchFamily="34" charset="-122"/>
                <a:cs typeface="Cambria" pitchFamily="34" charset="-120"/>
              </a:rPr>
              <a:t>tải xe</a:t>
            </a:r>
            <a:endParaRPr lang="en-US" sz="2200" dirty="0"/>
          </a:p>
        </p:txBody>
      </p:sp>
      <p:sp>
        <p:nvSpPr>
          <p:cNvPr id="11" name="Text 8"/>
          <p:cNvSpPr txBox="1"/>
          <p:nvPr/>
        </p:nvSpPr>
        <p:spPr>
          <a:xfrm>
            <a:off x="594360" y="2761488"/>
            <a:ext cx="1645920" cy="457200"/>
          </a:xfrm>
          <a:prstGeom prst="rect">
            <a:avLst/>
          </a:prstGeom>
          <a:noFill/>
          <a:ln/>
        </p:spPr>
        <p:txBody>
          <a:bodyPr wrap="square" lIns="0" tIns="0" rIns="0" bIns="0" rtlCol="0" anchor="ctr"/>
          <a:lstStyle/>
          <a:p>
            <a:pPr indent="0" marL="0">
              <a:buNone/>
            </a:pPr>
            <a:r>
              <a:rPr lang="en-US" sz="2200" b="1" dirty="0">
                <a:solidFill>
                  <a:srgbClr val="1B6E5A"/>
                </a:solidFill>
                <a:latin typeface="Cambria" pitchFamily="34" charset="0"/>
                <a:ea typeface="Cambria" pitchFamily="34" charset="-122"/>
                <a:cs typeface="Cambria" pitchFamily="34" charset="-120"/>
              </a:rPr>
              <a:t>máu</a:t>
            </a:r>
            <a:endParaRPr lang="en-US" sz="2200" dirty="0"/>
          </a:p>
        </p:txBody>
      </p:sp>
      <p:sp>
        <p:nvSpPr>
          <p:cNvPr id="12" name="Text 9"/>
          <p:cNvSpPr txBox="1"/>
          <p:nvPr/>
        </p:nvSpPr>
        <p:spPr>
          <a:xfrm>
            <a:off x="2331720" y="2761488"/>
            <a:ext cx="457200" cy="457200"/>
          </a:xfrm>
          <a:prstGeom prst="rect">
            <a:avLst/>
          </a:prstGeom>
          <a:noFill/>
          <a:ln/>
        </p:spPr>
        <p:txBody>
          <a:bodyPr wrap="square" lIns="0" tIns="0" rIns="0" bIns="0" rtlCol="0" anchor="ctr"/>
          <a:lstStyle/>
          <a:p>
            <a:pPr indent="0" marL="0">
              <a:buNone/>
            </a:pPr>
            <a:r>
              <a:rPr lang="en-US" sz="2000" dirty="0">
                <a:solidFill>
                  <a:srgbClr val="77858E"/>
                </a:solidFill>
                <a:latin typeface="Calibri" pitchFamily="34" charset="0"/>
                <a:ea typeface="Calibri" pitchFamily="34" charset="-122"/>
                <a:cs typeface="Calibri" pitchFamily="34" charset="-120"/>
              </a:rPr>
              <a:t>→</a:t>
            </a:r>
            <a:endParaRPr lang="en-US" sz="2000" dirty="0"/>
          </a:p>
        </p:txBody>
      </p:sp>
      <p:sp>
        <p:nvSpPr>
          <p:cNvPr id="13" name="Text 10"/>
          <p:cNvSpPr txBox="1"/>
          <p:nvPr/>
        </p:nvSpPr>
        <p:spPr>
          <a:xfrm>
            <a:off x="2880360" y="2761488"/>
            <a:ext cx="1828800" cy="457200"/>
          </a:xfrm>
          <a:prstGeom prst="rect">
            <a:avLst/>
          </a:prstGeom>
          <a:noFill/>
          <a:ln/>
        </p:spPr>
        <p:txBody>
          <a:bodyPr wrap="square" lIns="0" tIns="0" rIns="0" bIns="0" rtlCol="0" anchor="ctr"/>
          <a:lstStyle/>
          <a:p>
            <a:pPr indent="0" marL="0">
              <a:buNone/>
            </a:pPr>
            <a:r>
              <a:rPr lang="en-US" sz="2200" b="1" dirty="0">
                <a:solidFill>
                  <a:srgbClr val="A8202B"/>
                </a:solidFill>
                <a:latin typeface="Cambria" pitchFamily="34" charset="0"/>
                <a:ea typeface="Cambria" pitchFamily="34" charset="-122"/>
                <a:cs typeface="Cambria" pitchFamily="34" charset="-120"/>
              </a:rPr>
              <a:t>mẫu</a:t>
            </a:r>
            <a:endParaRPr lang="en-US" sz="2200" dirty="0"/>
          </a:p>
        </p:txBody>
      </p:sp>
      <p:sp>
        <p:nvSpPr>
          <p:cNvPr id="14" name="Text 11"/>
          <p:cNvSpPr txBox="1"/>
          <p:nvPr/>
        </p:nvSpPr>
        <p:spPr>
          <a:xfrm>
            <a:off x="594360" y="3328416"/>
            <a:ext cx="1645920" cy="457200"/>
          </a:xfrm>
          <a:prstGeom prst="rect">
            <a:avLst/>
          </a:prstGeom>
          <a:noFill/>
          <a:ln/>
        </p:spPr>
        <p:txBody>
          <a:bodyPr wrap="square" lIns="0" tIns="0" rIns="0" bIns="0" rtlCol="0" anchor="ctr"/>
          <a:lstStyle/>
          <a:p>
            <a:pPr indent="0" marL="0">
              <a:buNone/>
            </a:pPr>
            <a:r>
              <a:rPr lang="en-US" sz="2200" b="1" dirty="0">
                <a:solidFill>
                  <a:srgbClr val="1B6E5A"/>
                </a:solidFill>
                <a:latin typeface="Cambria" pitchFamily="34" charset="0"/>
                <a:ea typeface="Cambria" pitchFamily="34" charset="-122"/>
                <a:cs typeface="Cambria" pitchFamily="34" charset="-120"/>
              </a:rPr>
              <a:t>đi bộ</a:t>
            </a:r>
            <a:endParaRPr lang="en-US" sz="2200" dirty="0"/>
          </a:p>
        </p:txBody>
      </p:sp>
      <p:sp>
        <p:nvSpPr>
          <p:cNvPr id="15" name="Text 12"/>
          <p:cNvSpPr txBox="1"/>
          <p:nvPr/>
        </p:nvSpPr>
        <p:spPr>
          <a:xfrm>
            <a:off x="2331720" y="3328416"/>
            <a:ext cx="457200" cy="457200"/>
          </a:xfrm>
          <a:prstGeom prst="rect">
            <a:avLst/>
          </a:prstGeom>
          <a:noFill/>
          <a:ln/>
        </p:spPr>
        <p:txBody>
          <a:bodyPr wrap="square" lIns="0" tIns="0" rIns="0" bIns="0" rtlCol="0" anchor="ctr"/>
          <a:lstStyle/>
          <a:p>
            <a:pPr indent="0" marL="0">
              <a:buNone/>
            </a:pPr>
            <a:r>
              <a:rPr lang="en-US" sz="2000" dirty="0">
                <a:solidFill>
                  <a:srgbClr val="77858E"/>
                </a:solidFill>
                <a:latin typeface="Calibri" pitchFamily="34" charset="0"/>
                <a:ea typeface="Calibri" pitchFamily="34" charset="-122"/>
                <a:cs typeface="Calibri" pitchFamily="34" charset="-120"/>
              </a:rPr>
              <a:t>→</a:t>
            </a:r>
            <a:endParaRPr lang="en-US" sz="2000" dirty="0"/>
          </a:p>
        </p:txBody>
      </p:sp>
      <p:sp>
        <p:nvSpPr>
          <p:cNvPr id="16" name="Text 13"/>
          <p:cNvSpPr txBox="1"/>
          <p:nvPr/>
        </p:nvSpPr>
        <p:spPr>
          <a:xfrm>
            <a:off x="2880360" y="3328416"/>
            <a:ext cx="1828800" cy="457200"/>
          </a:xfrm>
          <a:prstGeom prst="rect">
            <a:avLst/>
          </a:prstGeom>
          <a:noFill/>
          <a:ln/>
        </p:spPr>
        <p:txBody>
          <a:bodyPr wrap="square" lIns="0" tIns="0" rIns="0" bIns="0" rtlCol="0" anchor="ctr"/>
          <a:lstStyle/>
          <a:p>
            <a:pPr indent="0" marL="0">
              <a:buNone/>
            </a:pPr>
            <a:r>
              <a:rPr lang="en-US" sz="2200" b="1" dirty="0">
                <a:solidFill>
                  <a:srgbClr val="A8202B"/>
                </a:solidFill>
                <a:latin typeface="Cambria" pitchFamily="34" charset="0"/>
                <a:ea typeface="Cambria" pitchFamily="34" charset="-122"/>
                <a:cs typeface="Cambria" pitchFamily="34" charset="-120"/>
              </a:rPr>
              <a:t>đi bờ</a:t>
            </a:r>
            <a:endParaRPr lang="en-US" sz="2200" dirty="0"/>
          </a:p>
        </p:txBody>
      </p:sp>
      <p:sp>
        <p:nvSpPr>
          <p:cNvPr id="17" name="Text 14"/>
          <p:cNvSpPr txBox="1"/>
          <p:nvPr/>
        </p:nvSpPr>
        <p:spPr>
          <a:xfrm>
            <a:off x="594360" y="4069080"/>
            <a:ext cx="5029200" cy="1097280"/>
          </a:xfrm>
          <a:prstGeom prst="rect">
            <a:avLst/>
          </a:prstGeom>
          <a:noFill/>
          <a:ln/>
        </p:spPr>
        <p:txBody>
          <a:bodyPr wrap="square" lIns="0" tIns="0" rIns="0" bIns="0" rtlCol="0" anchor="t"/>
          <a:lstStyle/>
          <a:p>
            <a:pPr indent="0" marL="0">
              <a:buNone/>
            </a:pPr>
            <a:r>
              <a:rPr lang="en-US" sz="1500" dirty="0">
                <a:solidFill>
                  <a:srgbClr val="46545F"/>
                </a:solidFill>
                <a:latin typeface="Calibri" pitchFamily="34" charset="0"/>
                <a:ea typeface="Calibri" pitchFamily="34" charset="-122"/>
                <a:cs typeface="Calibri" pitchFamily="34" charset="-120"/>
              </a:rPr>
              <a:t>166 câu sai ít nhất một âm tiết. Trong nhóm này, tỷ lệ tìm đúng ở top-10 tụt từ 94,58% xuống 89,76%: mất 9 câu, được 1 câu.</a:t>
            </a:r>
            <a:endParaRPr lang="en-US" sz="1500" dirty="0"/>
          </a:p>
        </p:txBody>
      </p:sp>
      <p:sp>
        <p:nvSpPr>
          <p:cNvPr id="18" name="Text 15"/>
          <p:cNvSpPr txBox="1"/>
          <p:nvPr/>
        </p:nvSpPr>
        <p:spPr>
          <a:xfrm>
            <a:off x="5989320" y="1783080"/>
            <a:ext cx="4572000" cy="274320"/>
          </a:xfrm>
          <a:prstGeom prst="rect">
            <a:avLst/>
          </a:prstGeom>
          <a:noFill/>
          <a:ln/>
        </p:spPr>
        <p:txBody>
          <a:bodyPr wrap="square" lIns="0" tIns="0" rIns="0" bIns="0" rtlCol="0" anchor="ctr"/>
          <a:lstStyle/>
          <a:p>
            <a:pPr indent="0" marL="0">
              <a:buNone/>
            </a:pPr>
            <a:r>
              <a:rPr lang="en-US" sz="1200" b="1" dirty="0">
                <a:solidFill>
                  <a:srgbClr val="1B6E5A"/>
                </a:solidFill>
                <a:latin typeface="Consolas" pitchFamily="34" charset="0"/>
                <a:ea typeface="Consolas" pitchFamily="34" charset="-122"/>
                <a:cs typeface="Consolas" pitchFamily="34" charset="-120"/>
              </a:rPr>
              <a:t>CÂU GÕ NỬA DẤU</a:t>
            </a:r>
            <a:endParaRPr lang="en-US" sz="1200" dirty="0"/>
          </a:p>
        </p:txBody>
      </p:sp>
      <p:graphicFrame>
        <p:nvGraphicFramePr>
          <p:cNvPr id="19" name="Chart 0" descr=""/>
          <p:cNvGraphicFramePr/>
          <p:nvPr/>
        </p:nvGraphicFramePr>
        <p:xfrm>
          <a:off x="5989320" y="2103120"/>
          <a:ext cx="5608015" cy="3520440"/>
        </p:xfrm>
        <a:graphic xmlns:a="http://schemas.openxmlformats.org/drawingml/2006/main">
          <a:graphicData uri="http://schemas.openxmlformats.org/drawingml/2006/chart">
            <c:chart xmlns:c="http://schemas.openxmlformats.org/drawingml/2006/chart" r:id="rId1"/>
          </a:graphicData>
        </a:graphic>
      </p:graphicFrame>
      <p:sp>
        <p:nvSpPr>
          <p:cNvPr id="20" name="Text 16"/>
          <p:cNvSpPr txBox="1"/>
          <p:nvPr/>
        </p:nvSpPr>
        <p:spPr>
          <a:xfrm>
            <a:off x="6126480" y="5623560"/>
            <a:ext cx="3657600" cy="237744"/>
          </a:xfrm>
          <a:prstGeom prst="rect">
            <a:avLst/>
          </a:prstGeom>
          <a:noFill/>
          <a:ln/>
        </p:spPr>
        <p:txBody>
          <a:bodyPr wrap="square" lIns="0" tIns="0" rIns="0" bIns="0" rtlCol="0" anchor="ctr"/>
          <a:lstStyle/>
          <a:p>
            <a:pPr indent="0" marL="0">
              <a:buNone/>
            </a:pPr>
            <a:r>
              <a:rPr lang="en-US" sz="1100" i="1" dirty="0">
                <a:solidFill>
                  <a:srgbClr val="77858E"/>
                </a:solidFill>
                <a:latin typeface="Calibri" pitchFamily="34" charset="0"/>
                <a:ea typeface="Calibri" pitchFamily="34" charset="-122"/>
                <a:cs typeface="Calibri" pitchFamily="34" charset="-120"/>
              </a:rPr>
              <a:t>Recall@10 của hệ hợp nhất (%)</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22C"/>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9FC2DB"/>
                </a:solidFill>
                <a:latin typeface="Consolas" pitchFamily="34" charset="0"/>
                <a:ea typeface="Consolas" pitchFamily="34" charset="-122"/>
                <a:cs typeface="Consolas" pitchFamily="34" charset="-120"/>
              </a:rPr>
              <a:t>KẾT LUẬN  ·  15</a:t>
            </a:r>
            <a:endParaRPr lang="en-US" sz="1100" dirty="0"/>
          </a:p>
        </p:txBody>
      </p:sp>
      <p:sp>
        <p:nvSpPr>
          <p:cNvPr id="3" name="Text 1"/>
          <p:cNvSpPr txBox="1"/>
          <p:nvPr/>
        </p:nvSpPr>
        <p:spPr>
          <a:xfrm>
            <a:off x="594360" y="585216"/>
            <a:ext cx="11002975"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Ba điều nhóm rút ra</a:t>
            </a:r>
            <a:endParaRPr lang="en-US" sz="3200" dirty="0"/>
          </a:p>
        </p:txBody>
      </p:sp>
      <p:sp>
        <p:nvSpPr>
          <p:cNvPr id="4" name="Text 2"/>
          <p:cNvSpPr txBox="1"/>
          <p:nvPr/>
        </p:nvSpPr>
        <p:spPr>
          <a:xfrm>
            <a:off x="594360" y="1783080"/>
            <a:ext cx="3423818" cy="914400"/>
          </a:xfrm>
          <a:prstGeom prst="rect">
            <a:avLst/>
          </a:prstGeom>
          <a:noFill/>
          <a:ln/>
        </p:spPr>
        <p:txBody>
          <a:bodyPr wrap="square" lIns="0" tIns="0" rIns="0" bIns="0" rtlCol="0" anchor="ctr"/>
          <a:lstStyle/>
          <a:p>
            <a:pPr indent="0" marL="0">
              <a:buNone/>
            </a:pPr>
            <a:r>
              <a:rPr lang="en-US" sz="4800" b="1" dirty="0">
                <a:solidFill>
                  <a:srgbClr val="9FC2DB"/>
                </a:solidFill>
                <a:latin typeface="Cambria" pitchFamily="34" charset="0"/>
                <a:ea typeface="Cambria" pitchFamily="34" charset="-122"/>
                <a:cs typeface="Cambria" pitchFamily="34" charset="-120"/>
              </a:rPr>
              <a:t>+0,51</a:t>
            </a:r>
            <a:endParaRPr lang="en-US" sz="4800" dirty="0"/>
          </a:p>
        </p:txBody>
      </p:sp>
      <p:sp>
        <p:nvSpPr>
          <p:cNvPr id="5" name="Text 3"/>
          <p:cNvSpPr txBox="1"/>
          <p:nvPr/>
        </p:nvSpPr>
        <p:spPr>
          <a:xfrm>
            <a:off x="594360" y="2788920"/>
            <a:ext cx="3423818" cy="274320"/>
          </a:xfrm>
          <a:prstGeom prst="rect">
            <a:avLst/>
          </a:prstGeom>
          <a:noFill/>
          <a:ln/>
        </p:spPr>
        <p:txBody>
          <a:bodyPr wrap="square" lIns="0" tIns="0" rIns="0" bIns="0" rtlCol="0" anchor="ctr"/>
          <a:lstStyle/>
          <a:p>
            <a:pPr indent="0" marL="0">
              <a:buNone/>
            </a:pPr>
            <a:r>
              <a:rPr lang="en-US" sz="1200" b="1" dirty="0">
                <a:solidFill>
                  <a:srgbClr val="C9D6DF"/>
                </a:solidFill>
                <a:latin typeface="Consolas" pitchFamily="34" charset="0"/>
                <a:ea typeface="Consolas" pitchFamily="34" charset="-122"/>
                <a:cs typeface="Consolas" pitchFamily="34" charset="-120"/>
              </a:rPr>
              <a:t>CH1  ·  CÂU CÓ DẤU</a:t>
            </a:r>
            <a:endParaRPr lang="en-US" sz="1200" dirty="0"/>
          </a:p>
        </p:txBody>
      </p:sp>
      <p:sp>
        <p:nvSpPr>
          <p:cNvPr id="6" name="Text 4"/>
          <p:cNvSpPr txBox="1"/>
          <p:nvPr/>
        </p:nvSpPr>
        <p:spPr>
          <a:xfrm>
            <a:off x="594360" y="3154680"/>
            <a:ext cx="3423818" cy="13716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Hợp nhất chỉ hơn ngữ nghĩa 4 câu trên 788. BM25 vẫn đáng giữ vì nhanh và giải thích được.</a:t>
            </a:r>
            <a:endParaRPr lang="en-US" sz="1600" dirty="0"/>
          </a:p>
        </p:txBody>
      </p:sp>
      <p:sp>
        <p:nvSpPr>
          <p:cNvPr id="7" name="Text 5"/>
          <p:cNvSpPr txBox="1"/>
          <p:nvPr/>
        </p:nvSpPr>
        <p:spPr>
          <a:xfrm>
            <a:off x="4383938" y="1783080"/>
            <a:ext cx="3423818" cy="914400"/>
          </a:xfrm>
          <a:prstGeom prst="rect">
            <a:avLst/>
          </a:prstGeom>
          <a:noFill/>
          <a:ln/>
        </p:spPr>
        <p:txBody>
          <a:bodyPr wrap="square" lIns="0" tIns="0" rIns="0" bIns="0" rtlCol="0" anchor="ctr"/>
          <a:lstStyle/>
          <a:p>
            <a:pPr indent="0" marL="0">
              <a:buNone/>
            </a:pPr>
            <a:r>
              <a:rPr lang="en-US" sz="4800" b="1" dirty="0">
                <a:solidFill>
                  <a:srgbClr val="7FD1B0"/>
                </a:solidFill>
                <a:latin typeface="Cambria" pitchFamily="34" charset="0"/>
                <a:ea typeface="Cambria" pitchFamily="34" charset="-122"/>
                <a:cs typeface="Cambria" pitchFamily="34" charset="-120"/>
              </a:rPr>
              <a:t>14 → 97</a:t>
            </a:r>
            <a:endParaRPr lang="en-US" sz="4800" dirty="0"/>
          </a:p>
        </p:txBody>
      </p:sp>
      <p:sp>
        <p:nvSpPr>
          <p:cNvPr id="8" name="Text 6"/>
          <p:cNvSpPr txBox="1"/>
          <p:nvPr/>
        </p:nvSpPr>
        <p:spPr>
          <a:xfrm>
            <a:off x="4383938" y="2788920"/>
            <a:ext cx="3423818" cy="274320"/>
          </a:xfrm>
          <a:prstGeom prst="rect">
            <a:avLst/>
          </a:prstGeom>
          <a:noFill/>
          <a:ln/>
        </p:spPr>
        <p:txBody>
          <a:bodyPr wrap="square" lIns="0" tIns="0" rIns="0" bIns="0" rtlCol="0" anchor="ctr"/>
          <a:lstStyle/>
          <a:p>
            <a:pPr indent="0" marL="0">
              <a:buNone/>
            </a:pPr>
            <a:r>
              <a:rPr lang="en-US" sz="1200" b="1" dirty="0">
                <a:solidFill>
                  <a:srgbClr val="C9D6DF"/>
                </a:solidFill>
                <a:latin typeface="Consolas" pitchFamily="34" charset="0"/>
                <a:ea typeface="Consolas" pitchFamily="34" charset="-122"/>
                <a:cs typeface="Consolas" pitchFamily="34" charset="-120"/>
              </a:rPr>
              <a:t>CH2  ·  CÂU MẤT DẤU</a:t>
            </a:r>
            <a:endParaRPr lang="en-US" sz="1200" dirty="0"/>
          </a:p>
        </p:txBody>
      </p:sp>
      <p:sp>
        <p:nvSpPr>
          <p:cNvPr id="9" name="Text 7"/>
          <p:cNvSpPr txBox="1"/>
          <p:nvPr/>
        </p:nvSpPr>
        <p:spPr>
          <a:xfrm>
            <a:off x="4383938" y="3154680"/>
            <a:ext cx="3423818" cy="13716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Mất dấu thì hệ sụp. Bigram học từ chính kho luật kéo lại gần hết, 0,88 ms mỗi câu.</a:t>
            </a:r>
            <a:endParaRPr lang="en-US" sz="1600" dirty="0"/>
          </a:p>
        </p:txBody>
      </p:sp>
      <p:sp>
        <p:nvSpPr>
          <p:cNvPr id="10" name="Text 8"/>
          <p:cNvSpPr txBox="1"/>
          <p:nvPr/>
        </p:nvSpPr>
        <p:spPr>
          <a:xfrm>
            <a:off x="8173517" y="1783080"/>
            <a:ext cx="3423818" cy="914400"/>
          </a:xfrm>
          <a:prstGeom prst="rect">
            <a:avLst/>
          </a:prstGeom>
          <a:noFill/>
          <a:ln/>
        </p:spPr>
        <p:txBody>
          <a:bodyPr wrap="square" lIns="0" tIns="0" rIns="0" bIns="0" rtlCol="0" anchor="ctr"/>
          <a:lstStyle/>
          <a:p>
            <a:pPr indent="0" marL="0">
              <a:buNone/>
            </a:pPr>
            <a:r>
              <a:rPr lang="en-US" sz="4800" b="1" dirty="0">
                <a:solidFill>
                  <a:srgbClr val="F0A0A6"/>
                </a:solidFill>
                <a:latin typeface="Cambria" pitchFamily="34" charset="0"/>
                <a:ea typeface="Cambria" pitchFamily="34" charset="-122"/>
                <a:cs typeface="Cambria" pitchFamily="34" charset="-120"/>
              </a:rPr>
              <a:t>80%</a:t>
            </a:r>
            <a:endParaRPr lang="en-US" sz="4800" dirty="0"/>
          </a:p>
        </p:txBody>
      </p:sp>
      <p:sp>
        <p:nvSpPr>
          <p:cNvPr id="11" name="Text 9"/>
          <p:cNvSpPr txBox="1"/>
          <p:nvPr/>
        </p:nvSpPr>
        <p:spPr>
          <a:xfrm>
            <a:off x="8173517" y="2788920"/>
            <a:ext cx="3423818" cy="274320"/>
          </a:xfrm>
          <a:prstGeom prst="rect">
            <a:avLst/>
          </a:prstGeom>
          <a:noFill/>
          <a:ln/>
        </p:spPr>
        <p:txBody>
          <a:bodyPr wrap="square" lIns="0" tIns="0" rIns="0" bIns="0" rtlCol="0" anchor="ctr"/>
          <a:lstStyle/>
          <a:p>
            <a:pPr indent="0" marL="0">
              <a:buNone/>
            </a:pPr>
            <a:r>
              <a:rPr lang="en-US" sz="1200" b="1" dirty="0">
                <a:solidFill>
                  <a:srgbClr val="C9D6DF"/>
                </a:solidFill>
                <a:latin typeface="Consolas" pitchFamily="34" charset="0"/>
                <a:ea typeface="Consolas" pitchFamily="34" charset="-122"/>
                <a:cs typeface="Consolas" pitchFamily="34" charset="-120"/>
              </a:rPr>
              <a:t>RÒ RỈ DỮ LIỆU</a:t>
            </a:r>
            <a:endParaRPr lang="en-US" sz="1200" dirty="0"/>
          </a:p>
        </p:txBody>
      </p:sp>
      <p:sp>
        <p:nvSpPr>
          <p:cNvPr id="12" name="Text 10"/>
          <p:cNvSpPr txBox="1"/>
          <p:nvPr/>
        </p:nvSpPr>
        <p:spPr>
          <a:xfrm>
            <a:off x="8173517" y="3154680"/>
            <a:ext cx="3423818" cy="13716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Mô hình phổ biến nhất đã học tập train Zalo. Đọc model card trước khi tin một con số benchmark.</a:t>
            </a:r>
            <a:endParaRPr lang="en-US" sz="1600" dirty="0"/>
          </a:p>
        </p:txBody>
      </p:sp>
      <p:sp>
        <p:nvSpPr>
          <p:cNvPr id="13" name="Text 11"/>
          <p:cNvSpPr txBox="1"/>
          <p:nvPr/>
        </p:nvSpPr>
        <p:spPr>
          <a:xfrm>
            <a:off x="594360" y="4892040"/>
            <a:ext cx="11002975" cy="548640"/>
          </a:xfrm>
          <a:prstGeom prst="rect">
            <a:avLst/>
          </a:prstGeom>
          <a:noFill/>
          <a:ln/>
        </p:spPr>
        <p:txBody>
          <a:bodyPr wrap="square" lIns="0" tIns="0" rIns="0" bIns="0" rtlCol="0" anchor="t"/>
          <a:lstStyle/>
          <a:p>
            <a:pPr indent="0" marL="0">
              <a:buNone/>
            </a:pPr>
            <a:r>
              <a:rPr lang="en-US" sz="1300" dirty="0">
                <a:solidFill>
                  <a:srgbClr val="9AA8B2"/>
                </a:solidFill>
                <a:latin typeface="Calibri" pitchFamily="34" charset="0"/>
                <a:ea typeface="Calibri" pitchFamily="34" charset="-122"/>
                <a:cs typeface="Calibri" pitchFamily="34" charset="-120"/>
              </a:rPr>
              <a:t>Giới hạn: câu không dấu và nửa dấu do máy tạo, chưa có câu người thật gõ  ·  nhãn không đầy đủ nên Recall là cận dưới  ·  mỗi cấu hình một seed</a:t>
            </a:r>
            <a:endParaRPr lang="en-US" sz="1300" dirty="0"/>
          </a:p>
        </p:txBody>
      </p:sp>
      <p:sp>
        <p:nvSpPr>
          <p:cNvPr id="14" name="Text 12"/>
          <p:cNvSpPr txBox="1"/>
          <p:nvPr/>
        </p:nvSpPr>
        <p:spPr>
          <a:xfrm>
            <a:off x="594360" y="5715000"/>
            <a:ext cx="11002975" cy="411480"/>
          </a:xfrm>
          <a:prstGeom prst="rect">
            <a:avLst/>
          </a:prstGeom>
          <a:noFill/>
          <a:ln/>
        </p:spPr>
        <p:txBody>
          <a:bodyPr wrap="square" lIns="0" tIns="0" rIns="0" bIns="0" rtlCol="0" anchor="ctr"/>
          <a:lstStyle/>
          <a:p>
            <a:pPr algn="r" indent="0" marL="0">
              <a:buNone/>
            </a:pPr>
            <a:r>
              <a:rPr lang="en-US" sz="1800" b="1" dirty="0">
                <a:solidFill>
                  <a:srgbClr val="FFFFFF"/>
                </a:solidFill>
                <a:latin typeface="Calibri" pitchFamily="34" charset="0"/>
                <a:ea typeface="Calibri" pitchFamily="34" charset="-122"/>
                <a:cs typeface="Calibri" pitchFamily="34" charset="-120"/>
              </a:rPr>
              <a:t>Tiếp theo: demo trên Kaggle  →</a:t>
            </a:r>
            <a:endParaRPr lang="en-US" sz="1800" dirty="0"/>
          </a:p>
        </p:txBody>
      </p:sp>
      <p:sp>
        <p:nvSpPr>
          <p:cNvPr id="15" name="Text 1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9AA8B2"/>
                </a:solidFill>
                <a:latin typeface="Consolas" pitchFamily="34" charset="0"/>
                <a:ea typeface="Consolas" pitchFamily="34" charset="-122"/>
                <a:cs typeface="Consolas" pitchFamily="34" charset="-120"/>
              </a:rPr>
              <a:t>15 / 16</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PHỤ LỤC  ·  16</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Tài liệu tham khảo</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08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16 / 16</a:t>
            </a:r>
            <a:endParaRPr lang="en-US" sz="1000" dirty="0"/>
          </a:p>
        </p:txBody>
      </p:sp>
      <p:sp>
        <p:nvSpPr>
          <p:cNvPr id="7" name="Text 4"/>
          <p:cNvSpPr txBox="1"/>
          <p:nvPr/>
        </p:nvSpPr>
        <p:spPr>
          <a:xfrm>
            <a:off x="594360" y="1417320"/>
            <a:ext cx="5410048" cy="4937760"/>
          </a:xfrm>
          <a:prstGeom prst="rect">
            <a:avLst/>
          </a:prstGeom>
          <a:noFill/>
          <a:ln/>
        </p:spPr>
        <p:txBody>
          <a:bodyPr wrap="square" lIns="0" tIns="0" rIns="0" bIns="0" rtlCol="0" anchor="t"/>
          <a:lstStyle/>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[1] Robertson, S., &amp; Zaragoza, H. (2009). The Probabilistic Relevance Framework: BM25 and Beyond. Foundations and Trends in Information Retrieval, 3(4).</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[2] Cormack, G. V., Clarke, C. L. A., &amp; Büttcher, S. (2009). Reciprocal Rank Fusion Outperforms Condorcet and Individual Rank Learning Methods. SIGIR 2009.</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[3] Karpukhin, V., et al. (2020). Dense Passage Retrieval for Open-Domain Question Answering. EMNLP 2020.</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[4] Nguyen, D. Q., &amp; Nguyen, A. T. (2020). PhoBERT: Pre-trained Language Models for Vietnamese. Findings of EMNLP 2020.</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[5] Gao, L., Zhang, Y., Han, J., &amp; Callan, J. (2021). Scaling Deep Contrastive Learning Batch Size under Memory Limited Setup. RepL4NLP 2021.</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[6] Chen, J., Xiao, S., Zhang, P., Luo, K., Lian, D., &amp; Liu, Z. (2024). BGE M3-Embedding: Multi-Lingual, Multi-Functionality, Multi-Granularity Text Embeddings Through Self-Knowledge Distillation. arXiv:2402.03216.</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[7] Bruch, S., Gai, S., &amp; Ingber, A. (2023). An Analysis of Fusion Functions for Hybrid Retrieval. ACM Transactions on Information Systems, 42(1).</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[8] Rosa, G. M., Rodrigues, R. C., Lotufo, R., &amp; Nogueira, R. (2021). Yes, BM25 is a Strong Baseline for Legal Case Retrieval. arXiv:2105.05686.</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[9] Pham, N.-M., Nguyen, H.-T., &amp; Do, T.-H. (2022). Multi-stage Information Retrieval for Vietnamese Legal Texts. PKAW 2022. arXiv:2209.14494.</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[10] Nguyen Hoang Gia Khang, Nguyen Minh Nhat, Trung Nguyen Quoc, &amp; Vinh Truong Hoang (2024). Vietnamese Legal Text Retrieval based on Sparse and Dense Retrieval approaches. Procedia Computer Science.</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[11] Nguyen Ba, T., Doan The, V., Pham Quang, T., &amp; Tran Van, T. (2024). Vietnamese Legal Information Retrieval in Question-Answering System. arXiv:2409.13699.</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[12] Pham Tien, S., Nguyen Doan, H., Nguyen Dai, A., &amp; Dinh Viet, S. (2024). Improving Vietnamese Legal Document Retrieval using Synthetic Data. arXiv:2412.00657.</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[13] Le, V.-H., Nguyen, D.-V., Nguyen, K. V., &amp; Nguyen, N. L.-T. (2025). Optimizing Legal Document Retrieval in Vietnamese with Semi-Hard Negative Mining. ICCCI 2025. arXiv:2507.14619.</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[14] Giang, N. T., Duc, T. M., Dang, N. M., &amp; Trang, N. T. M. (2026). Optimizing Retrieval Strategies for Vietnamese Legal RAG Systems. CIT&amp;DS 2025, CCIS vol. 2803, Springer.</a:t>
            </a:r>
            <a:endParaRPr lang="en-US" sz="950" dirty="0"/>
          </a:p>
        </p:txBody>
      </p:sp>
      <p:sp>
        <p:nvSpPr>
          <p:cNvPr id="8" name="Text 5"/>
          <p:cNvSpPr txBox="1"/>
          <p:nvPr/>
        </p:nvSpPr>
        <p:spPr>
          <a:xfrm>
            <a:off x="6187288" y="1417320"/>
            <a:ext cx="5410048" cy="4937760"/>
          </a:xfrm>
          <a:prstGeom prst="rect">
            <a:avLst/>
          </a:prstGeom>
          <a:noFill/>
          <a:ln/>
        </p:spPr>
        <p:txBody>
          <a:bodyPr wrap="square" lIns="0" tIns="0" rIns="0" bIns="0" rtlCol="0" anchor="t"/>
          <a:lstStyle/>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[15] Tran, D. X., Truong, T. D., &amp; Nguyen, K. C. (2025). ViDRILL: A Multi-Stage Retrieval Framework for Vietnamese Legal Document Search. VLSP 2025, tr. 120-126.</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[16] Nguyen, C., et al. (2023). A Summary of the ALQAC 2023 Competition. KSE 2023.</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[17] Nguyen, L. S. T., &amp; Quan, T. T. (2026). Which Works Best for Vietnamese? A Practical Study of Information Retrieval Methods across Domains. Findings of EACL 2026.</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[18] Enevoldsen, K., et al. (2025). MMTEB: Massive Multilingual Text Embedding Benchmark. ICLR 2025.</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[19] Chung, I., Kerboua, I., Kardos, M., Solomatin, R., &amp; Enevoldsen, K. (2025). Maintaining MTEB: Towards Long Term Usability and Reproducibility of Embedding Benchmarks. arXiv:2506.21182.</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[20] CuongNN218. zalo_ltr_2021: Source code for Zalo AI 2021 submission. https://github.com/CuongNN218/zalo_ltr_2021</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[21] hieudx149. ZaloAI2021_LTR. https://github.com/hieudx149/ZaloAI2021_LTR</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[22] BKAI Foundation Models. vietnamese-bi-encoder (model card). https://huggingface.co/bkai-foundation-models/vietnamese-bi-encoder</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[23] darklethelong. vnlegal-lal (model card). https://huggingface.co/darklethelong/vnlegal-lal</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[24] AITeamVN. Vietnamese_Embedding (model card). https://huggingface.co/AITeamVN/Vietnamese_Embedding</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[25] Pham, T.-H., Pham, X.-K., &amp; Le-Hong, P. (2017). On the Use of Machine Translation-Based Approaches for Vietnamese Diacritic Restoration. IALP 2017. arXiv:1709.07104.</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[26] Le-Hong, P. (2021). Diacritics Generation and Application in Hate Speech Detection on Vietnamese Social Networks. Knowledge-Based Systems, 233.</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[27] GreenNode. zalo-ai-legal-text-retrieval-vn (dataset card). https://huggingface.co/datasets/GreenNode/zalo-ai-legal-text-retrieval-vn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 kiem dieu luat tieng Viet cho cau hoi go thieu dau</dc:title>
  <dc:subject>PptxGenJS Presentation</dc:subject>
  <dc:creator>Nhom 08</dc:creator>
  <cp:lastModifiedBy>Nhom 08</cp:lastModifiedBy>
  <cp:revision>1</cp:revision>
  <dcterms:created xsi:type="dcterms:W3CDTF">2026-09-22T07:26:31Z</dcterms:created>
  <dcterms:modified xsi:type="dcterms:W3CDTF">2026-09-22T07:26:31Z</dcterms:modified>
</cp:coreProperties>
</file>
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ĐẦU. Nói chậm, nhìn thầy. Khoảng 20 giây.
"Em xin chào thầy và các bạn. Nhóm 09 báo cáo đề tài Truy hồi điều luật tiếng Việt cho câu hỏi gõ không dấu."
Nếu cần nói đề tài bằng một câu: "Mô hình ngữ nghĩa sạch tốt nhất tụt từ 97 xuống 12 phần trăm khi người dân gõ không dấu. Nhóm đo điều đó cho sạch, rồi sửa nó bằng một mô hình ngôn ngữ nhỏ học từ chính kho luật."
Đừng đọc lại tên từng thành viên, thầy đã có danh sách. Chuyển slide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lướt 6 mục, KHÔNG giải thích gì ở đây. Khoảng 15 giây.
"Bài báo cáo gồm 6 phần. Phần nhóm muốn thầy chú ý nhất là phần 5: khi người dân gõ không dấu."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30 giây.
"Đầu vào là một câu hỏi pháp luật viết bằng tiếng Việt tự nhiên. Đầu ra là danh sách điều luật xếp hạng, kèm điểm và những từ đã khớp. Kho tra cứu có 61.425 điều luật thuộc 3.271 văn bản."
Chỉ vào ví dụ: "Người dân gõ 'nướng bắp trên cầu phạt bao nhiêu tiền'. Điều luật đúng lại viết là 'sử dụng trái phép đất của đường bộ'. Không một từ nào trùng nhau. Đó chính là chỗ khó."
Chỉ vào dòng đỏ: "Và khó hơn nữa, rất nhiều người gõ đúng câu đó mà không có dấu. Đây là thách thức nhóm tập trung vào."
NẾU THẦY HỎI "sao không sinh luôn câu trả lời": đề tài là truy hồi. Trả về sai điều luật kèm một câu trả lời trôi chảy còn nguy hiểm hơn trả về sai điều luật.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Không đọc hết bảng, chỉ đọc cột bên phải.
Dòng 1: "Ghép BM25 với mô hình ngữ nghĩa cho văn bản tiếng Việt thì từ các đội Zalo 2021 tới EACL 2026 đều đã làm, và đều kết luận ghép thì tốt hơn. Bài EACL 2026 còn so đúng ba cách này trên 10 bộ dữ liệu. Nếu nhóm chỉ lặp lại phép so đó thì không có gì mới."
Dòng 2 và 3, nói nhanh: "Có hướng làm mô hình ngữ nghĩa mạnh hơn, trong đó có bài của nhóm tác giả UIT năm 2025. Và có bài phân tích cách hợp nhất của Bruch và cộng sự."
Dòng 4, nói chậm: "Phục hồi dấu tiếng Việt thì đã được nghiên cứu kỹ, đạt khoảng 97 phần trăm. Nhưng nó được đo như một bài toán riêng, chưa ai đo nó ảnh hưởng thế nào tới tìm luật."
NẾU THẦY HỎI "đọc hết chưa": nhóm đối chiếu theo phần tóm tắt, mã nguồn và model card. Danh sách đầy đủ ở slide cuối và trong docs/NGHIEN_CUU_LIEN_QUAN.md.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Đây là slide trả lời "vì sao chọn hướng này". Nói chậm ở ô số 1.
"Từ các nghiên cứu đó, nhóm thấy bốn điều chưa ai báo cáo."
Ô 1, quan trọng nhất: "Mọi bài tìm luật đều chấm trên câu hỏi có dấu đầy đủ. Còn các bài phục hồi dấu thì không đo tìm luật. Không ai biết hệ đứng vững thế nào khi người dân gõ không dấu."
Ô 2 tới 4, nói nhanh: "Mô hình đã thấy dữ liệu chưa, split gốc có sạch không, và cách ghép thì chọn theo thói quen."
Đọc hai câu hỏi nghiên cứu. Nối: "Câu hỏi 1 là điều kiện để trả lời câu hỏi 2: muốn biết không dấu làm hỏng bao nhiêu thì phải có một mốc có dấu đo sạch trước."
NẾU THẦY HỎI "chắc chưa ai làm không": nhóm chỉ khẳng định trong những bài đã xem, theo phần tóm tắt và mã nguồn công bố.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"Bộ dữ liệu Zalo AI Challenge 2021, bản trên HuggingFace, giấy phép MIT, đã được đưa vào MTEB. 61.425 điều luật, 3.196 câu hỏi. Nhóm vẫn kiểm toán lại từ đầu và tìm ra sáu vấn đề, mỗi vấn đề để lại một tệp bằng chứng trong reports/audit."
Chỉ vào cột đỏ: "26 câu hỏi nằm ở cả train lẫn test. Đây là rò rỉ, slide sau em nói kỹ."
Chỉ vào ô cam: "Và có bốn văn bản bị tách đôi chỉ vì dấu: nd-cp và nđ-cp. Chuyện dấu tiếng Việt đã gây lỗi ngay trong dữ liệu gốc."
NẾU THẦY HỎI "sao không xóa điều trùng đi": kho luật thật thì có điều trùng thật, xóa đi làm bài toán dễ đi một cách giả tạo.
NẾU THẦY HỎI về tập val: bộ gốc không có val, nhóm cắt val ra từ train theo câu hỏi, seed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Slide này là điểm nhấn của phần kiểm toán.
"24 câu hỏi nằm ở cả train lẫn test. Nhưng chúng không phải dòng lặp. Với CẢ 24 TRÊN 24 CÂU, tệp train chỉ sang một điều luật, tệp test chỉ sang một điều luật khác hẳn."
Đọc dòng đầu của bảng: "Cùng câu hỏi về thương tật 25%, train bảo đáp án là Bộ luật Hình sự sửa đổi, test bảo là Bộ luật Tố tụng Hình sự. Cả hai đều là điều luật có thật và đều liên quan."
Chốt: "Nghĩa là bộ nhãn KHÔNG ĐẦY ĐỦ. Mọi con số Recall trong báo cáo này đều là cận dưới. Hệ có thể trả về một điều luật đúng mà vẫn bị chấm sai, chỉ vì người gán nhãn không liệt kê điều đó."
Thú nhận luôn nếu thầy hỏi kỹ: bản dựng đầu tiên của script đã gộp nhầm cả hai vào test, làm test phình từ 793 lên 818 cặp. Lỗi bị bắt khi đối chiếu lại số dòng với tệp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Phát hiện lớn nhất của phần kiểm toán, nói kỹ.
Phần trên: "Sau khi loại 26 câu hỏi rò rỉ, nhóm chia lại: train 1925, val 481, test 788 câu hỏi. Test giữ nguyên vẹn của ban tổ chức."
Phần dưới, nói chậm: "Nhưng chống rò rỉ không dừng ở chia lại tập. Nhóm đọc model card của bkai, mô hình bi-encoder tiếng Việt phổ biến nhất. Nó ghi rõ: được huấn luyện trên 80% tập train của Zalo 2021. Mà tập test của nhóm lại cắt ra từ đúng tập train đó."
"Nghĩa là mô hình đã nhìn thấy phần lớn câu hỏi test kèm nhãn đúng. Gọi nó là zero-shot là sai."
"Nhóm vì thế chuyển sang AITeamVN, mô hình ghi rõ trong model card rằng không huấn luyện trên bộ này, làm mô hình sạch cho con số chính thức."
NẾU THẦY HỎI "sao tin model card": không kiểm chứng trực tiếp được, nên nhóm ghi rõ đây là tuyên bố của tác giả mô hình, không phải kết quả nhóm tự đo.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30 giây. Chỉ nói hộp đỏ và hai nhánh, phần tách từ và gộp max chỉ nói khi bị hỏi.
Hộp đỏ: "Câu hỏi đi vào trước hết một khâu kiểm dấu. Câu có dấu đi thẳng qua. Câu không dấu được phục hồi dấu bằng một mô hình bigram học từ chính kho luật. Phần 5 sẽ nói vì sao cần khâu này."
"Sau đó câu hỏi đi vào hai nhánh song song. Nhánh trên là BM25 trên 61.425 điều luật đã tách từ. Nhánh dưới là bi-encoder trên 154.176 đoạn, rồi gộp về điều bằng cách lấy điểm cao nhất. Hai nhánh cùng trả top-100, tầng thứ ba hợp nhất lại."
Nhấn vào chỗ tách từ: "Tách từ rất quan trọng với tiếng Việt. Bằng lái xe là một khái niệm. Tách theo khoảng trắng thì chữ bằng khớp nhầm với bằng chứng."
Nhấn vào chỗ gộp max: "Lấy điểm cao nhất chứ không lấy trung bình, vì câu trả lời thường nằm gọn trong một khoản. Lấy trung bình thì các khoản không liên quan kéo điểm xuống. Nhóm đo cả hai cách trên val: max 0,9563 còn mean 0,9127."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45 giây. Slide này trả lời câu hỏi nghiên cứu 1. Nói chậm và chỉ tay.
"788 câu hỏi, chấm đúng một lần, dùng tham số đã chốt trên val."
Chỉ vào ba dòng trên: "Ba dòng đầu là các hệ SẠCH. BM25 một mình được Recall@10 0,8522. Ngữ nghĩa một mình 0,9721. Hợp nhất có trọng số 0,9772."
Chỉ vào khung xanh lá, trả lời thẳng câu hỏi 1: "Hợp nhất chỉ hơn ngữ nghĩa thuần 0,50 điểm phần trăm, tức 4 câu trên 788. Có cải thiện nhưng rất nhỏ. Và cách ghép có trọng số thắng RRF, đúng như Bruch và cộng sự."
Chỉ vào hai dòng xám: "Hai dòng dưới trông đẹp hơn, nhưng dùng mô hình đã thấy dữ liệu test. Nhóm để đây để thấy một con số benchmark bị thổi lên dễ thế nào."
Chuyển slide: "Vậy BM25 có vô dụng không? Câu trả lời nằm ở phần sau, khi người dân gõ không dấu."
NẾU THẦY HỎI "F2 sao thấp": F2 ở đây cố định k = 10 nên precision tối đa chỉ 0,1. Ban tổ chức Zalo cho phép trả về số kết quả thay đổi được nên con số của họ không so trực tiếp được.
NẾU THẦY HỎI về bảng bốn ô BM25 và ngữ nghĩa: mở phụ lục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Đây là kết quả chính của đồ án. Nói chậm, chỉ tay vào biểu đồ.
"Nhóm lấy đúng 788 câu hỏi test, bỏ hết dấu, giữ nguyên nhãn. Rồi chạy lại đúng hệ vừa rồi."
Chỉ vào ba thanh đỏ: "Mô hình ngữ nghĩa sạch tốt nhất tụt từ 97,21 xuống 12,44 phần trăm. BM25 còn 6,22. Hợp nhất cũng chỉ 14,47. Cả hệ gần như không dùng được."
Chỉ vào thanh cam: "Chỉ cần lập chỉ mục BM25 trên văn bản đã bỏ dấu, không cần mô hình nào, BM25 lên lại 74,30, gấp 6 lần mô hình ngữ nghĩa. Ở câu có dấu BM25 gần như vô dụng, ở đây nó lại là tầng đứng vững nhất."
Chỉ vào thanh xanh lá: "Và cách tốt nhất là phục hồi dấu trước khi tìm. Slide sau."
NẾU THẦY HỎI "vì sao mô hình ngữ nghĩa sụp": giả thuyết của nhóm là mô hình học chủ yếu trên văn bản có dấu, nên 'phat' và 'phạt' bị tách thành những token khác hẳn nhau. Nhóm chưa kiểm chứng trực tiếp giả thuyết này.
NẾU THẦY HỎI "câu không dấu này có thật không": là câu gốc bị bỏ dấu bằng máy, nên nhãn giữ nguyên được. Chưa có câu gõ tay thật, ghi rõ ở phần giới hạn.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Trả lời câu hỏi nghiên cứu 2.
Khung trái: "Cách làm rất đơn giản. Đếm cặp âm tiết liền nhau trên 18,6 triệu âm tiết của chính kho luật. Một âm tiết không dấu như 'phat' có nhiều ứng viên: phát, phạt, phắt. Thuật toán Viterbi chọn chuỗi ứng viên có xác suất cao nhất. Không cần tải mô hình nào, học trong vài giây."
Khung phải: "Kết quả: 98,41 phần trăm âm tiết đúng, khoảng 1,0 mili giây mỗi câu. Hệ lai lên lại 96,70 phần trăm, chỉ kém câu có dấu 1,02 điểm."
Khung đỏ, nói thẳng chỗ sai: "Phục hồi sai rơi vào từ nói thường mà văn bản luật không dùng. Tài xế thành tải xe, máu thành mẫu. Đây lại chính là khoảng cách từ vựng ở slide 3."
Khung xanh lá: "Bộ định tuyến không nhận nhầm câu gốc nào, nên câu có dấu vẫn giữ nguyên 97,72."
NẾU THẦY HỎI "sao không dùng mô hình phục hồi dấu có sẵn": các mô hình dịch máy đạt khoảng 97 phần trăm, cùng mức với bigram này, nhưng phải tải và chạy thêm một mô hình lớn. Nhóm chưa so trên cùng bộ dữ liệu nên không nói hơn kém.
NẾU THẦY HỎI "sao không mã hóa lại cả kho ở dạng không dấu": chưa đo, nên không trả lời bằng số được. Phục hồi dấu có lợi thế là giữ nguyên toàn bộ hệ phía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Nói chậm, đây là ấn tượng cuối cùng.
"Một, câu hỏi nghiên cứu 1: với câu có dấu, hợp nhất chỉ hơn ngữ nghĩa thuần 0,50 điểm phần trăm, tức 4 câu trên 788. Có cải thiện nhưng rất nhỏ."
"Hai, câu hỏi nghiên cứu 2, và đây là điều nhóm muốn thầy nhớ: khi người dân gõ không dấu, mô hình ngữ nghĩa tốt nhất chỉ còn 12,44 phần trăm. Một mô hình bigram nhỏ học từ chính kho luật kéo hệ về 96,70. Và BM25, tầng tưởng như vô dụng, lại là tầng đứng vững nhất khi không có dấu."
"Ba, chống rò rỉ dữ liệu không dừng ở chia lại tập. Mô hình tiền huấn luyện mình đem dùng cũng có thể đã thấy tập test rồi."
Kết: "Em xin hết. Nhóm xin demo code ngay sau đây."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PHỤ LỤC, không trình bày trong 7 phút. Mở slide này khi thầy hỏi về chia đoạn.
"PhoBERT chỉ nhận 256 token, tương đương khoảng 140 từ tiếng Việt. Đường đứt đỏ là cái trần đó. 61,1 phần trăm điều luật nằm bên phải đường này."
"Cắt cụt là vứt phần đuôi của phần lớn số điều. Mà đuôi điều luật thường là chỗ ghi mức phạt và các trường hợp ngoại lệ, đúng thứ người dân hay hỏi."
"Nhóm cắt theo ranh giới khoản trước, chỉ khi một khoản tự nó quá dài mới cắt bằng cửa sổ trượt. Kết quả 61.425 điều thành 154.176 đoạn, trung bình 2,51 đoạn mỗi điều."
NẾU THẦY HỎI "sao không dùng mô hình ngữ cảnh dài": có, AITeamVN nhận tới 8192 token. Nhưng nhóm cho cả hai bộ mã hóa ăn cùng một bộ đoạn để biến duy nhất là bộ mã hóa.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PHỤ LỤC, không trình bày trong 7 phút. Mở khi thầy hỏi chi tiết về câu hỏi nghiên cứu 1.
"Bảng bốn ô, tính ở top-10, với mô hình sạch. 669 câu cả hai tầng đều đúng. 98 câu chỉ ngữ nghĩa đúng. Nhưng chỉ 3 câu trên 788 là chỉ BM25 đúng."
Nói chậm câu này: "Nghĩa là BM25 chỉ cứu được 3 câu hỏi mà tầng ngữ nghĩa bỏ lỡ, tức 0,38 điểm phần trăm."
Chỉ vào bảng phải: "Ngữ nghĩa một mình đúng 97,34 phần trăm số câu. Hợp nhất được 97,84 phần trăm. Chênh nhau 0,50 điểm phần trăm, tức 4 câu hỏi trên 788."
NẾU THẦY HỎI về dòng cuối bảng: "Đó là trần khi phép hợp chỉ lấy top-10 của mỗi tầng. Hệ thật hợp nhất từ top-100, nên nó kéo được cả điều luật đứng hạng 11 tới 100 lên, và vượt dòng đó 0,12 điểm."
Kết luận trung thực: "Có cải thiện nhưng rất nhỏ. Mỗi cấu hình chỉ chạy một seed nên nhóm không có cơ sở nói về biên độ nhiễu, và không dám gọi 0,50 điểm là đáng kể."
Nhấn thêm: "RRF còn KÉM HƠN ngữ nghĩa một mình, Recall@1 tụt từ 0,7811 xuống 0,6701. Vì RRF chỉ nhìn thứ hạng nên nó để BM25 kéo tụt những xếp hạng vốn đã tốt."
Đối chiếu nghiên cứu trước, một câu: "Kết quả này khớp với Bruch và cộng sự năm 2023: tổng có trọng số hơn RRF khi được chỉnh trên 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PHỤ LỤC, không trình bày trong 7 phút. Mở khi thầy hỏi hệ sai ở đâu. Nếu phải nói thì khoảng 45 giây.
"Hệ sạch tốt nhất sai 17 trên 788 câu hỏi. Nhóm đọc tay cả 17 ca, không đoán."
Chỉ vào nhóm lớn nhất: "10 ca là thiếu ngữ cảnh pháp lý. Ví dụ câu nướng bắp trên cầu ở slide 3: phải biết luật gọi hành vi đó là sử dụng trái phép đất của đường bộ mới tìm ra."
Chỉ vào nhóm cuối: "Và có 2 ca mà nhóm cho rằng nhãn gold đáng ngờ. Ví dụ câu hỏi người bắt buộc chữa bệnh sẽ chữa ở đâu: hệ trả về đúng điều Tổ chức điều trị cho người bị bắt buộc chữa bệnh, còn nhãn lại ghi điều khác."
Nói thẳng: "Nhóm không giấu chỗ này. Nó củng cố nhận định ở slide 7 rằng bộ nhãn không đầy đủ."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PHỤ LỤC. Danh sách đọc thẳng từ docs/NGHIEN_CUU_LIEN_QUAN.md, không gõ lại trong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g/cover.png">    </p:cNvPr>
          <p:cNvPicPr>
            <a:picLocks noChangeAspect="1"/>
          </p:cNvPicPr>
          <p:nvPr/>
        </p:nvPicPr>
        <p:blipFill>
          <a:blip r:embed="rId1"/>
          <a:stretch>
            <a:fillRect/>
          </a:stretch>
        </p:blipFill>
        <p:spPr>
          <a:xfrm>
            <a:off x="0" y="0"/>
            <a:ext cx="9144000" cy="6858000"/>
          </a:xfrm>
          <a:prstGeom prst="rect">
            <a:avLst/>
          </a:prstGeom>
        </p:spPr>
      </p:pic>
      <p:sp>
        <p:nvSpPr>
          <p:cNvPr id="3" name="Shape 0"/>
          <p:cNvSpPr/>
          <p:nvPr/>
        </p:nvSpPr>
        <p:spPr>
          <a:xfrm>
            <a:off x="0" y="0"/>
            <a:ext cx="9144000" cy="658368"/>
          </a:xfrm>
          <a:prstGeom prst="rect">
            <a:avLst/>
          </a:prstGeom>
          <a:solidFill>
            <a:srgbClr val="303030"/>
          </a:solidFill>
          <a:ln/>
        </p:spPr>
      </p:sp>
      <p:sp>
        <p:nvSpPr>
          <p:cNvPr id="4" name="Text 1"/>
          <p:cNvSpPr txBox="1"/>
          <p:nvPr/>
        </p:nvSpPr>
        <p:spPr>
          <a:xfrm>
            <a:off x="384048" y="0"/>
            <a:ext cx="8412480" cy="65836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Trường Đại học Công nghệ Thông tin – Đại học Quốc gia TP. Hồ Chí Minh</a:t>
            </a:r>
            <a:endParaRPr lang="en-US" sz="1400" dirty="0"/>
          </a:p>
        </p:txBody>
      </p:sp>
      <p:sp>
        <p:nvSpPr>
          <p:cNvPr id="5" name="Shape 2"/>
          <p:cNvSpPr/>
          <p:nvPr/>
        </p:nvSpPr>
        <p:spPr>
          <a:xfrm>
            <a:off x="384048" y="1234440"/>
            <a:ext cx="2468880" cy="822960"/>
          </a:xfrm>
          <a:prstGeom prst="rect">
            <a:avLst/>
          </a:prstGeom>
          <a:solidFill>
            <a:srgbClr val="303030">
              <a:alpha val="88000"/>
            </a:srgbClr>
          </a:solidFill>
          <a:ln/>
        </p:spPr>
      </p:sp>
      <p:sp>
        <p:nvSpPr>
          <p:cNvPr id="6" name="Text 3"/>
          <p:cNvSpPr txBox="1"/>
          <p:nvPr/>
        </p:nvSpPr>
        <p:spPr>
          <a:xfrm>
            <a:off x="384048" y="1234440"/>
            <a:ext cx="2468880" cy="822960"/>
          </a:xfrm>
          <a:prstGeom prst="rect">
            <a:avLst/>
          </a:prstGeom>
          <a:noFill/>
          <a:ln/>
        </p:spPr>
        <p:txBody>
          <a:bodyPr wrap="square" lIns="1524" tIns="1524" rIns="1524" bIns="1524" rtlCol="0" anchor="ctr"/>
          <a:lstStyle/>
          <a:p>
            <a:pPr indent="0" marL="0">
              <a:buNone/>
            </a:pPr>
            <a:r>
              <a:rPr lang="en-US" sz="1250" b="1" dirty="0">
                <a:solidFill>
                  <a:srgbClr val="FFFFFF"/>
                </a:solidFill>
                <a:latin typeface="Arial" pitchFamily="34" charset="0"/>
                <a:ea typeface="Arial" pitchFamily="34" charset="-122"/>
                <a:cs typeface="Arial" pitchFamily="34" charset="-120"/>
              </a:rPr>
              <a:t>Tháng 9, 2026
</a:t>
            </a:r>
            <a:pPr indent="0" marL="0">
              <a:buNone/>
            </a:pPr>
            <a:r>
              <a:rPr lang="en-US" sz="1250" dirty="0">
                <a:solidFill>
                  <a:srgbClr val="FFFFFF"/>
                </a:solidFill>
                <a:latin typeface="Arial" pitchFamily="34" charset="0"/>
                <a:ea typeface="Arial" pitchFamily="34" charset="-122"/>
                <a:cs typeface="Arial" pitchFamily="34" charset="-120"/>
              </a:rPr>
              <a:t>TP. Hồ Chí Minh</a:t>
            </a:r>
            <a:endParaRPr lang="en-US" sz="1250" dirty="0"/>
          </a:p>
        </p:txBody>
      </p:sp>
      <p:sp>
        <p:nvSpPr>
          <p:cNvPr id="7" name="Shape 4"/>
          <p:cNvSpPr/>
          <p:nvPr/>
        </p:nvSpPr>
        <p:spPr>
          <a:xfrm>
            <a:off x="914400" y="2788920"/>
            <a:ext cx="8229600" cy="3291840"/>
          </a:xfrm>
          <a:prstGeom prst="rect">
            <a:avLst/>
          </a:prstGeom>
          <a:solidFill>
            <a:srgbClr val="0E1B2C">
              <a:alpha val="85000"/>
            </a:srgbClr>
          </a:solidFill>
          <a:ln/>
        </p:spPr>
      </p:sp>
      <p:sp>
        <p:nvSpPr>
          <p:cNvPr id="8" name="Text 5"/>
          <p:cNvSpPr txBox="1"/>
          <p:nvPr/>
        </p:nvSpPr>
        <p:spPr>
          <a:xfrm>
            <a:off x="1143000" y="2944368"/>
            <a:ext cx="7772400" cy="384048"/>
          </a:xfrm>
          <a:prstGeom prst="rect">
            <a:avLst/>
          </a:prstGeom>
          <a:noFill/>
          <a:ln/>
        </p:spPr>
        <p:txBody>
          <a:bodyPr wrap="square" lIns="0" tIns="0" rIns="0" bIns="0" rtlCol="0" anchor="ctr"/>
          <a:lstStyle/>
          <a:p>
            <a:pPr algn="r" indent="0" marL="0">
              <a:buNone/>
            </a:pPr>
            <a:r>
              <a:rPr lang="en-US" sz="1600" b="1" dirty="0">
                <a:solidFill>
                  <a:srgbClr val="FFFFFF"/>
                </a:solidFill>
                <a:latin typeface="Arial" pitchFamily="34" charset="0"/>
                <a:ea typeface="Arial" pitchFamily="34" charset="-122"/>
                <a:cs typeface="Arial" pitchFamily="34" charset="-120"/>
              </a:rPr>
              <a:t>BÁO CÁO ĐỒ ÁN MÔN HỌC</a:t>
            </a:r>
            <a:endParaRPr lang="en-US" sz="1600" dirty="0"/>
          </a:p>
        </p:txBody>
      </p:sp>
      <p:sp>
        <p:nvSpPr>
          <p:cNvPr id="9" name="Text 6"/>
          <p:cNvSpPr txBox="1"/>
          <p:nvPr/>
        </p:nvSpPr>
        <p:spPr>
          <a:xfrm>
            <a:off x="1143000" y="3346704"/>
            <a:ext cx="7772400" cy="1143000"/>
          </a:xfrm>
          <a:prstGeom prst="rect">
            <a:avLst/>
          </a:prstGeom>
          <a:noFill/>
          <a:ln/>
        </p:spPr>
        <p:txBody>
          <a:bodyPr wrap="square" lIns="0" tIns="0" rIns="0" bIns="0" rtlCol="0" anchor="ctr"/>
          <a:lstStyle/>
          <a:p>
            <a:pPr algn="r" indent="0" marL="0">
              <a:lnSpc>
                <a:spcPct val="110000"/>
              </a:lnSpc>
              <a:buNone/>
            </a:pPr>
            <a:r>
              <a:rPr lang="en-US" sz="2600" b="1" dirty="0">
                <a:solidFill>
                  <a:srgbClr val="FFFFFF"/>
                </a:solidFill>
                <a:latin typeface="Arial" pitchFamily="34" charset="0"/>
                <a:ea typeface="Arial" pitchFamily="34" charset="-122"/>
                <a:cs typeface="Arial" pitchFamily="34" charset="-120"/>
              </a:rPr>
              <a:t>Truy hồi điều luật tiếng Việt</a:t>
            </a:r>
            <a:endParaRPr lang="en-US" sz="2600" dirty="0"/>
          </a:p>
          <a:p>
            <a:pPr algn="r" indent="0" marL="0">
              <a:lnSpc>
                <a:spcPct val="110000"/>
              </a:lnSpc>
              <a:buNone/>
            </a:pPr>
            <a:r>
              <a:rPr lang="en-US" sz="2600" b="1" dirty="0">
                <a:solidFill>
                  <a:srgbClr val="FFFFFF"/>
                </a:solidFill>
                <a:latin typeface="Arial" pitchFamily="34" charset="0"/>
                <a:ea typeface="Arial" pitchFamily="34" charset="-122"/>
                <a:cs typeface="Arial" pitchFamily="34" charset="-120"/>
              </a:rPr>
              <a:t>cho câu hỏi gõ không dấu</a:t>
            </a:r>
            <a:endParaRPr lang="en-US" sz="2600" dirty="0"/>
          </a:p>
        </p:txBody>
      </p:sp>
      <p:sp>
        <p:nvSpPr>
          <p:cNvPr id="10" name="Text 7"/>
          <p:cNvSpPr txBox="1"/>
          <p:nvPr/>
        </p:nvSpPr>
        <p:spPr>
          <a:xfrm>
            <a:off x="1143000" y="4498848"/>
            <a:ext cx="7772400" cy="310896"/>
          </a:xfrm>
          <a:prstGeom prst="rect">
            <a:avLst/>
          </a:prstGeom>
          <a:noFill/>
          <a:ln/>
        </p:spPr>
        <p:txBody>
          <a:bodyPr wrap="square" lIns="0" tIns="0" rIns="0" bIns="0" rtlCol="0" anchor="ctr"/>
          <a:lstStyle/>
          <a:p>
            <a:pPr algn="r" indent="0" marL="0">
              <a:buNone/>
            </a:pPr>
            <a:r>
              <a:rPr lang="en-US" sz="1500" i="1" dirty="0">
                <a:solidFill>
                  <a:srgbClr val="CFE2F5"/>
                </a:solidFill>
                <a:latin typeface="Arial" pitchFamily="34" charset="0"/>
                <a:ea typeface="Arial" pitchFamily="34" charset="-122"/>
                <a:cs typeface="Arial" pitchFamily="34" charset="-120"/>
              </a:rPr>
              <a:t>Phục hồi dấu, truy hồi lai và kiểm toán rò rỉ dữ liệu</a:t>
            </a:r>
            <a:endParaRPr lang="en-US" sz="1500" dirty="0"/>
          </a:p>
        </p:txBody>
      </p:sp>
      <p:sp>
        <p:nvSpPr>
          <p:cNvPr id="11" name="Shape 8"/>
          <p:cNvSpPr/>
          <p:nvPr/>
        </p:nvSpPr>
        <p:spPr>
          <a:xfrm>
            <a:off x="2834640" y="4882896"/>
            <a:ext cx="6080760" cy="0"/>
          </a:xfrm>
          <a:prstGeom prst="line">
            <a:avLst/>
          </a:prstGeom>
          <a:noFill/>
          <a:ln w="12700">
            <a:solidFill>
              <a:srgbClr val="C9C9C9"/>
            </a:solidFill>
            <a:prstDash val="solid"/>
          </a:ln>
        </p:spPr>
      </p:sp>
      <p:sp>
        <p:nvSpPr>
          <p:cNvPr id="12" name="Text 9"/>
          <p:cNvSpPr txBox="1"/>
          <p:nvPr/>
        </p:nvSpPr>
        <p:spPr>
          <a:xfrm>
            <a:off x="1143000" y="4992624"/>
            <a:ext cx="7772400" cy="960120"/>
          </a:xfrm>
          <a:prstGeom prst="rect">
            <a:avLst/>
          </a:prstGeom>
          <a:noFill/>
          <a:ln/>
        </p:spPr>
        <p:txBody>
          <a:bodyPr wrap="square" lIns="0" tIns="0" rIns="0" bIns="0" rtlCol="0" anchor="ctr"/>
          <a:lstStyle/>
          <a:p>
            <a:pPr algn="r" indent="0" marL="0">
              <a:lnSpc>
                <a:spcPts val="1500"/>
              </a:lnSpc>
              <a:buNone/>
            </a:pPr>
            <a:r>
              <a:rPr lang="en-US" sz="1150" b="1" dirty="0">
                <a:solidFill>
                  <a:srgbClr val="FFFFFF"/>
                </a:solidFill>
                <a:latin typeface="Arial" pitchFamily="34" charset="0"/>
                <a:ea typeface="Arial" pitchFamily="34" charset="-122"/>
                <a:cs typeface="Arial" pitchFamily="34" charset="-120"/>
              </a:rPr>
              <a:t>Nhóm 09  ·  Môn Xử lý ngôn ngữ tự nhiên</a:t>
            </a:r>
            <a:endParaRPr lang="en-US" sz="1150" dirty="0"/>
          </a:p>
          <a:p>
            <a:pPr algn="r" indent="0" marL="0">
              <a:lnSpc>
                <a:spcPts val="1500"/>
              </a:lnSpc>
              <a:buNone/>
            </a:pPr>
            <a:r>
              <a:rPr lang="en-US" sz="1150" dirty="0">
                <a:solidFill>
                  <a:srgbClr val="FFFFFF"/>
                </a:solidFill>
                <a:latin typeface="Arial" pitchFamily="34" charset="0"/>
                <a:ea typeface="Arial" pitchFamily="34" charset="-122"/>
                <a:cs typeface="Arial" pitchFamily="34" charset="-120"/>
              </a:rPr>
              <a:t>Lê Hoàng Lộc – 25210293</a:t>
            </a:r>
            <a:endParaRPr lang="en-US" sz="1150" dirty="0"/>
          </a:p>
          <a:p>
            <a:pPr algn="r" indent="0" marL="0">
              <a:lnSpc>
                <a:spcPts val="1500"/>
              </a:lnSpc>
              <a:buNone/>
            </a:pPr>
            <a:r>
              <a:rPr lang="en-US" sz="1150" dirty="0">
                <a:solidFill>
                  <a:srgbClr val="FFFFFF"/>
                </a:solidFill>
                <a:latin typeface="Arial" pitchFamily="34" charset="0"/>
                <a:ea typeface="Arial" pitchFamily="34" charset="-122"/>
                <a:cs typeface="Arial" pitchFamily="34" charset="-120"/>
              </a:rPr>
              <a:t>Lê Thị Tuấn Anh – 25210250</a:t>
            </a:r>
            <a:endParaRPr lang="en-US" sz="1150" dirty="0"/>
          </a:p>
          <a:p>
            <a:pPr algn="r" indent="0" marL="0">
              <a:lnSpc>
                <a:spcPts val="1500"/>
              </a:lnSpc>
              <a:buNone/>
            </a:pPr>
            <a:r>
              <a:rPr lang="en-US" sz="1150" dirty="0">
                <a:solidFill>
                  <a:srgbClr val="FFFFFF"/>
                </a:solidFill>
                <a:latin typeface="Arial" pitchFamily="34" charset="0"/>
                <a:ea typeface="Arial" pitchFamily="34" charset="-122"/>
                <a:cs typeface="Arial" pitchFamily="34" charset="-120"/>
              </a:rPr>
              <a:t>Đoàn Mậu Thiên Thư – 25210341</a:t>
            </a:r>
            <a:endParaRPr lang="en-US" sz="1150" dirty="0"/>
          </a:p>
          <a:p>
            <a:pPr algn="r" indent="0" marL="0">
              <a:lnSpc>
                <a:spcPts val="1500"/>
              </a:lnSpc>
              <a:buNone/>
            </a:pPr>
            <a:r>
              <a:rPr lang="en-US" sz="1150" b="1" dirty="0">
                <a:solidFill>
                  <a:srgbClr val="FFFFFF"/>
                </a:solidFill>
                <a:latin typeface="Arial" pitchFamily="34" charset="0"/>
                <a:ea typeface="Arial" pitchFamily="34" charset="-122"/>
                <a:cs typeface="Arial" pitchFamily="34" charset="-120"/>
              </a:rPr>
              <a:t>GVHD: Đặng Văn Thìn</a:t>
            </a:r>
            <a:endParaRPr lang="en-US" sz="1150" dirty="0"/>
          </a:p>
        </p:txBody>
      </p:sp>
      <p:sp>
        <p:nvSpPr>
          <p:cNvPr id="13" name="Shape 10"/>
          <p:cNvSpPr/>
          <p:nvPr/>
        </p:nvSpPr>
        <p:spPr>
          <a:xfrm>
            <a:off x="0" y="6446520"/>
            <a:ext cx="9144000" cy="411480"/>
          </a:xfrm>
          <a:prstGeom prst="rect">
            <a:avLst/>
          </a:prstGeom>
          <a:solidFill>
            <a:srgbClr val="303030"/>
          </a:solidFill>
          <a:ln/>
        </p:spPr>
      </p:sp>
      <p:sp>
        <p:nvSpPr>
          <p:cNvPr id="14" name="Text 11"/>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Nội dung</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2</a:t>
            </a:r>
            <a:endParaRPr lang="en-US" sz="1100" dirty="0"/>
          </a:p>
        </p:txBody>
      </p:sp>
      <p:sp>
        <p:nvSpPr>
          <p:cNvPr id="9" name="Shape 6"/>
          <p:cNvSpPr/>
          <p:nvPr/>
        </p:nvSpPr>
        <p:spPr>
          <a:xfrm>
            <a:off x="502920" y="1078992"/>
            <a:ext cx="8138160" cy="749808"/>
          </a:xfrm>
          <a:prstGeom prst="roundRect">
            <a:avLst>
              <a:gd name="adj" fmla="val 7317"/>
            </a:avLst>
          </a:prstGeom>
          <a:solidFill>
            <a:srgbClr val="F4F8FC"/>
          </a:solidFill>
          <a:ln w="15875">
            <a:solidFill>
              <a:srgbClr val="2D75B6"/>
            </a:solidFill>
            <a:prstDash val="solid"/>
          </a:ln>
        </p:spPr>
      </p:sp>
      <p:sp>
        <p:nvSpPr>
          <p:cNvPr id="10" name="Shape 7"/>
          <p:cNvSpPr/>
          <p:nvPr/>
        </p:nvSpPr>
        <p:spPr>
          <a:xfrm>
            <a:off x="731520" y="1234440"/>
            <a:ext cx="438912" cy="438912"/>
          </a:xfrm>
          <a:prstGeom prst="ellipse">
            <a:avLst/>
          </a:prstGeom>
          <a:solidFill>
            <a:srgbClr val="2D75B6"/>
          </a:solidFill>
          <a:ln/>
        </p:spPr>
      </p:sp>
      <p:sp>
        <p:nvSpPr>
          <p:cNvPr id="11" name="Text 8"/>
          <p:cNvSpPr txBox="1"/>
          <p:nvPr/>
        </p:nvSpPr>
        <p:spPr>
          <a:xfrm>
            <a:off x="731520" y="123444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2" name="Text 9"/>
          <p:cNvSpPr txBox="1"/>
          <p:nvPr/>
        </p:nvSpPr>
        <p:spPr>
          <a:xfrm>
            <a:off x="1417320" y="116128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Bài toán và nghiên cứu trước</a:t>
            </a:r>
            <a:endParaRPr lang="en-US" sz="1500" dirty="0"/>
          </a:p>
        </p:txBody>
      </p:sp>
      <p:sp>
        <p:nvSpPr>
          <p:cNvPr id="13" name="Text 10"/>
          <p:cNvSpPr txBox="1"/>
          <p:nvPr/>
        </p:nvSpPr>
        <p:spPr>
          <a:xfrm>
            <a:off x="1417320" y="147218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Lai BM25 và ngữ nghĩa đã là công thức mặc định. Chỗ còn trống ở đâu</a:t>
            </a:r>
            <a:endParaRPr lang="en-US" sz="1150" dirty="0"/>
          </a:p>
        </p:txBody>
      </p:sp>
      <p:sp>
        <p:nvSpPr>
          <p:cNvPr id="14" name="Shape 11"/>
          <p:cNvSpPr/>
          <p:nvPr/>
        </p:nvSpPr>
        <p:spPr>
          <a:xfrm>
            <a:off x="502920" y="1947672"/>
            <a:ext cx="8138160" cy="749808"/>
          </a:xfrm>
          <a:prstGeom prst="roundRect">
            <a:avLst>
              <a:gd name="adj" fmla="val 7317"/>
            </a:avLst>
          </a:prstGeom>
          <a:solidFill>
            <a:srgbClr val="F4F8FC"/>
          </a:solidFill>
          <a:ln w="15875">
            <a:solidFill>
              <a:srgbClr val="2D75B6"/>
            </a:solidFill>
            <a:prstDash val="solid"/>
          </a:ln>
        </p:spPr>
      </p:sp>
      <p:sp>
        <p:nvSpPr>
          <p:cNvPr id="15" name="Shape 12"/>
          <p:cNvSpPr/>
          <p:nvPr/>
        </p:nvSpPr>
        <p:spPr>
          <a:xfrm>
            <a:off x="731520" y="2103120"/>
            <a:ext cx="438912" cy="438912"/>
          </a:xfrm>
          <a:prstGeom prst="ellipse">
            <a:avLst/>
          </a:prstGeom>
          <a:solidFill>
            <a:srgbClr val="2D75B6"/>
          </a:solidFill>
          <a:ln/>
        </p:spPr>
      </p:sp>
      <p:sp>
        <p:nvSpPr>
          <p:cNvPr id="16" name="Text 13"/>
          <p:cNvSpPr txBox="1"/>
          <p:nvPr/>
        </p:nvSpPr>
        <p:spPr>
          <a:xfrm>
            <a:off x="731520" y="210312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7" name="Text 14"/>
          <p:cNvSpPr txBox="1"/>
          <p:nvPr/>
        </p:nvSpPr>
        <p:spPr>
          <a:xfrm>
            <a:off x="1417320" y="202996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Dữ liệu và kiểm toán rò rỉ</a:t>
            </a:r>
            <a:endParaRPr lang="en-US" sz="1500" dirty="0"/>
          </a:p>
        </p:txBody>
      </p:sp>
      <p:sp>
        <p:nvSpPr>
          <p:cNvPr id="18" name="Text 15"/>
          <p:cNvSpPr txBox="1"/>
          <p:nvPr/>
        </p:nvSpPr>
        <p:spPr>
          <a:xfrm>
            <a:off x="1417320" y="234086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Sáu vấn đề trong bộ đã công bố, và một mô hình đã thấy trước đề</a:t>
            </a:r>
            <a:endParaRPr lang="en-US" sz="1150" dirty="0"/>
          </a:p>
        </p:txBody>
      </p:sp>
      <p:sp>
        <p:nvSpPr>
          <p:cNvPr id="19" name="Shape 16"/>
          <p:cNvSpPr/>
          <p:nvPr/>
        </p:nvSpPr>
        <p:spPr>
          <a:xfrm>
            <a:off x="502920" y="2816352"/>
            <a:ext cx="8138160" cy="749808"/>
          </a:xfrm>
          <a:prstGeom prst="roundRect">
            <a:avLst>
              <a:gd name="adj" fmla="val 7317"/>
            </a:avLst>
          </a:prstGeom>
          <a:solidFill>
            <a:srgbClr val="F4F8FC"/>
          </a:solidFill>
          <a:ln w="15875">
            <a:solidFill>
              <a:srgbClr val="2D75B6"/>
            </a:solidFill>
            <a:prstDash val="solid"/>
          </a:ln>
        </p:spPr>
      </p:sp>
      <p:sp>
        <p:nvSpPr>
          <p:cNvPr id="20" name="Shape 17"/>
          <p:cNvSpPr/>
          <p:nvPr/>
        </p:nvSpPr>
        <p:spPr>
          <a:xfrm>
            <a:off x="731520" y="2971800"/>
            <a:ext cx="438912" cy="438912"/>
          </a:xfrm>
          <a:prstGeom prst="ellipse">
            <a:avLst/>
          </a:prstGeom>
          <a:solidFill>
            <a:srgbClr val="2D75B6"/>
          </a:solidFill>
          <a:ln/>
        </p:spPr>
      </p:sp>
      <p:sp>
        <p:nvSpPr>
          <p:cNvPr id="21" name="Text 18"/>
          <p:cNvSpPr txBox="1"/>
          <p:nvPr/>
        </p:nvSpPr>
        <p:spPr>
          <a:xfrm>
            <a:off x="731520" y="297180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2" name="Text 19"/>
          <p:cNvSpPr txBox="1"/>
          <p:nvPr/>
        </p:nvSpPr>
        <p:spPr>
          <a:xfrm>
            <a:off x="1417320" y="289864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Kiến trúc</a:t>
            </a:r>
            <a:endParaRPr lang="en-US" sz="1500" dirty="0"/>
          </a:p>
        </p:txBody>
      </p:sp>
      <p:sp>
        <p:nvSpPr>
          <p:cNvPr id="23" name="Text 20"/>
          <p:cNvSpPr txBox="1"/>
          <p:nvPr/>
        </p:nvSpPr>
        <p:spPr>
          <a:xfrm>
            <a:off x="1417320" y="320954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Phục hồi dấu, BM25, mô hình nhúng, hợp nhất</a:t>
            </a:r>
            <a:endParaRPr lang="en-US" sz="1150" dirty="0"/>
          </a:p>
        </p:txBody>
      </p:sp>
      <p:sp>
        <p:nvSpPr>
          <p:cNvPr id="24" name="Shape 21"/>
          <p:cNvSpPr/>
          <p:nvPr/>
        </p:nvSpPr>
        <p:spPr>
          <a:xfrm>
            <a:off x="502920" y="3685032"/>
            <a:ext cx="8138160" cy="749808"/>
          </a:xfrm>
          <a:prstGeom prst="roundRect">
            <a:avLst>
              <a:gd name="adj" fmla="val 7317"/>
            </a:avLst>
          </a:prstGeom>
          <a:solidFill>
            <a:srgbClr val="F4F8FC"/>
          </a:solidFill>
          <a:ln w="15875">
            <a:solidFill>
              <a:srgbClr val="2D75B6"/>
            </a:solidFill>
            <a:prstDash val="solid"/>
          </a:ln>
        </p:spPr>
      </p:sp>
      <p:sp>
        <p:nvSpPr>
          <p:cNvPr id="25" name="Shape 22"/>
          <p:cNvSpPr/>
          <p:nvPr/>
        </p:nvSpPr>
        <p:spPr>
          <a:xfrm>
            <a:off x="731520" y="3840480"/>
            <a:ext cx="438912" cy="438912"/>
          </a:xfrm>
          <a:prstGeom prst="ellipse">
            <a:avLst/>
          </a:prstGeom>
          <a:solidFill>
            <a:srgbClr val="2D75B6"/>
          </a:solidFill>
          <a:ln/>
        </p:spPr>
      </p:sp>
      <p:sp>
        <p:nvSpPr>
          <p:cNvPr id="26" name="Text 23"/>
          <p:cNvSpPr txBox="1"/>
          <p:nvPr/>
        </p:nvSpPr>
        <p:spPr>
          <a:xfrm>
            <a:off x="731520" y="384048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7" name="Text 24"/>
          <p:cNvSpPr txBox="1"/>
          <p:nvPr/>
        </p:nvSpPr>
        <p:spPr>
          <a:xfrm>
            <a:off x="1417320" y="376732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Câu hỏi có dấu</a:t>
            </a:r>
            <a:endParaRPr lang="en-US" sz="1500" dirty="0"/>
          </a:p>
        </p:txBody>
      </p:sp>
      <p:sp>
        <p:nvSpPr>
          <p:cNvPr id="28" name="Text 25"/>
          <p:cNvSpPr txBox="1"/>
          <p:nvPr/>
        </p:nvSpPr>
        <p:spPr>
          <a:xfrm>
            <a:off x="1417320" y="407822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Hợp nhất còn giúp được bao nhiêu</a:t>
            </a:r>
            <a:endParaRPr lang="en-US" sz="1150" dirty="0"/>
          </a:p>
        </p:txBody>
      </p:sp>
      <p:sp>
        <p:nvSpPr>
          <p:cNvPr id="29" name="Shape 26"/>
          <p:cNvSpPr/>
          <p:nvPr/>
        </p:nvSpPr>
        <p:spPr>
          <a:xfrm>
            <a:off x="502920" y="4553712"/>
            <a:ext cx="8138160" cy="749808"/>
          </a:xfrm>
          <a:prstGeom prst="roundRect">
            <a:avLst>
              <a:gd name="adj" fmla="val 7317"/>
            </a:avLst>
          </a:prstGeom>
          <a:solidFill>
            <a:srgbClr val="FDF2E9"/>
          </a:solidFill>
          <a:ln w="15875">
            <a:solidFill>
              <a:srgbClr val="D68910"/>
            </a:solidFill>
            <a:prstDash val="solid"/>
          </a:ln>
        </p:spPr>
      </p:sp>
      <p:sp>
        <p:nvSpPr>
          <p:cNvPr id="30" name="Shape 27"/>
          <p:cNvSpPr/>
          <p:nvPr/>
        </p:nvSpPr>
        <p:spPr>
          <a:xfrm>
            <a:off x="731520" y="4709160"/>
            <a:ext cx="438912" cy="438912"/>
          </a:xfrm>
          <a:prstGeom prst="ellipse">
            <a:avLst/>
          </a:prstGeom>
          <a:solidFill>
            <a:srgbClr val="D68910"/>
          </a:solidFill>
          <a:ln/>
        </p:spPr>
      </p:sp>
      <p:sp>
        <p:nvSpPr>
          <p:cNvPr id="31" name="Text 28"/>
          <p:cNvSpPr txBox="1"/>
          <p:nvPr/>
        </p:nvSpPr>
        <p:spPr>
          <a:xfrm>
            <a:off x="731520" y="470916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32" name="Text 29"/>
          <p:cNvSpPr txBox="1"/>
          <p:nvPr/>
        </p:nvSpPr>
        <p:spPr>
          <a:xfrm>
            <a:off x="1417320" y="463600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Câu hỏi gõ không dấu</a:t>
            </a:r>
            <a:endParaRPr lang="en-US" sz="1500" dirty="0"/>
          </a:p>
        </p:txBody>
      </p:sp>
      <p:sp>
        <p:nvSpPr>
          <p:cNvPr id="33" name="Text 30"/>
          <p:cNvSpPr txBox="1"/>
          <p:nvPr/>
        </p:nvSpPr>
        <p:spPr>
          <a:xfrm>
            <a:off x="1417320" y="494690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Mô hình mạnh nhất sụp đổ, và cách sửa rẻ nhất</a:t>
            </a:r>
            <a:endParaRPr lang="en-US" sz="1150" dirty="0"/>
          </a:p>
        </p:txBody>
      </p:sp>
      <p:sp>
        <p:nvSpPr>
          <p:cNvPr id="34" name="Shape 31"/>
          <p:cNvSpPr/>
          <p:nvPr/>
        </p:nvSpPr>
        <p:spPr>
          <a:xfrm>
            <a:off x="502920" y="5422392"/>
            <a:ext cx="8138160" cy="749808"/>
          </a:xfrm>
          <a:prstGeom prst="roundRect">
            <a:avLst>
              <a:gd name="adj" fmla="val 7317"/>
            </a:avLst>
          </a:prstGeom>
          <a:solidFill>
            <a:srgbClr val="F4F8FC"/>
          </a:solidFill>
          <a:ln w="15875">
            <a:solidFill>
              <a:srgbClr val="2D75B6"/>
            </a:solidFill>
            <a:prstDash val="solid"/>
          </a:ln>
        </p:spPr>
      </p:sp>
      <p:sp>
        <p:nvSpPr>
          <p:cNvPr id="35" name="Shape 32"/>
          <p:cNvSpPr/>
          <p:nvPr/>
        </p:nvSpPr>
        <p:spPr>
          <a:xfrm>
            <a:off x="731520" y="5577840"/>
            <a:ext cx="438912" cy="438912"/>
          </a:xfrm>
          <a:prstGeom prst="ellipse">
            <a:avLst/>
          </a:prstGeom>
          <a:solidFill>
            <a:srgbClr val="2D75B6"/>
          </a:solidFill>
          <a:ln/>
        </p:spPr>
      </p:sp>
      <p:sp>
        <p:nvSpPr>
          <p:cNvPr id="36" name="Text 33"/>
          <p:cNvSpPr txBox="1"/>
          <p:nvPr/>
        </p:nvSpPr>
        <p:spPr>
          <a:xfrm>
            <a:off x="731520" y="557784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37" name="Text 34"/>
          <p:cNvSpPr txBox="1"/>
          <p:nvPr/>
        </p:nvSpPr>
        <p:spPr>
          <a:xfrm>
            <a:off x="1417320" y="550468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Kết luận và giới hạn</a:t>
            </a:r>
            <a:endParaRPr lang="en-US" sz="1500" dirty="0"/>
          </a:p>
        </p:txBody>
      </p:sp>
      <p:sp>
        <p:nvSpPr>
          <p:cNvPr id="38" name="Text 35"/>
          <p:cNvSpPr txBox="1"/>
          <p:nvPr/>
        </p:nvSpPr>
        <p:spPr>
          <a:xfrm>
            <a:off x="1417320" y="581558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Nói thẳng chỗ chưa làm được</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Bài toán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3</a:t>
            </a:r>
            <a:endParaRPr lang="en-US" sz="1100" dirty="0"/>
          </a:p>
        </p:txBody>
      </p:sp>
      <p:sp>
        <p:nvSpPr>
          <p:cNvPr id="9" name="Shape 6"/>
          <p:cNvSpPr/>
          <p:nvPr/>
        </p:nvSpPr>
        <p:spPr>
          <a:xfrm>
            <a:off x="502920" y="1005840"/>
            <a:ext cx="3886200" cy="1371600"/>
          </a:xfrm>
          <a:prstGeom prst="roundRect">
            <a:avLst>
              <a:gd name="adj" fmla="val 4000"/>
            </a:avLst>
          </a:prstGeom>
          <a:solidFill>
            <a:srgbClr val="F4F8FC"/>
          </a:solidFill>
          <a:ln w="15875">
            <a:solidFill>
              <a:srgbClr val="2D75B6"/>
            </a:solidFill>
            <a:prstDash val="solid"/>
          </a:ln>
        </p:spPr>
      </p:sp>
      <p:sp>
        <p:nvSpPr>
          <p:cNvPr id="10" name="Text 7"/>
          <p:cNvSpPr txBox="1"/>
          <p:nvPr/>
        </p:nvSpPr>
        <p:spPr>
          <a:xfrm>
            <a:off x="713232" y="1115568"/>
            <a:ext cx="3474720" cy="274320"/>
          </a:xfrm>
          <a:prstGeom prst="rect">
            <a:avLst/>
          </a:prstGeom>
          <a:noFill/>
          <a:ln/>
        </p:spPr>
        <p:txBody>
          <a:bodyPr wrap="square" lIns="0" tIns="0" rIns="0" bIns="0" rtlCol="0" anchor="ctr"/>
          <a:lstStyle/>
          <a:p>
            <a:pPr indent="0" marL="0">
              <a:buNone/>
            </a:pPr>
            <a:r>
              <a:rPr lang="en-US" sz="1150" b="1" dirty="0">
                <a:solidFill>
                  <a:srgbClr val="2D75B6"/>
                </a:solidFill>
                <a:latin typeface="Arial" pitchFamily="34" charset="0"/>
                <a:ea typeface="Arial" pitchFamily="34" charset="-122"/>
                <a:cs typeface="Arial" pitchFamily="34" charset="-120"/>
              </a:rPr>
              <a:t>ĐẦU VÀO</a:t>
            </a:r>
            <a:endParaRPr lang="en-US" sz="1150" dirty="0"/>
          </a:p>
        </p:txBody>
      </p:sp>
      <p:sp>
        <p:nvSpPr>
          <p:cNvPr id="11" name="Text 8"/>
          <p:cNvSpPr txBox="1"/>
          <p:nvPr/>
        </p:nvSpPr>
        <p:spPr>
          <a:xfrm>
            <a:off x="713232" y="1426464"/>
            <a:ext cx="3474720" cy="822960"/>
          </a:xfrm>
          <a:prstGeom prst="rect">
            <a:avLst/>
          </a:prstGeom>
          <a:noFill/>
          <a:ln/>
        </p:spPr>
        <p:txBody>
          <a:bodyPr wrap="square" lIns="0" tIns="0" rIns="0" bIns="0" rtlCol="0" anchor="t"/>
          <a:lstStyle/>
          <a:p>
            <a:pPr indent="0" marL="0">
              <a:lnSpc>
                <a:spcPts val="1800"/>
              </a:lnSpc>
              <a:buNone/>
            </a:pPr>
            <a:r>
              <a:rPr lang="en-US" sz="1250" dirty="0">
                <a:solidFill>
                  <a:srgbClr val="1A1A1A"/>
                </a:solidFill>
                <a:latin typeface="Arial" pitchFamily="34" charset="0"/>
                <a:ea typeface="Arial" pitchFamily="34" charset="-122"/>
                <a:cs typeface="Arial" pitchFamily="34" charset="-120"/>
              </a:rPr>
              <a:t>Một câu hỏi pháp luật viết bằng</a:t>
            </a:r>
            <a:endParaRPr lang="en-US" sz="1250" dirty="0"/>
          </a:p>
          <a:p>
            <a:pPr indent="0" marL="0">
              <a:lnSpc>
                <a:spcPts val="1800"/>
              </a:lnSpc>
              <a:buNone/>
            </a:pPr>
            <a:r>
              <a:rPr lang="en-US" sz="1250" dirty="0">
                <a:solidFill>
                  <a:srgbClr val="1A1A1A"/>
                </a:solidFill>
                <a:latin typeface="Arial" pitchFamily="34" charset="0"/>
                <a:ea typeface="Arial" pitchFamily="34" charset="-122"/>
                <a:cs typeface="Arial" pitchFamily="34" charset="-120"/>
              </a:rPr>
              <a:t>tiếng Việt tự nhiên</a:t>
            </a:r>
            <a:endParaRPr lang="en-US" sz="1250" dirty="0"/>
          </a:p>
        </p:txBody>
      </p:sp>
      <p:sp>
        <p:nvSpPr>
          <p:cNvPr id="12" name="Shape 9"/>
          <p:cNvSpPr/>
          <p:nvPr/>
        </p:nvSpPr>
        <p:spPr>
          <a:xfrm>
            <a:off x="4754880" y="1005840"/>
            <a:ext cx="3886200" cy="1371600"/>
          </a:xfrm>
          <a:prstGeom prst="roundRect">
            <a:avLst>
              <a:gd name="adj" fmla="val 4000"/>
            </a:avLst>
          </a:prstGeom>
          <a:solidFill>
            <a:srgbClr val="F4F8FC"/>
          </a:solidFill>
          <a:ln w="15875">
            <a:solidFill>
              <a:srgbClr val="2D75B6"/>
            </a:solidFill>
            <a:prstDash val="solid"/>
          </a:ln>
        </p:spPr>
      </p:sp>
      <p:sp>
        <p:nvSpPr>
          <p:cNvPr id="13" name="Text 10"/>
          <p:cNvSpPr txBox="1"/>
          <p:nvPr/>
        </p:nvSpPr>
        <p:spPr>
          <a:xfrm>
            <a:off x="4965192" y="1115568"/>
            <a:ext cx="3474720" cy="274320"/>
          </a:xfrm>
          <a:prstGeom prst="rect">
            <a:avLst/>
          </a:prstGeom>
          <a:noFill/>
          <a:ln/>
        </p:spPr>
        <p:txBody>
          <a:bodyPr wrap="square" lIns="0" tIns="0" rIns="0" bIns="0" rtlCol="0" anchor="ctr"/>
          <a:lstStyle/>
          <a:p>
            <a:pPr indent="0" marL="0">
              <a:buNone/>
            </a:pPr>
            <a:r>
              <a:rPr lang="en-US" sz="1150" b="1" dirty="0">
                <a:solidFill>
                  <a:srgbClr val="2D75B6"/>
                </a:solidFill>
                <a:latin typeface="Arial" pitchFamily="34" charset="0"/>
                <a:ea typeface="Arial" pitchFamily="34" charset="-122"/>
                <a:cs typeface="Arial" pitchFamily="34" charset="-120"/>
              </a:rPr>
              <a:t>ĐẦU RA</a:t>
            </a:r>
            <a:endParaRPr lang="en-US" sz="1150" dirty="0"/>
          </a:p>
        </p:txBody>
      </p:sp>
      <p:sp>
        <p:nvSpPr>
          <p:cNvPr id="14" name="Text 11"/>
          <p:cNvSpPr txBox="1"/>
          <p:nvPr/>
        </p:nvSpPr>
        <p:spPr>
          <a:xfrm>
            <a:off x="4965192" y="1426464"/>
            <a:ext cx="3474720" cy="822960"/>
          </a:xfrm>
          <a:prstGeom prst="rect">
            <a:avLst/>
          </a:prstGeom>
          <a:noFill/>
          <a:ln/>
        </p:spPr>
        <p:txBody>
          <a:bodyPr wrap="square" lIns="0" tIns="0" rIns="0" bIns="0" rtlCol="0" anchor="t"/>
          <a:lstStyle/>
          <a:p>
            <a:pPr indent="0" marL="0">
              <a:lnSpc>
                <a:spcPts val="1800"/>
              </a:lnSpc>
              <a:buNone/>
            </a:pPr>
            <a:r>
              <a:rPr lang="en-US" sz="1250" dirty="0">
                <a:solidFill>
                  <a:srgbClr val="1A1A1A"/>
                </a:solidFill>
                <a:latin typeface="Arial" pitchFamily="34" charset="0"/>
                <a:ea typeface="Arial" pitchFamily="34" charset="-122"/>
                <a:cs typeface="Arial" pitchFamily="34" charset="-120"/>
              </a:rPr>
              <a:t>Danh sách điều luật xếp hạng,</a:t>
            </a:r>
            <a:endParaRPr lang="en-US" sz="1250" dirty="0"/>
          </a:p>
          <a:p>
            <a:pPr indent="0" marL="0">
              <a:lnSpc>
                <a:spcPts val="1800"/>
              </a:lnSpc>
              <a:buNone/>
            </a:pPr>
            <a:r>
              <a:rPr lang="en-US" sz="1250" dirty="0">
                <a:solidFill>
                  <a:srgbClr val="1A1A1A"/>
                </a:solidFill>
                <a:latin typeface="Arial" pitchFamily="34" charset="0"/>
                <a:ea typeface="Arial" pitchFamily="34" charset="-122"/>
                <a:cs typeface="Arial" pitchFamily="34" charset="-120"/>
              </a:rPr>
              <a:t>kèm điểm và từ khóa đã khớp</a:t>
            </a:r>
            <a:endParaRPr lang="en-US" sz="1250" dirty="0"/>
          </a:p>
        </p:txBody>
      </p:sp>
      <p:sp>
        <p:nvSpPr>
          <p:cNvPr id="15" name="Shape 12"/>
          <p:cNvSpPr/>
          <p:nvPr/>
        </p:nvSpPr>
        <p:spPr>
          <a:xfrm>
            <a:off x="502920" y="2606040"/>
            <a:ext cx="8138160" cy="1417320"/>
          </a:xfrm>
          <a:prstGeom prst="roundRect">
            <a:avLst>
              <a:gd name="adj" fmla="val 3871"/>
            </a:avLst>
          </a:prstGeom>
          <a:solidFill>
            <a:srgbClr val="FFF8F0"/>
          </a:solidFill>
          <a:ln w="15875">
            <a:solidFill>
              <a:srgbClr val="D68910"/>
            </a:solidFill>
            <a:prstDash val="solid"/>
          </a:ln>
        </p:spPr>
      </p:sp>
      <p:sp>
        <p:nvSpPr>
          <p:cNvPr id="16" name="Text 13"/>
          <p:cNvSpPr txBox="1"/>
          <p:nvPr/>
        </p:nvSpPr>
        <p:spPr>
          <a:xfrm>
            <a:off x="731520" y="2706624"/>
            <a:ext cx="7680960" cy="27432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Ví dụ thật, và cũng là một ca hệ trả sai</a:t>
            </a:r>
            <a:endParaRPr lang="en-US" sz="1250" dirty="0"/>
          </a:p>
        </p:txBody>
      </p:sp>
      <p:sp>
        <p:nvSpPr>
          <p:cNvPr id="17" name="Text 14"/>
          <p:cNvSpPr txBox="1"/>
          <p:nvPr/>
        </p:nvSpPr>
        <p:spPr>
          <a:xfrm>
            <a:off x="731520" y="3017520"/>
            <a:ext cx="7680960" cy="914400"/>
          </a:xfrm>
          <a:prstGeom prst="rect">
            <a:avLst/>
          </a:prstGeom>
          <a:noFill/>
          <a:ln/>
        </p:spPr>
        <p:txBody>
          <a:bodyPr wrap="square" lIns="0" tIns="0" rIns="0" bIns="0" rtlCol="0" anchor="ctr"/>
          <a:lstStyle/>
          <a:p>
            <a:pPr indent="0" marL="0">
              <a:lnSpc>
                <a:spcPts val="1700"/>
              </a:lnSpc>
              <a:buNone/>
            </a:pPr>
            <a:r>
              <a:rPr lang="en-US" sz="1200" b="1" dirty="0">
                <a:solidFill>
                  <a:srgbClr val="1A1A1A"/>
                </a:solidFill>
                <a:latin typeface="Arial" pitchFamily="34" charset="0"/>
                <a:ea typeface="Arial" pitchFamily="34" charset="-122"/>
                <a:cs typeface="Arial" pitchFamily="34" charset="-120"/>
              </a:rPr>
              <a:t>Câu hỏi:  </a:t>
            </a:r>
            <a:pPr indent="0" marL="0">
              <a:lnSpc>
                <a:spcPts val="1700"/>
              </a:lnSpc>
              <a:buNone/>
            </a:pPr>
            <a:r>
              <a:rPr lang="en-US" sz="1200" dirty="0">
                <a:solidFill>
                  <a:srgbClr val="1A1A1A"/>
                </a:solidFill>
                <a:latin typeface="Arial" pitchFamily="34" charset="0"/>
                <a:ea typeface="Arial" pitchFamily="34" charset="-122"/>
                <a:cs typeface="Arial" pitchFamily="34" charset="-120"/>
              </a:rPr>
              <a:t>Nướng bắp, ngô trên cầu phạt bao nhiêu tiền?</a:t>
            </a:r>
            <a:endParaRPr lang="en-US" sz="1200" dirty="0"/>
          </a:p>
          <a:p>
            <a:pPr indent="0" marL="0">
              <a:lnSpc>
                <a:spcPts val="1700"/>
              </a:lnSpc>
              <a:buNone/>
            </a:pPr>
            <a:r>
              <a:rPr lang="en-US" sz="1200" b="1" dirty="0">
                <a:solidFill>
                  <a:srgbClr val="1A1A1A"/>
                </a:solidFill>
                <a:latin typeface="Arial" pitchFamily="34" charset="0"/>
                <a:ea typeface="Arial" pitchFamily="34" charset="-122"/>
                <a:cs typeface="Arial" pitchFamily="34" charset="-120"/>
              </a:rPr>
              <a:t>Điều luật đúng:  </a:t>
            </a:r>
            <a:pPr indent="0" marL="0">
              <a:lnSpc>
                <a:spcPts val="1700"/>
              </a:lnSpc>
              <a:buNone/>
            </a:pPr>
            <a:r>
              <a:rPr lang="en-US" sz="1200" dirty="0">
                <a:solidFill>
                  <a:srgbClr val="1A1A1A"/>
                </a:solidFill>
                <a:latin typeface="Arial" pitchFamily="34" charset="0"/>
                <a:ea typeface="Arial" pitchFamily="34" charset="-122"/>
                <a:cs typeface="Arial" pitchFamily="34" charset="-120"/>
              </a:rPr>
              <a:t>Xử phạt hành vi vi phạm quy định về quản lý, khai thác, bảo trì công trình đường bộ</a:t>
            </a:r>
            <a:endParaRPr lang="en-US" sz="1200" dirty="0"/>
          </a:p>
          <a:p>
            <a:pPr indent="0" marL="0">
              <a:lnSpc>
                <a:spcPts val="1700"/>
              </a:lnSpc>
              <a:buNone/>
            </a:pPr>
            <a:r>
              <a:rPr lang="en-US" sz="1200" b="1" dirty="0">
                <a:solidFill>
                  <a:srgbClr val="C0392B"/>
                </a:solidFill>
                <a:latin typeface="Arial" pitchFamily="34" charset="0"/>
                <a:ea typeface="Arial" pitchFamily="34" charset="-122"/>
                <a:cs typeface="Arial" pitchFamily="34" charset="-120"/>
              </a:rPr>
              <a:t>Không một từ nào trùng nhau.</a:t>
            </a:r>
            <a:endParaRPr lang="en-US" sz="1200" dirty="0"/>
          </a:p>
        </p:txBody>
      </p:sp>
      <p:sp>
        <p:nvSpPr>
          <p:cNvPr id="18" name="Shape 15"/>
          <p:cNvSpPr/>
          <p:nvPr/>
        </p:nvSpPr>
        <p:spPr>
          <a:xfrm>
            <a:off x="502920" y="4160520"/>
            <a:ext cx="8138160" cy="2057400"/>
          </a:xfrm>
          <a:prstGeom prst="roundRect">
            <a:avLst>
              <a:gd name="adj" fmla="val 2667"/>
            </a:avLst>
          </a:prstGeom>
          <a:solidFill>
            <a:srgbClr val="FFFFFF"/>
          </a:solidFill>
          <a:ln w="15875">
            <a:solidFill>
              <a:srgbClr val="BFBFBF"/>
            </a:solidFill>
            <a:prstDash val="solid"/>
          </a:ln>
        </p:spPr>
      </p:sp>
      <p:sp>
        <p:nvSpPr>
          <p:cNvPr id="19" name="Text 16"/>
          <p:cNvSpPr txBox="1"/>
          <p:nvPr/>
        </p:nvSpPr>
        <p:spPr>
          <a:xfrm>
            <a:off x="731520" y="4242816"/>
            <a:ext cx="768096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Bốn thách thức</a:t>
            </a:r>
            <a:endParaRPr lang="en-US" sz="1300" dirty="0"/>
          </a:p>
        </p:txBody>
      </p:sp>
      <p:sp>
        <p:nvSpPr>
          <p:cNvPr id="20" name="Text 17"/>
          <p:cNvSpPr txBox="1"/>
          <p:nvPr/>
        </p:nvSpPr>
        <p:spPr>
          <a:xfrm>
            <a:off x="731520" y="4590288"/>
            <a:ext cx="7680960" cy="1536192"/>
          </a:xfrm>
          <a:prstGeom prst="rect">
            <a:avLst/>
          </a:prstGeom>
          <a:noFill/>
          <a:ln/>
        </p:spPr>
        <p:txBody>
          <a:bodyPr wrap="square" lIns="0" tIns="0" rIns="0" bIns="0" rtlCol="0" anchor="t"/>
          <a:lstStyle/>
          <a:p>
            <a:pPr indent="0" marL="0">
              <a:lnSpc>
                <a:spcPts val="1900"/>
              </a:lnSpc>
              <a:buNone/>
            </a:pPr>
            <a:r>
              <a:rPr lang="en-US" sz="1200" b="1" dirty="0">
                <a:solidFill>
                  <a:srgbClr val="1A1A1A"/>
                </a:solidFill>
                <a:latin typeface="Arial" pitchFamily="34" charset="0"/>
                <a:ea typeface="Arial" pitchFamily="34" charset="-122"/>
                <a:cs typeface="Arial" pitchFamily="34" charset="-120"/>
              </a:rPr>
              <a:t>Khoảng cách từ vựng</a:t>
            </a:r>
            <a:pPr indent="0" marL="0">
              <a:lnSpc>
                <a:spcPts val="1900"/>
              </a:lnSpc>
              <a:buNone/>
            </a:pPr>
            <a:r>
              <a:rPr lang="en-US" sz="1200" dirty="0">
                <a:solidFill>
                  <a:srgbClr val="1A1A1A"/>
                </a:solidFill>
                <a:latin typeface="Arial" pitchFamily="34" charset="0"/>
                <a:ea typeface="Arial" pitchFamily="34" charset="-122"/>
                <a:cs typeface="Arial" pitchFamily="34" charset="-120"/>
              </a:rPr>
              <a:t>: người dân dùng lời nói thường, luật dùng thuật ngữ</a:t>
            </a:r>
            <a:endParaRPr lang="en-US" sz="1200" dirty="0"/>
          </a:p>
          <a:p>
            <a:pPr indent="0" marL="0">
              <a:lnSpc>
                <a:spcPts val="1900"/>
              </a:lnSpc>
              <a:buNone/>
            </a:pPr>
            <a:r>
              <a:rPr lang="en-US" sz="1200" b="1" dirty="0">
                <a:solidFill>
                  <a:srgbClr val="C0392B"/>
                </a:solidFill>
                <a:latin typeface="Arial" pitchFamily="34" charset="0"/>
                <a:ea typeface="Arial" pitchFamily="34" charset="-122"/>
                <a:cs typeface="Arial" pitchFamily="34" charset="-120"/>
              </a:rPr>
              <a:t>Người dân gõ không dấu</a:t>
            </a:r>
            <a:pPr indent="0" marL="0">
              <a:lnSpc>
                <a:spcPts val="1900"/>
              </a:lnSpc>
              <a:buNone/>
            </a:pPr>
            <a:r>
              <a:rPr lang="en-US" sz="1200" dirty="0">
                <a:solidFill>
                  <a:srgbClr val="1A1A1A"/>
                </a:solidFill>
                <a:latin typeface="Arial" pitchFamily="34" charset="0"/>
                <a:ea typeface="Arial" pitchFamily="34" charset="-122"/>
                <a:cs typeface="Arial" pitchFamily="34" charset="-120"/>
              </a:rPr>
              <a:t>: “nuong bap tren cau phat bao nhieu”, khi nhắn trên điện thoại hay gõ vội</a:t>
            </a:r>
            <a:endParaRPr lang="en-US" sz="1200" dirty="0"/>
          </a:p>
          <a:p>
            <a:pPr indent="0" marL="0">
              <a:lnSpc>
                <a:spcPts val="1900"/>
              </a:lnSpc>
              <a:buNone/>
            </a:pPr>
            <a:r>
              <a:rPr lang="en-US" sz="1200" b="1" dirty="0">
                <a:solidFill>
                  <a:srgbClr val="1A1A1A"/>
                </a:solidFill>
                <a:latin typeface="Arial" pitchFamily="34" charset="0"/>
                <a:ea typeface="Arial" pitchFamily="34" charset="-122"/>
                <a:cs typeface="Arial" pitchFamily="34" charset="-120"/>
              </a:rPr>
              <a:t>Điều luật dài</a:t>
            </a:r>
            <a:pPr indent="0" marL="0">
              <a:lnSpc>
                <a:spcPts val="1900"/>
              </a:lnSpc>
              <a:buNone/>
            </a:pPr>
            <a:r>
              <a:rPr lang="en-US" sz="1200" dirty="0">
                <a:solidFill>
                  <a:srgbClr val="1A1A1A"/>
                </a:solidFill>
                <a:latin typeface="Arial" pitchFamily="34" charset="0"/>
                <a:ea typeface="Arial" pitchFamily="34" charset="-122"/>
                <a:cs typeface="Arial" pitchFamily="34" charset="-120"/>
              </a:rPr>
              <a:t>: trung vị 183 từ, dài nhất 55.368 từ, vượt xa trần của mô hình</a:t>
            </a:r>
            <a:endParaRPr lang="en-US" sz="1200" dirty="0"/>
          </a:p>
          <a:p>
            <a:pPr indent="0" marL="0">
              <a:lnSpc>
                <a:spcPts val="1900"/>
              </a:lnSpc>
              <a:buNone/>
            </a:pPr>
            <a:r>
              <a:rPr lang="en-US" sz="1200" b="1" dirty="0">
                <a:solidFill>
                  <a:srgbClr val="1A1A1A"/>
                </a:solidFill>
                <a:latin typeface="Arial" pitchFamily="34" charset="0"/>
                <a:ea typeface="Arial" pitchFamily="34" charset="-122"/>
                <a:cs typeface="Arial" pitchFamily="34" charset="-120"/>
              </a:rPr>
              <a:t>Dữ liệu công bố vẫn còn lỗi</a:t>
            </a:r>
            <a:pPr indent="0" marL="0">
              <a:lnSpc>
                <a:spcPts val="1900"/>
              </a:lnSpc>
              <a:buNone/>
            </a:pPr>
            <a:r>
              <a:rPr lang="en-US" sz="1200" dirty="0">
                <a:solidFill>
                  <a:srgbClr val="1A1A1A"/>
                </a:solidFill>
                <a:latin typeface="Arial" pitchFamily="34" charset="0"/>
                <a:ea typeface="Arial" pitchFamily="34" charset="-122"/>
                <a:cs typeface="Arial" pitchFamily="34" charset="-120"/>
              </a:rPr>
              <a:t>: phần sau sẽ chỉ ra sáu vấn đề đo được</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Nghiên cứu trước: năm hướng đã có</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4</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84048" y="960120"/>
          <a:ext cx="8375904" cy="914400"/>
        </p:xfrm>
        <a:graphic>
          <a:graphicData uri="http://schemas.openxmlformats.org/drawingml/2006/table">
            <a:tbl>
              <a:tblPr/>
              <a:tblGrid>
                <a:gridCol w="1920240"/>
                <a:gridCol w="3986784"/>
                <a:gridCol w="2468880"/>
              </a:tblGrid>
              <a:tr h="329184">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Hướng</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Công trình tiêu biểu</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Họ kết luận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822960">
                <a:tc>
                  <a:txBody>
                    <a:bodyPr/>
                    <a:lstStyle/>
                    <a:p>
                      <a:pPr indent="0" marL="0">
                        <a:buNone/>
                      </a:pPr>
                      <a:r>
                        <a:rPr lang="en-US" sz="1100" b="1" dirty="0">
                          <a:solidFill>
                            <a:srgbClr val="1A1A1A"/>
                          </a:solidFill>
                          <a:latin typeface="Arial" pitchFamily="34" charset="0"/>
                          <a:ea typeface="Arial" pitchFamily="34" charset="-122"/>
                          <a:cs typeface="Arial" pitchFamily="34" charset="-120"/>
                        </a:rPr>
                        <a:t>Lai BM25 và ngữ nghĩa, văn bản tiếng Việt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Hai đội Zalo AI 2021 (mã công khai); Khang và cs. 2024; Giang và cs. 2025; ViDRILL, VLSP 2025; Nguyen và Quan, EACL 2026 (10 bộ dữ liệu)</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Lai tốt hơn từng tầng. Không bài nào kết luận ngược</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640080">
                <a:tc>
                  <a:txBody>
                    <a:bodyPr/>
                    <a:lstStyle/>
                    <a:p>
                      <a:pPr indent="0" marL="0">
                        <a:buNone/>
                      </a:pPr>
                      <a:r>
                        <a:rPr lang="en-US" sz="1100" b="1" dirty="0">
                          <a:solidFill>
                            <a:srgbClr val="1A1A1A"/>
                          </a:solidFill>
                          <a:latin typeface="Arial" pitchFamily="34" charset="0"/>
                          <a:ea typeface="Arial" pitchFamily="34" charset="-122"/>
                          <a:cs typeface="Arial" pitchFamily="34" charset="-120"/>
                        </a:rPr>
                        <a:t>Làm mạnh tầng ngữ nghĩa</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Pham và cs. 2022; Pham Tien và cs. 2024; Le và cs. 2025, UIT; ALQAC 2021-2023</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Cải tiến mô hình, không hỏi BM25 còn góp bao nhiêu</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r>
              <a:tr h="530352">
                <a:tc>
                  <a:txBody>
                    <a:bodyPr/>
                    <a:lstStyle/>
                    <a:p>
                      <a:pPr indent="0" marL="0">
                        <a:buNone/>
                      </a:pPr>
                      <a:r>
                        <a:rPr lang="en-US" sz="1100" b="1" dirty="0">
                          <a:solidFill>
                            <a:srgbClr val="1A1A1A"/>
                          </a:solidFill>
                          <a:latin typeface="Arial" pitchFamily="34" charset="0"/>
                          <a:ea typeface="Arial" pitchFamily="34" charset="-122"/>
                          <a:cs typeface="Arial" pitchFamily="34" charset="-120"/>
                        </a:rPr>
                        <a:t>Cách hợp nhất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Cormack và cs. 2009 (RRF); Bruch và cs. 2023, ACM TOIS</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2D75B6"/>
                          </a:solidFill>
                          <a:latin typeface="Arial" pitchFamily="34" charset="0"/>
                          <a:ea typeface="Arial" pitchFamily="34" charset="-122"/>
                          <a:cs typeface="Arial" pitchFamily="34" charset="-120"/>
                        </a:rPr>
                        <a:t>Tổng trọng số hơn RRF khi chỉnh được</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585216">
                <a:tc>
                  <a:txBody>
                    <a:bodyPr/>
                    <a:lstStyle/>
                    <a:p>
                      <a:pPr indent="0" marL="0">
                        <a:buNone/>
                      </a:pPr>
                      <a:r>
                        <a:rPr lang="en-US" sz="1100" b="1" dirty="0">
                          <a:solidFill>
                            <a:srgbClr val="1A1A1A"/>
                          </a:solidFill>
                          <a:latin typeface="Arial" pitchFamily="34" charset="0"/>
                          <a:ea typeface="Arial" pitchFamily="34" charset="-122"/>
                          <a:cs typeface="Arial" pitchFamily="34" charset="-120"/>
                        </a:rPr>
                        <a:t>Phục hồi dấu tiếng Việt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Pham, Pham, Le-Hong 2017 (IALP); Le-Hong 2021 (Knowledge-Based Systems)</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1100" b="1" dirty="0">
                          <a:solidFill>
                            <a:srgbClr val="C0392B"/>
                          </a:solidFill>
                          <a:latin typeface="Arial" pitchFamily="34" charset="0"/>
                          <a:ea typeface="Arial" pitchFamily="34" charset="-122"/>
                          <a:cs typeface="Arial" pitchFamily="34" charset="-120"/>
                        </a:rPr>
                        <a:t>Khoảng 97%, nhưng chưa đo cho truy hồi</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r>
              <a:tr h="530352">
                <a:tc>
                  <a:txBody>
                    <a:bodyPr/>
                    <a:lstStyle/>
                    <a:p>
                      <a:pPr indent="0" marL="0">
                        <a:buNone/>
                      </a:pPr>
                      <a:r>
                        <a:rPr lang="en-US" sz="1100" b="1" dirty="0">
                          <a:solidFill>
                            <a:srgbClr val="1A1A1A"/>
                          </a:solidFill>
                          <a:latin typeface="Arial" pitchFamily="34" charset="0"/>
                          <a:ea typeface="Arial" pitchFamily="34" charset="-122"/>
                          <a:cs typeface="Arial" pitchFamily="34" charset="-120"/>
                        </a:rPr>
                        <a:t>Đánh giá mô hình nhúng</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MMTEB, ICLR 2025; Chung và cs. 2025</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2D75B6"/>
                          </a:solidFill>
                          <a:latin typeface="Arial" pitchFamily="34" charset="0"/>
                          <a:ea typeface="Arial" pitchFamily="34" charset="-122"/>
                          <a:cs typeface="Arial" pitchFamily="34" charset="-120"/>
                        </a:rPr>
                        <a:t>Phải đánh dấu mô hình đã học dữ liệu tác vụ</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6"/>
          <p:cNvSpPr/>
          <p:nvPr/>
        </p:nvSpPr>
        <p:spPr>
          <a:xfrm>
            <a:off x="384048" y="4572000"/>
            <a:ext cx="4096512" cy="1600200"/>
          </a:xfrm>
          <a:prstGeom prst="roundRect">
            <a:avLst>
              <a:gd name="adj" fmla="val 3429"/>
            </a:avLst>
          </a:prstGeom>
          <a:solidFill>
            <a:srgbClr val="F4F8FC"/>
          </a:solidFill>
          <a:ln w="15875">
            <a:solidFill>
              <a:srgbClr val="2D75B6"/>
            </a:solidFill>
            <a:prstDash val="solid"/>
          </a:ln>
        </p:spPr>
      </p:sp>
      <p:sp>
        <p:nvSpPr>
          <p:cNvPr id="11" name="Text 7"/>
          <p:cNvSpPr txBox="1"/>
          <p:nvPr/>
        </p:nvSpPr>
        <p:spPr>
          <a:xfrm>
            <a:off x="585216" y="4663440"/>
            <a:ext cx="374904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BM25 vẫn là mốc mạnh</a:t>
            </a:r>
            <a:endParaRPr lang="en-US" sz="1250" dirty="0"/>
          </a:p>
        </p:txBody>
      </p:sp>
      <p:sp>
        <p:nvSpPr>
          <p:cNvPr id="12" name="Text 8"/>
          <p:cNvSpPr txBox="1"/>
          <p:nvPr/>
        </p:nvSpPr>
        <p:spPr>
          <a:xfrm>
            <a:off x="585216" y="4956048"/>
            <a:ext cx="3749040" cy="1170432"/>
          </a:xfrm>
          <a:prstGeom prst="rect">
            <a:avLst/>
          </a:prstGeom>
          <a:noFill/>
          <a:ln/>
        </p:spPr>
        <p:txBody>
          <a:bodyPr wrap="square" lIns="0" tIns="0" rIns="0" bIns="0" rtlCol="0" anchor="t"/>
          <a:lstStyle/>
          <a:p>
            <a:pPr indent="0" marL="0">
              <a:lnSpc>
                <a:spcPts val="1500"/>
              </a:lnSpc>
              <a:buNone/>
            </a:pPr>
            <a:r>
              <a:rPr lang="en-US" sz="1100" dirty="0">
                <a:solidFill>
                  <a:srgbClr val="1A1A1A"/>
                </a:solidFill>
                <a:latin typeface="Arial" pitchFamily="34" charset="0"/>
                <a:ea typeface="Arial" pitchFamily="34" charset="-122"/>
                <a:cs typeface="Arial" pitchFamily="34" charset="-120"/>
              </a:rPr>
              <a:t>Rosa và cs. 2021: chỉ dùng BM25 vẫn đứng hạng 2 ở COLIEE 2021, cuộc thi truy hồi văn bản pháp lý. Vì vậy BM25 là đối chứng bắt buộc, không phải để cho có.</a:t>
            </a:r>
            <a:endParaRPr lang="en-US" sz="1100" dirty="0"/>
          </a:p>
        </p:txBody>
      </p:sp>
      <p:sp>
        <p:nvSpPr>
          <p:cNvPr id="13" name="Shape 9"/>
          <p:cNvSpPr/>
          <p:nvPr/>
        </p:nvSpPr>
        <p:spPr>
          <a:xfrm>
            <a:off x="4663440" y="4572000"/>
            <a:ext cx="4096512" cy="1600200"/>
          </a:xfrm>
          <a:prstGeom prst="roundRect">
            <a:avLst>
              <a:gd name="adj" fmla="val 3429"/>
            </a:avLst>
          </a:prstGeom>
          <a:solidFill>
            <a:srgbClr val="FFF8F0"/>
          </a:solidFill>
          <a:ln w="15875">
            <a:solidFill>
              <a:srgbClr val="D68910"/>
            </a:solidFill>
            <a:prstDash val="solid"/>
          </a:ln>
        </p:spPr>
      </p:sp>
      <p:sp>
        <p:nvSpPr>
          <p:cNvPr id="14" name="Text 10"/>
          <p:cNvSpPr txBox="1"/>
          <p:nvPr/>
        </p:nvSpPr>
        <p:spPr>
          <a:xfrm>
            <a:off x="4864608" y="4663440"/>
            <a:ext cx="3749040" cy="27432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Hai model card trên đúng bộ Zalo</a:t>
            </a:r>
            <a:endParaRPr lang="en-US" sz="1250" dirty="0"/>
          </a:p>
        </p:txBody>
      </p:sp>
      <p:sp>
        <p:nvSpPr>
          <p:cNvPr id="15" name="Text 11"/>
          <p:cNvSpPr txBox="1"/>
          <p:nvPr/>
        </p:nvSpPr>
        <p:spPr>
          <a:xfrm>
            <a:off x="4864608" y="4956048"/>
            <a:ext cx="3749040" cy="1170432"/>
          </a:xfrm>
          <a:prstGeom prst="rect">
            <a:avLst/>
          </a:prstGeom>
          <a:noFill/>
          <a:ln/>
        </p:spPr>
        <p:txBody>
          <a:bodyPr wrap="square" lIns="0" tIns="0" rIns="0" bIns="0" rtlCol="0" anchor="t"/>
          <a:lstStyle/>
          <a:p>
            <a:pPr indent="0" marL="0">
              <a:lnSpc>
                <a:spcPts val="1500"/>
              </a:lnSpc>
              <a:buNone/>
            </a:pPr>
            <a:r>
              <a:rPr lang="en-US" sz="1100" b="1" dirty="0">
                <a:solidFill>
                  <a:srgbClr val="1A1A1A"/>
                </a:solidFill>
                <a:latin typeface="Arial" pitchFamily="34" charset="0"/>
                <a:ea typeface="Arial" pitchFamily="34" charset="-122"/>
                <a:cs typeface="Arial" pitchFamily="34" charset="-120"/>
              </a:rPr>
              <a:t>bkai</a:t>
            </a:r>
            <a:pPr indent="0" marL="0">
              <a:lnSpc>
                <a:spcPts val="1500"/>
              </a:lnSpc>
              <a:buNone/>
            </a:pPr>
            <a:r>
              <a:rPr lang="en-US" sz="1100" dirty="0">
                <a:solidFill>
                  <a:srgbClr val="1A1A1A"/>
                </a:solidFill>
                <a:latin typeface="Arial" pitchFamily="34" charset="0"/>
                <a:ea typeface="Arial" pitchFamily="34" charset="-122"/>
                <a:cs typeface="Arial" pitchFamily="34" charset="-120"/>
              </a:rPr>
              <a:t>, phổ biến nhất: học 80% tập train Zalo 2021.</a:t>
            </a:r>
            <a:endParaRPr lang="en-US" sz="1100" dirty="0"/>
          </a:p>
          <a:p>
            <a:pPr indent="0" marL="0">
              <a:lnSpc>
                <a:spcPts val="1500"/>
              </a:lnSpc>
              <a:buNone/>
            </a:pPr>
            <a:r>
              <a:rPr lang="en-US" sz="1100" b="1" dirty="0">
                <a:solidFill>
                  <a:srgbClr val="1A1A1A"/>
                </a:solidFill>
                <a:latin typeface="Arial" pitchFamily="34" charset="0"/>
                <a:ea typeface="Arial" pitchFamily="34" charset="-122"/>
                <a:cs typeface="Arial" pitchFamily="34" charset="-120"/>
              </a:rPr>
              <a:t>vnlegal-lal</a:t>
            </a:r>
            <a:pPr indent="0" marL="0">
              <a:lnSpc>
                <a:spcPts val="1500"/>
              </a:lnSpc>
              <a:buNone/>
            </a:pPr>
            <a:r>
              <a:rPr lang="en-US" sz="1100" dirty="0">
                <a:solidFill>
                  <a:srgbClr val="1A1A1A"/>
                </a:solidFill>
                <a:latin typeface="Arial" pitchFamily="34" charset="0"/>
                <a:ea typeface="Arial" pitchFamily="34" charset="-122"/>
                <a:cs typeface="Arial" pitchFamily="34" charset="-120"/>
              </a:rPr>
              <a:t>, tự nhận tốt nhất trên bộ này: cũng học trên chính bộ này, và được xếp cạnh các mô hình chưa học mà không đánh dấu.</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Khoảng trống và hai câu hỏi nghiên cứu</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5</a:t>
            </a:r>
            <a:endParaRPr lang="en-US" sz="1100" dirty="0"/>
          </a:p>
        </p:txBody>
      </p:sp>
      <p:sp>
        <p:nvSpPr>
          <p:cNvPr id="9" name="Shape 6"/>
          <p:cNvSpPr/>
          <p:nvPr/>
        </p:nvSpPr>
        <p:spPr>
          <a:xfrm>
            <a:off x="384048" y="960120"/>
            <a:ext cx="4133088" cy="1280160"/>
          </a:xfrm>
          <a:prstGeom prst="roundRect">
            <a:avLst>
              <a:gd name="adj" fmla="val 4286"/>
            </a:avLst>
          </a:prstGeom>
          <a:solidFill>
            <a:srgbClr val="FDEDEC"/>
          </a:solidFill>
          <a:ln w="15875">
            <a:solidFill>
              <a:srgbClr val="C0392B"/>
            </a:solidFill>
            <a:prstDash val="solid"/>
          </a:ln>
        </p:spPr>
      </p:sp>
      <p:sp>
        <p:nvSpPr>
          <p:cNvPr id="10" name="Shape 7"/>
          <p:cNvSpPr/>
          <p:nvPr/>
        </p:nvSpPr>
        <p:spPr>
          <a:xfrm>
            <a:off x="521208" y="1088136"/>
            <a:ext cx="365760" cy="365760"/>
          </a:xfrm>
          <a:prstGeom prst="ellipse">
            <a:avLst/>
          </a:prstGeom>
          <a:solidFill>
            <a:srgbClr val="C0392B"/>
          </a:solidFill>
          <a:ln/>
        </p:spPr>
      </p:sp>
      <p:sp>
        <p:nvSpPr>
          <p:cNvPr id="11" name="Text 8"/>
          <p:cNvSpPr txBox="1"/>
          <p:nvPr/>
        </p:nvSpPr>
        <p:spPr>
          <a:xfrm>
            <a:off x="521208" y="108813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txBox="1"/>
          <p:nvPr/>
        </p:nvSpPr>
        <p:spPr>
          <a:xfrm>
            <a:off x="1005840" y="1088136"/>
            <a:ext cx="3383280" cy="36576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Câu hỏi gõ không dấu</a:t>
            </a:r>
            <a:endParaRPr lang="en-US" sz="1250" dirty="0"/>
          </a:p>
        </p:txBody>
      </p:sp>
      <p:sp>
        <p:nvSpPr>
          <p:cNvPr id="13" name="Text 10"/>
          <p:cNvSpPr txBox="1"/>
          <p:nvPr/>
        </p:nvSpPr>
        <p:spPr>
          <a:xfrm>
            <a:off x="566928" y="1545336"/>
            <a:ext cx="3794760" cy="640080"/>
          </a:xfrm>
          <a:prstGeom prst="rect">
            <a:avLst/>
          </a:prstGeom>
          <a:noFill/>
          <a:ln/>
        </p:spPr>
        <p:txBody>
          <a:bodyPr wrap="square" lIns="0" tIns="0" rIns="0" bIns="0" rtlCol="0" anchor="t"/>
          <a:lstStyle/>
          <a:p>
            <a:pPr indent="0" marL="0">
              <a:lnSpc>
                <a:spcPts val="1500"/>
              </a:lnSpc>
              <a:buNone/>
            </a:pPr>
            <a:r>
              <a:rPr lang="en-US" sz="1150" dirty="0">
                <a:solidFill>
                  <a:srgbClr val="1A1A1A"/>
                </a:solidFill>
                <a:latin typeface="Arial" pitchFamily="34" charset="0"/>
                <a:ea typeface="Arial" pitchFamily="34" charset="-122"/>
                <a:cs typeface="Arial" pitchFamily="34" charset="-120"/>
              </a:rPr>
              <a:t>Bài tìm luật chỉ chấm câu có dấu. Bài phục hồi dấu không đo truy hồi.</a:t>
            </a:r>
            <a:endParaRPr lang="en-US" sz="1150" dirty="0"/>
          </a:p>
        </p:txBody>
      </p:sp>
      <p:sp>
        <p:nvSpPr>
          <p:cNvPr id="14" name="Shape 11"/>
          <p:cNvSpPr/>
          <p:nvPr/>
        </p:nvSpPr>
        <p:spPr>
          <a:xfrm>
            <a:off x="4626864" y="960120"/>
            <a:ext cx="4133088" cy="1280160"/>
          </a:xfrm>
          <a:prstGeom prst="roundRect">
            <a:avLst>
              <a:gd name="adj" fmla="val 4286"/>
            </a:avLst>
          </a:prstGeom>
          <a:solidFill>
            <a:srgbClr val="FFFFFF"/>
          </a:solidFill>
          <a:ln w="15875">
            <a:solidFill>
              <a:srgbClr val="D68910"/>
            </a:solidFill>
            <a:prstDash val="solid"/>
          </a:ln>
        </p:spPr>
      </p:sp>
      <p:sp>
        <p:nvSpPr>
          <p:cNvPr id="15" name="Shape 12"/>
          <p:cNvSpPr/>
          <p:nvPr/>
        </p:nvSpPr>
        <p:spPr>
          <a:xfrm>
            <a:off x="4764024" y="1088136"/>
            <a:ext cx="365760" cy="365760"/>
          </a:xfrm>
          <a:prstGeom prst="ellipse">
            <a:avLst/>
          </a:prstGeom>
          <a:solidFill>
            <a:srgbClr val="D68910"/>
          </a:solidFill>
          <a:ln/>
        </p:spPr>
      </p:sp>
      <p:sp>
        <p:nvSpPr>
          <p:cNvPr id="16" name="Text 13"/>
          <p:cNvSpPr txBox="1"/>
          <p:nvPr/>
        </p:nvSpPr>
        <p:spPr>
          <a:xfrm>
            <a:off x="4764024" y="108813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7" name="Text 14"/>
          <p:cNvSpPr txBox="1"/>
          <p:nvPr/>
        </p:nvSpPr>
        <p:spPr>
          <a:xfrm>
            <a:off x="5248656" y="1088136"/>
            <a:ext cx="3383280" cy="36576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Mô hình đã thấy dữ liệu chưa?</a:t>
            </a:r>
            <a:endParaRPr lang="en-US" sz="1250" dirty="0"/>
          </a:p>
        </p:txBody>
      </p:sp>
      <p:sp>
        <p:nvSpPr>
          <p:cNvPr id="18" name="Text 15"/>
          <p:cNvSpPr txBox="1"/>
          <p:nvPr/>
        </p:nvSpPr>
        <p:spPr>
          <a:xfrm>
            <a:off x="4809744" y="1545336"/>
            <a:ext cx="3794760" cy="640080"/>
          </a:xfrm>
          <a:prstGeom prst="rect">
            <a:avLst/>
          </a:prstGeom>
          <a:noFill/>
          <a:ln/>
        </p:spPr>
        <p:txBody>
          <a:bodyPr wrap="square" lIns="0" tIns="0" rIns="0" bIns="0" rtlCol="0" anchor="t"/>
          <a:lstStyle/>
          <a:p>
            <a:pPr indent="0" marL="0">
              <a:lnSpc>
                <a:spcPts val="1500"/>
              </a:lnSpc>
              <a:buNone/>
            </a:pPr>
            <a:r>
              <a:rPr lang="en-US" sz="1150" dirty="0">
                <a:solidFill>
                  <a:srgbClr val="1A1A1A"/>
                </a:solidFill>
                <a:latin typeface="Arial" pitchFamily="34" charset="0"/>
                <a:ea typeface="Arial" pitchFamily="34" charset="-122"/>
                <a:cs typeface="Arial" pitchFamily="34" charset="-120"/>
              </a:rPr>
              <a:t>Mô hình phổ biến nhất và mô hình tự nhận tốt nhất trên bộ Zalo đều đã học chính bộ này.</a:t>
            </a:r>
            <a:endParaRPr lang="en-US" sz="1150" dirty="0"/>
          </a:p>
        </p:txBody>
      </p:sp>
      <p:sp>
        <p:nvSpPr>
          <p:cNvPr id="19" name="Shape 16"/>
          <p:cNvSpPr/>
          <p:nvPr/>
        </p:nvSpPr>
        <p:spPr>
          <a:xfrm>
            <a:off x="384048" y="2350008"/>
            <a:ext cx="4133088" cy="1280160"/>
          </a:xfrm>
          <a:prstGeom prst="roundRect">
            <a:avLst>
              <a:gd name="adj" fmla="val 4286"/>
            </a:avLst>
          </a:prstGeom>
          <a:solidFill>
            <a:srgbClr val="FFFFFF"/>
          </a:solidFill>
          <a:ln w="15875">
            <a:solidFill>
              <a:srgbClr val="D68910"/>
            </a:solidFill>
            <a:prstDash val="solid"/>
          </a:ln>
        </p:spPr>
      </p:sp>
      <p:sp>
        <p:nvSpPr>
          <p:cNvPr id="20" name="Shape 17"/>
          <p:cNvSpPr/>
          <p:nvPr/>
        </p:nvSpPr>
        <p:spPr>
          <a:xfrm>
            <a:off x="521208" y="2478024"/>
            <a:ext cx="365760" cy="365760"/>
          </a:xfrm>
          <a:prstGeom prst="ellipse">
            <a:avLst/>
          </a:prstGeom>
          <a:solidFill>
            <a:srgbClr val="D68910"/>
          </a:solidFill>
          <a:ln/>
        </p:spPr>
      </p:sp>
      <p:sp>
        <p:nvSpPr>
          <p:cNvPr id="21" name="Text 18"/>
          <p:cNvSpPr txBox="1"/>
          <p:nvPr/>
        </p:nvSpPr>
        <p:spPr>
          <a:xfrm>
            <a:off x="521208"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2" name="Text 19"/>
          <p:cNvSpPr txBox="1"/>
          <p:nvPr/>
        </p:nvSpPr>
        <p:spPr>
          <a:xfrm>
            <a:off x="1005840" y="2478024"/>
            <a:ext cx="3383280" cy="36576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Split gốc có sạch không?</a:t>
            </a:r>
            <a:endParaRPr lang="en-US" sz="1250" dirty="0"/>
          </a:p>
        </p:txBody>
      </p:sp>
      <p:sp>
        <p:nvSpPr>
          <p:cNvPr id="23" name="Text 20"/>
          <p:cNvSpPr txBox="1"/>
          <p:nvPr/>
        </p:nvSpPr>
        <p:spPr>
          <a:xfrm>
            <a:off x="566928" y="2935224"/>
            <a:ext cx="3794760" cy="640080"/>
          </a:xfrm>
          <a:prstGeom prst="rect">
            <a:avLst/>
          </a:prstGeom>
          <a:noFill/>
          <a:ln/>
        </p:spPr>
        <p:txBody>
          <a:bodyPr wrap="square" lIns="0" tIns="0" rIns="0" bIns="0" rtlCol="0" anchor="t"/>
          <a:lstStyle/>
          <a:p>
            <a:pPr indent="0" marL="0">
              <a:lnSpc>
                <a:spcPts val="1500"/>
              </a:lnSpc>
              <a:buNone/>
            </a:pPr>
            <a:r>
              <a:rPr lang="en-US" sz="1150" dirty="0">
                <a:solidFill>
                  <a:srgbClr val="1A1A1A"/>
                </a:solidFill>
                <a:latin typeface="Arial" pitchFamily="34" charset="0"/>
                <a:ea typeface="Arial" pitchFamily="34" charset="-122"/>
                <a:cs typeface="Arial" pitchFamily="34" charset="-120"/>
              </a:rPr>
              <a:t>Các bài dùng nguyên split của ban tổ chức, không ai kiểm câu hỏi trùng.</a:t>
            </a:r>
            <a:endParaRPr lang="en-US" sz="1150" dirty="0"/>
          </a:p>
        </p:txBody>
      </p:sp>
      <p:sp>
        <p:nvSpPr>
          <p:cNvPr id="24" name="Shape 21"/>
          <p:cNvSpPr/>
          <p:nvPr/>
        </p:nvSpPr>
        <p:spPr>
          <a:xfrm>
            <a:off x="4626864" y="2350008"/>
            <a:ext cx="4133088" cy="1280160"/>
          </a:xfrm>
          <a:prstGeom prst="roundRect">
            <a:avLst>
              <a:gd name="adj" fmla="val 4286"/>
            </a:avLst>
          </a:prstGeom>
          <a:solidFill>
            <a:srgbClr val="FFFFFF"/>
          </a:solidFill>
          <a:ln w="15875">
            <a:solidFill>
              <a:srgbClr val="D68910"/>
            </a:solidFill>
            <a:prstDash val="solid"/>
          </a:ln>
        </p:spPr>
      </p:sp>
      <p:sp>
        <p:nvSpPr>
          <p:cNvPr id="25" name="Shape 22"/>
          <p:cNvSpPr/>
          <p:nvPr/>
        </p:nvSpPr>
        <p:spPr>
          <a:xfrm>
            <a:off x="4764024" y="2478024"/>
            <a:ext cx="365760" cy="365760"/>
          </a:xfrm>
          <a:prstGeom prst="ellipse">
            <a:avLst/>
          </a:prstGeom>
          <a:solidFill>
            <a:srgbClr val="D68910"/>
          </a:solidFill>
          <a:ln/>
        </p:spPr>
      </p:sp>
      <p:sp>
        <p:nvSpPr>
          <p:cNvPr id="26" name="Text 23"/>
          <p:cNvSpPr txBox="1"/>
          <p:nvPr/>
        </p:nvSpPr>
        <p:spPr>
          <a:xfrm>
            <a:off x="4764024"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7" name="Text 24"/>
          <p:cNvSpPr txBox="1"/>
          <p:nvPr/>
        </p:nvSpPr>
        <p:spPr>
          <a:xfrm>
            <a:off x="5248656" y="2478024"/>
            <a:ext cx="3383280" cy="36576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Ghép bằng cách nào?</a:t>
            </a:r>
            <a:endParaRPr lang="en-US" sz="1250" dirty="0"/>
          </a:p>
        </p:txBody>
      </p:sp>
      <p:sp>
        <p:nvSpPr>
          <p:cNvPr id="28" name="Text 25"/>
          <p:cNvSpPr txBox="1"/>
          <p:nvPr/>
        </p:nvSpPr>
        <p:spPr>
          <a:xfrm>
            <a:off x="4809744" y="2935224"/>
            <a:ext cx="3794760" cy="640080"/>
          </a:xfrm>
          <a:prstGeom prst="rect">
            <a:avLst/>
          </a:prstGeom>
          <a:noFill/>
          <a:ln/>
        </p:spPr>
        <p:txBody>
          <a:bodyPr wrap="square" lIns="0" tIns="0" rIns="0" bIns="0" rtlCol="0" anchor="t"/>
          <a:lstStyle/>
          <a:p>
            <a:pPr indent="0" marL="0">
              <a:lnSpc>
                <a:spcPts val="1500"/>
              </a:lnSpc>
              <a:buNone/>
            </a:pPr>
            <a:r>
              <a:rPr lang="en-US" sz="1150" dirty="0">
                <a:solidFill>
                  <a:srgbClr val="1A1A1A"/>
                </a:solidFill>
                <a:latin typeface="Arial" pitchFamily="34" charset="0"/>
                <a:ea typeface="Arial" pitchFamily="34" charset="-122"/>
                <a:cs typeface="Arial" pitchFamily="34" charset="-120"/>
              </a:rPr>
              <a:t>Nhân điểm (Zalo 2021), RRF (Nguyen Ba và cs. 2024), ít khi so trên val.</a:t>
            </a:r>
            <a:endParaRPr lang="en-US" sz="1150" dirty="0"/>
          </a:p>
        </p:txBody>
      </p:sp>
      <p:sp>
        <p:nvSpPr>
          <p:cNvPr id="29" name="Shape 26"/>
          <p:cNvSpPr/>
          <p:nvPr/>
        </p:nvSpPr>
        <p:spPr>
          <a:xfrm>
            <a:off x="384048" y="3858768"/>
            <a:ext cx="8375904" cy="1920240"/>
          </a:xfrm>
          <a:prstGeom prst="roundRect">
            <a:avLst>
              <a:gd name="adj" fmla="val 2857"/>
            </a:avLst>
          </a:prstGeom>
          <a:solidFill>
            <a:srgbClr val="EAF6EE"/>
          </a:solidFill>
          <a:ln w="15875">
            <a:solidFill>
              <a:srgbClr val="1E7A4B"/>
            </a:solidFill>
            <a:prstDash val="solid"/>
          </a:ln>
        </p:spPr>
      </p:sp>
      <p:sp>
        <p:nvSpPr>
          <p:cNvPr id="30" name="Text 27"/>
          <p:cNvSpPr txBox="1"/>
          <p:nvPr/>
        </p:nvSpPr>
        <p:spPr>
          <a:xfrm>
            <a:off x="594360" y="3950208"/>
            <a:ext cx="7955280" cy="274320"/>
          </a:xfrm>
          <a:prstGeom prst="rect">
            <a:avLst/>
          </a:prstGeom>
          <a:noFill/>
          <a:ln/>
        </p:spPr>
        <p:txBody>
          <a:bodyPr wrap="square" lIns="0" tIns="0" rIns="0" bIns="0" rtlCol="0" anchor="ctr"/>
          <a:lstStyle/>
          <a:p>
            <a:pPr indent="0" marL="0">
              <a:buNone/>
            </a:pPr>
            <a:r>
              <a:rPr lang="en-US" sz="1250" b="1" dirty="0">
                <a:solidFill>
                  <a:srgbClr val="1E7A4B"/>
                </a:solidFill>
                <a:latin typeface="Arial" pitchFamily="34" charset="0"/>
                <a:ea typeface="Arial" pitchFamily="34" charset="-122"/>
                <a:cs typeface="Arial" pitchFamily="34" charset="-120"/>
              </a:rPr>
              <a:t>Hai câu hỏi nghiên cứu</a:t>
            </a:r>
            <a:endParaRPr lang="en-US" sz="1250" dirty="0"/>
          </a:p>
        </p:txBody>
      </p:sp>
      <p:sp>
        <p:nvSpPr>
          <p:cNvPr id="31" name="Text 28"/>
          <p:cNvSpPr txBox="1"/>
          <p:nvPr/>
        </p:nvSpPr>
        <p:spPr>
          <a:xfrm>
            <a:off x="594360" y="4279392"/>
            <a:ext cx="7955280" cy="1444752"/>
          </a:xfrm>
          <a:prstGeom prst="rect">
            <a:avLst/>
          </a:prstGeom>
          <a:noFill/>
          <a:ln/>
        </p:spPr>
        <p:txBody>
          <a:bodyPr wrap="square" lIns="0" tIns="0" rIns="0" bIns="0" rtlCol="0" anchor="t"/>
          <a:lstStyle/>
          <a:p>
            <a:pPr indent="0" marL="0">
              <a:lnSpc>
                <a:spcPts val="1900"/>
              </a:lnSpc>
              <a:buNone/>
            </a:pPr>
            <a:r>
              <a:rPr lang="en-US" sz="1400" b="1" dirty="0">
                <a:solidFill>
                  <a:srgbClr val="1E7A4B"/>
                </a:solidFill>
                <a:latin typeface="Arial" pitchFamily="34" charset="0"/>
                <a:ea typeface="Arial" pitchFamily="34" charset="-122"/>
                <a:cs typeface="Arial" pitchFamily="34" charset="-120"/>
              </a:rPr>
              <a:t>CH1. </a:t>
            </a:r>
            <a:pPr indent="0" marL="0">
              <a:lnSpc>
                <a:spcPts val="1900"/>
              </a:lnSpc>
              <a:buNone/>
            </a:pPr>
            <a:r>
              <a:rPr lang="en-US" sz="1400" dirty="0">
                <a:solidFill>
                  <a:srgbClr val="1A1A1A"/>
                </a:solidFill>
                <a:latin typeface="Arial" pitchFamily="34" charset="0"/>
                <a:ea typeface="Arial" pitchFamily="34" charset="-122"/>
                <a:cs typeface="Arial" pitchFamily="34" charset="-120"/>
              </a:rPr>
              <a:t>Trên dữ liệu đã kiểm toán, với mô hình ngữ nghĩa chưa thấy dữ liệu, ghép thêm BM25 còn cải thiện được bao nhiêu?</a:t>
            </a:r>
            <a:endParaRPr lang="en-US" sz="1400" dirty="0"/>
          </a:p>
          <a:p>
            <a:pPr indent="0" marL="0">
              <a:lnSpc>
                <a:spcPts val="1900"/>
              </a:lnSpc>
              <a:buNone/>
            </a:pPr>
            <a:r>
              <a:rPr lang="en-US" sz="600" dirty="0">
                <a:solidFill>
                  <a:srgbClr val="1A1A1A"/>
                </a:solidFill>
                <a:latin typeface="Arial" pitchFamily="34" charset="0"/>
                <a:ea typeface="Arial" pitchFamily="34" charset="-122"/>
                <a:cs typeface="Arial" pitchFamily="34" charset="-120"/>
              </a:rPr>
              <a:t> </a:t>
            </a:r>
            <a:endParaRPr lang="en-US" sz="1400" dirty="0"/>
          </a:p>
          <a:p>
            <a:pPr indent="0" marL="0">
              <a:lnSpc>
                <a:spcPts val="1900"/>
              </a:lnSpc>
              <a:buNone/>
            </a:pPr>
            <a:r>
              <a:rPr lang="en-US" sz="1400" b="1" dirty="0">
                <a:solidFill>
                  <a:srgbClr val="C0392B"/>
                </a:solidFill>
                <a:latin typeface="Arial" pitchFamily="34" charset="0"/>
                <a:ea typeface="Arial" pitchFamily="34" charset="-122"/>
                <a:cs typeface="Arial" pitchFamily="34" charset="-120"/>
              </a:rPr>
              <a:t>CH2. </a:t>
            </a:r>
            <a:pPr indent="0" marL="0">
              <a:lnSpc>
                <a:spcPts val="1900"/>
              </a:lnSpc>
              <a:buNone/>
            </a:pPr>
            <a:r>
              <a:rPr lang="en-US" sz="1400" b="1" dirty="0">
                <a:solidFill>
                  <a:srgbClr val="1A1A1A"/>
                </a:solidFill>
                <a:latin typeface="Arial" pitchFamily="34" charset="0"/>
                <a:ea typeface="Arial" pitchFamily="34" charset="-122"/>
                <a:cs typeface="Arial" pitchFamily="34" charset="-120"/>
              </a:rPr>
              <a:t>Khi người dùng gõ không dấu, hệ còn đứng vững không, và cách sửa rẻ nhất là gì?</a:t>
            </a:r>
            <a:endParaRPr lang="en-US" sz="1400" dirty="0"/>
          </a:p>
        </p:txBody>
      </p:sp>
      <p:sp>
        <p:nvSpPr>
          <p:cNvPr id="32" name="Text 29"/>
          <p:cNvSpPr txBox="1"/>
          <p:nvPr/>
        </p:nvSpPr>
        <p:spPr>
          <a:xfrm>
            <a:off x="384048" y="5870448"/>
            <a:ext cx="8375904" cy="365760"/>
          </a:xfrm>
          <a:prstGeom prst="rect">
            <a:avLst/>
          </a:prstGeom>
          <a:noFill/>
          <a:ln/>
        </p:spPr>
        <p:txBody>
          <a:bodyPr wrap="square" lIns="0" tIns="0" rIns="0" bIns="0" rtlCol="0" anchor="ctr"/>
          <a:lstStyle/>
          <a:p>
            <a:pPr indent="0" marL="0">
              <a:buNone/>
            </a:pPr>
            <a:r>
              <a:rPr lang="en-US" sz="1000" i="1" dirty="0">
                <a:solidFill>
                  <a:srgbClr val="5A5A5A"/>
                </a:solidFill>
                <a:latin typeface="Arial" pitchFamily="34" charset="0"/>
                <a:ea typeface="Arial" pitchFamily="34" charset="-122"/>
                <a:cs typeface="Arial" pitchFamily="34" charset="-120"/>
              </a:rPr>
              <a:t>“Chưa ai báo cáo”: theo phần tóm tắt, mã nguồn và model card nhóm đã đối chiếu. Danh sách nguồn ở slide cuối.</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Dữ liệu Zalo 2021 và sáu vấn đề kiểm toán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6</a:t>
            </a:r>
            <a:endParaRPr lang="en-US" sz="1100" dirty="0"/>
          </a:p>
        </p:txBody>
      </p:sp>
      <p:sp>
        <p:nvSpPr>
          <p:cNvPr id="9" name="Text 6"/>
          <p:cNvSpPr txBox="1"/>
          <p:nvPr/>
        </p:nvSpPr>
        <p:spPr>
          <a:xfrm>
            <a:off x="502920" y="914400"/>
            <a:ext cx="8138160" cy="274320"/>
          </a:xfrm>
          <a:prstGeom prst="rect">
            <a:avLst/>
          </a:prstGeom>
          <a:noFill/>
          <a:ln/>
        </p:spPr>
        <p:txBody>
          <a:bodyPr wrap="square" lIns="0" tIns="0" rIns="0" bIns="0" rtlCol="0" anchor="ctr"/>
          <a:lstStyle/>
          <a:p>
            <a:pPr indent="0" marL="0">
              <a:buNone/>
            </a:pPr>
            <a:r>
              <a:rPr lang="en-US" sz="1100" i="1" dirty="0">
                <a:solidFill>
                  <a:srgbClr val="5A5A5A"/>
                </a:solidFill>
                <a:latin typeface="Arial" pitchFamily="34" charset="0"/>
                <a:ea typeface="Arial" pitchFamily="34" charset="-122"/>
                <a:cs typeface="Arial" pitchFamily="34" charset="-120"/>
              </a:rPr>
              <a:t>GreenNode/zalo-ai-legal-text-retrieval-vn, MIT  |  61.425 điều luật, 3.271 văn bản, 3.196 câu hỏi  |  bộ gốc không có val</a:t>
            </a:r>
            <a:endParaRPr lang="en-US" sz="1100" dirty="0"/>
          </a:p>
        </p:txBody>
      </p:sp>
      <p:pic>
        <p:nvPicPr>
          <p:cNvPr id="10" name="Image 0" descr="img/audit_findings.png">    </p:cNvPr>
          <p:cNvPicPr>
            <a:picLocks noChangeAspect="1"/>
          </p:cNvPicPr>
          <p:nvPr/>
        </p:nvPicPr>
        <p:blipFill>
          <a:blip r:embed="rId1"/>
          <a:stretch>
            <a:fillRect/>
          </a:stretch>
        </p:blipFill>
        <p:spPr>
          <a:xfrm>
            <a:off x="685800" y="1243584"/>
            <a:ext cx="7772400" cy="3520440"/>
          </a:xfrm>
          <a:prstGeom prst="rect">
            <a:avLst/>
          </a:prstGeom>
        </p:spPr>
      </p:pic>
      <p:sp>
        <p:nvSpPr>
          <p:cNvPr id="11" name="Shape 7"/>
          <p:cNvSpPr/>
          <p:nvPr/>
        </p:nvSpPr>
        <p:spPr>
          <a:xfrm>
            <a:off x="502920" y="4828032"/>
            <a:ext cx="3977640" cy="1371600"/>
          </a:xfrm>
          <a:prstGeom prst="roundRect">
            <a:avLst>
              <a:gd name="adj" fmla="val 4000"/>
            </a:avLst>
          </a:prstGeom>
          <a:solidFill>
            <a:srgbClr val="FDEDEC"/>
          </a:solidFill>
          <a:ln w="15875">
            <a:solidFill>
              <a:srgbClr val="C0392B"/>
            </a:solidFill>
            <a:prstDash val="solid"/>
          </a:ln>
        </p:spPr>
      </p:sp>
      <p:sp>
        <p:nvSpPr>
          <p:cNvPr id="12" name="Text 8"/>
          <p:cNvSpPr txBox="1"/>
          <p:nvPr/>
        </p:nvSpPr>
        <p:spPr>
          <a:xfrm>
            <a:off x="713232" y="4919472"/>
            <a:ext cx="3566160" cy="274320"/>
          </a:xfrm>
          <a:prstGeom prst="rect">
            <a:avLst/>
          </a:prstGeom>
          <a:noFill/>
          <a:ln/>
        </p:spPr>
        <p:txBody>
          <a:bodyPr wrap="square" lIns="0" tIns="0" rIns="0" bIns="0" rtlCol="0" anchor="ctr"/>
          <a:lstStyle/>
          <a:p>
            <a:pPr indent="0" marL="0">
              <a:buNone/>
            </a:pPr>
            <a:r>
              <a:rPr lang="en-US" sz="1200" b="1" dirty="0">
                <a:solidFill>
                  <a:srgbClr val="C0392B"/>
                </a:solidFill>
                <a:latin typeface="Arial" pitchFamily="34" charset="0"/>
                <a:ea typeface="Arial" pitchFamily="34" charset="-122"/>
                <a:cs typeface="Arial" pitchFamily="34" charset="-120"/>
              </a:rPr>
              <a:t>Rò rỉ giữa train và test</a:t>
            </a:r>
            <a:endParaRPr lang="en-US" sz="1200" dirty="0"/>
          </a:p>
        </p:txBody>
      </p:sp>
      <p:sp>
        <p:nvSpPr>
          <p:cNvPr id="13" name="Text 9"/>
          <p:cNvSpPr txBox="1"/>
          <p:nvPr/>
        </p:nvSpPr>
        <p:spPr>
          <a:xfrm>
            <a:off x="713232" y="5212080"/>
            <a:ext cx="3566160" cy="82296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26 câu hỏi xuất hiện ở cả hai tập.</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Đã loại khỏi train, giữ nguyên test.</a:t>
            </a:r>
            <a:endParaRPr lang="en-US" sz="1150" dirty="0"/>
          </a:p>
        </p:txBody>
      </p:sp>
      <p:sp>
        <p:nvSpPr>
          <p:cNvPr id="14" name="Shape 10"/>
          <p:cNvSpPr/>
          <p:nvPr/>
        </p:nvSpPr>
        <p:spPr>
          <a:xfrm>
            <a:off x="4663440" y="4828032"/>
            <a:ext cx="3977640" cy="1371600"/>
          </a:xfrm>
          <a:prstGeom prst="roundRect">
            <a:avLst>
              <a:gd name="adj" fmla="val 4000"/>
            </a:avLst>
          </a:prstGeom>
          <a:solidFill>
            <a:srgbClr val="FFF8F0"/>
          </a:solidFill>
          <a:ln w="15875">
            <a:solidFill>
              <a:srgbClr val="D68910"/>
            </a:solidFill>
            <a:prstDash val="solid"/>
          </a:ln>
        </p:spPr>
      </p:sp>
      <p:sp>
        <p:nvSpPr>
          <p:cNvPr id="15" name="Text 11"/>
          <p:cNvSpPr txBox="1"/>
          <p:nvPr/>
        </p:nvSpPr>
        <p:spPr>
          <a:xfrm>
            <a:off x="4873752" y="4919472"/>
            <a:ext cx="3566160" cy="274320"/>
          </a:xfrm>
          <a:prstGeom prst="rect">
            <a:avLst/>
          </a:prstGeom>
          <a:noFill/>
          <a:ln/>
        </p:spPr>
        <p:txBody>
          <a:bodyPr wrap="square" lIns="0" tIns="0" rIns="0" bIns="0" rtlCol="0" anchor="ctr"/>
          <a:lstStyle/>
          <a:p>
            <a:pPr indent="0" marL="0">
              <a:buNone/>
            </a:pPr>
            <a:r>
              <a:rPr lang="en-US" sz="1200" b="1" dirty="0">
                <a:solidFill>
                  <a:srgbClr val="B9770E"/>
                </a:solidFill>
                <a:latin typeface="Arial" pitchFamily="34" charset="0"/>
                <a:ea typeface="Arial" pitchFamily="34" charset="-122"/>
                <a:cs typeface="Arial" pitchFamily="34" charset="-120"/>
              </a:rPr>
              <a:t>Bốn văn bản bị tách đôi vì dấu</a:t>
            </a:r>
            <a:endParaRPr lang="en-US" sz="1200" dirty="0"/>
          </a:p>
        </p:txBody>
      </p:sp>
      <p:sp>
        <p:nvSpPr>
          <p:cNvPr id="16" name="Text 12"/>
          <p:cNvSpPr txBox="1"/>
          <p:nvPr/>
        </p:nvSpPr>
        <p:spPr>
          <a:xfrm>
            <a:off x="4873752" y="5212080"/>
            <a:ext cx="3566160" cy="82296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155/2020/nd-cp và 155/2020/nđ-cp là cùng một Nghị định.</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780 điều luật bị nhân đôi.</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Vấn đề nặng nhất: nhãn mâu thuẫn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7</a:t>
            </a:r>
            <a:endParaRPr lang="en-US" sz="1100" dirty="0"/>
          </a:p>
        </p:txBody>
      </p:sp>
      <p:sp>
        <p:nvSpPr>
          <p:cNvPr id="9" name="Text 6"/>
          <p:cNvSpPr txBox="1"/>
          <p:nvPr/>
        </p:nvSpPr>
        <p:spPr>
          <a:xfrm>
            <a:off x="502920" y="932688"/>
            <a:ext cx="8138160" cy="310896"/>
          </a:xfrm>
          <a:prstGeom prst="rect">
            <a:avLst/>
          </a:prstGeom>
          <a:noFill/>
          <a:ln/>
        </p:spPr>
        <p:txBody>
          <a:bodyPr wrap="square" lIns="0" tIns="0" rIns="0" bIns="0" rtlCol="0" anchor="ctr"/>
          <a:lstStyle/>
          <a:p>
            <a:pPr indent="0" marL="0">
              <a:buNone/>
            </a:pPr>
            <a:r>
              <a:rPr lang="en-US" sz="1300" b="1" dirty="0">
                <a:solidFill>
                  <a:srgbClr val="C0392B"/>
                </a:solidFill>
                <a:latin typeface="Arial" pitchFamily="34" charset="0"/>
                <a:ea typeface="Arial" pitchFamily="34" charset="-122"/>
                <a:cs typeface="Arial" pitchFamily="34" charset="-120"/>
              </a:rPr>
              <a:t>Cả 24 trên 24 câu hỏi chồng lấn đều có gold ở train KHÁC gold ở test</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353312"/>
          <a:ext cx="8138160" cy="914400"/>
        </p:xfrm>
        <a:graphic>
          <a:graphicData uri="http://schemas.openxmlformats.org/drawingml/2006/table">
            <a:tbl>
              <a:tblPr/>
              <a:tblGrid>
                <a:gridCol w="3931920"/>
                <a:gridCol w="2103120"/>
                <a:gridCol w="2103120"/>
              </a:tblGrid>
              <a:tr h="457200">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Câu hỏi</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Gold ở train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Gold ở test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457200">
                <a:tc>
                  <a:txBody>
                    <a:bodyPr/>
                    <a:lstStyle/>
                    <a:p>
                      <a:pPr indent="0" marL="0">
                        <a:buNone/>
                      </a:pPr>
                      <a:r>
                        <a:rPr lang="en-US" sz="1050" dirty="0">
                          <a:solidFill>
                            <a:srgbClr val="1A1A1A"/>
                          </a:solidFill>
                          <a:latin typeface="Arial" pitchFamily="34" charset="0"/>
                          <a:ea typeface="Arial" pitchFamily="34" charset="-122"/>
                          <a:cs typeface="Arial" pitchFamily="34" charset="-120"/>
                        </a:rPr>
                        <a:t>Bị thương tật 25%, cơ quan nhà nước có khởi tố không?</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2D75B6"/>
                          </a:solidFill>
                          <a:latin typeface="Arial" pitchFamily="34" charset="0"/>
                          <a:ea typeface="Arial" pitchFamily="34" charset="-122"/>
                          <a:cs typeface="Arial" pitchFamily="34" charset="-120"/>
                        </a:rPr>
                        <a:t>12/2017/qh14+1</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D68910"/>
                          </a:solidFill>
                          <a:latin typeface="Arial" pitchFamily="34" charset="0"/>
                          <a:ea typeface="Arial" pitchFamily="34" charset="-122"/>
                          <a:cs typeface="Arial" pitchFamily="34" charset="-120"/>
                        </a:rPr>
                        <a:t>101/2015/qh13+155</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57200">
                <a:tc>
                  <a:txBody>
                    <a:bodyPr/>
                    <a:lstStyle/>
                    <a:p>
                      <a:pPr indent="0" marL="0">
                        <a:buNone/>
                      </a:pPr>
                      <a:r>
                        <a:rPr lang="en-US" sz="1050" dirty="0">
                          <a:solidFill>
                            <a:srgbClr val="1A1A1A"/>
                          </a:solidFill>
                          <a:latin typeface="Arial" pitchFamily="34" charset="0"/>
                          <a:ea typeface="Arial" pitchFamily="34" charset="-122"/>
                          <a:cs typeface="Arial" pitchFamily="34" charset="-120"/>
                        </a:rPr>
                        <a:t>Tiêu chí xác định thương nhân áp dụng chế độ Luồng Đỏ được q</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1050" dirty="0">
                          <a:solidFill>
                            <a:srgbClr val="2D75B6"/>
                          </a:solidFill>
                          <a:latin typeface="Arial" pitchFamily="34" charset="0"/>
                          <a:ea typeface="Arial" pitchFamily="34" charset="-122"/>
                          <a:cs typeface="Arial" pitchFamily="34" charset="-120"/>
                        </a:rPr>
                        <a:t>31/2018/nđ-cp+29</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1050" dirty="0">
                          <a:solidFill>
                            <a:srgbClr val="D68910"/>
                          </a:solidFill>
                          <a:latin typeface="Arial" pitchFamily="34" charset="0"/>
                          <a:ea typeface="Arial" pitchFamily="34" charset="-122"/>
                          <a:cs typeface="Arial" pitchFamily="34" charset="-120"/>
                        </a:rPr>
                        <a:t>15/2018/tt-bct+6</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r>
              <a:tr h="457200">
                <a:tc>
                  <a:txBody>
                    <a:bodyPr/>
                    <a:lstStyle/>
                    <a:p>
                      <a:pPr indent="0" marL="0">
                        <a:buNone/>
                      </a:pPr>
                      <a:r>
                        <a:rPr lang="en-US" sz="1050" dirty="0">
                          <a:solidFill>
                            <a:srgbClr val="1A1A1A"/>
                          </a:solidFill>
                          <a:latin typeface="Arial" pitchFamily="34" charset="0"/>
                          <a:ea typeface="Arial" pitchFamily="34" charset="-122"/>
                          <a:cs typeface="Arial" pitchFamily="34" charset="-120"/>
                        </a:rPr>
                        <a:t>Đi trường giáo dưỡng được gọi điện thoại về nhà 5 phút/lần đ</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2D75B6"/>
                          </a:solidFill>
                          <a:latin typeface="Arial" pitchFamily="34" charset="0"/>
                          <a:ea typeface="Arial" pitchFamily="34" charset="-122"/>
                          <a:cs typeface="Arial" pitchFamily="34" charset="-120"/>
                        </a:rPr>
                        <a:t>43/2015/tt-bca+2</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D68910"/>
                          </a:solidFill>
                          <a:latin typeface="Arial" pitchFamily="34" charset="0"/>
                          <a:ea typeface="Arial" pitchFamily="34" charset="-122"/>
                          <a:cs typeface="Arial" pitchFamily="34" charset="-120"/>
                        </a:rPr>
                        <a:t>43/2015/tt-bca+12</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Shape 7"/>
          <p:cNvSpPr/>
          <p:nvPr/>
        </p:nvSpPr>
        <p:spPr>
          <a:xfrm>
            <a:off x="502920" y="3246120"/>
            <a:ext cx="8138160" cy="1234440"/>
          </a:xfrm>
          <a:prstGeom prst="roundRect">
            <a:avLst>
              <a:gd name="adj" fmla="val 4444"/>
            </a:avLst>
          </a:prstGeom>
          <a:solidFill>
            <a:srgbClr val="F4F8FC"/>
          </a:solidFill>
          <a:ln w="15875">
            <a:solidFill>
              <a:srgbClr val="2D75B6"/>
            </a:solidFill>
            <a:prstDash val="solid"/>
          </a:ln>
        </p:spPr>
      </p:sp>
      <p:sp>
        <p:nvSpPr>
          <p:cNvPr id="12" name="Text 8"/>
          <p:cNvSpPr txBox="1"/>
          <p:nvPr/>
        </p:nvSpPr>
        <p:spPr>
          <a:xfrm>
            <a:off x="731520" y="3346704"/>
            <a:ext cx="768096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Giống hệt sự cố ở đồ án trước của nhóm</a:t>
            </a:r>
            <a:endParaRPr lang="en-US" sz="1250" dirty="0"/>
          </a:p>
        </p:txBody>
      </p:sp>
      <p:sp>
        <p:nvSpPr>
          <p:cNvPr id="13" name="Text 9"/>
          <p:cNvSpPr txBox="1"/>
          <p:nvPr/>
        </p:nvSpPr>
        <p:spPr>
          <a:xfrm>
            <a:off x="731520" y="3639312"/>
            <a:ext cx="7680960" cy="749808"/>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Ba ảnh cùng một chiếc lá sầu riêng mang hai nhãn bệnh khác nhau. Khác biệt: một chiếc lá chỉ có một đáp án đúng, còn một câu hỏi pháp luật thật sự có thể được trả lời bởi nhiều điều luật.</a:t>
            </a:r>
            <a:endParaRPr lang="en-US" sz="1150" dirty="0"/>
          </a:p>
        </p:txBody>
      </p:sp>
      <p:sp>
        <p:nvSpPr>
          <p:cNvPr id="14" name="Shape 10"/>
          <p:cNvSpPr/>
          <p:nvPr/>
        </p:nvSpPr>
        <p:spPr>
          <a:xfrm>
            <a:off x="502920" y="4663440"/>
            <a:ext cx="8138160" cy="1508760"/>
          </a:xfrm>
          <a:prstGeom prst="roundRect">
            <a:avLst>
              <a:gd name="adj" fmla="val 3636"/>
            </a:avLst>
          </a:prstGeom>
          <a:solidFill>
            <a:srgbClr val="FDEDEC"/>
          </a:solidFill>
          <a:ln w="15875">
            <a:solidFill>
              <a:srgbClr val="C0392B"/>
            </a:solidFill>
            <a:prstDash val="solid"/>
          </a:ln>
        </p:spPr>
      </p:sp>
      <p:sp>
        <p:nvSpPr>
          <p:cNvPr id="15" name="Text 11"/>
          <p:cNvSpPr txBox="1"/>
          <p:nvPr/>
        </p:nvSpPr>
        <p:spPr>
          <a:xfrm>
            <a:off x="731520" y="4764024"/>
            <a:ext cx="7680960" cy="27432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Hệ quả phải nói rõ trong báo cáo</a:t>
            </a:r>
            <a:endParaRPr lang="en-US" sz="1250" dirty="0"/>
          </a:p>
        </p:txBody>
      </p:sp>
      <p:sp>
        <p:nvSpPr>
          <p:cNvPr id="16" name="Text 12"/>
          <p:cNvSpPr txBox="1"/>
          <p:nvPr/>
        </p:nvSpPr>
        <p:spPr>
          <a:xfrm>
            <a:off x="731520" y="5056632"/>
            <a:ext cx="7680960" cy="100584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Bộ nhãn không đầy đủ. Mọi con số Recall công bố ở đây đều là </a:t>
            </a:r>
            <a:pPr indent="0" marL="0">
              <a:lnSpc>
                <a:spcPts val="1600"/>
              </a:lnSpc>
              <a:buNone/>
            </a:pPr>
            <a:r>
              <a:rPr lang="en-US" sz="1150" b="1" dirty="0">
                <a:solidFill>
                  <a:srgbClr val="1A1A1A"/>
                </a:solidFill>
                <a:latin typeface="Arial" pitchFamily="34" charset="0"/>
                <a:ea typeface="Arial" pitchFamily="34" charset="-122"/>
                <a:cs typeface="Arial" pitchFamily="34" charset="-120"/>
              </a:rPr>
              <a:t>cận dưới</a:t>
            </a:r>
            <a:pPr indent="0" marL="0">
              <a:lnSpc>
                <a:spcPts val="1600"/>
              </a:lnSpc>
              <a:buNone/>
            </a:pPr>
            <a:r>
              <a:rPr lang="en-US" sz="1150" dirty="0">
                <a:solidFill>
                  <a:srgbClr val="1A1A1A"/>
                </a:solidFill>
                <a:latin typeface="Arial" pitchFamily="34" charset="0"/>
                <a:ea typeface="Arial" pitchFamily="34" charset="-122"/>
                <a:cs typeface="Arial" pitchFamily="34" charset="-120"/>
              </a:rPr>
              <a:t>.</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Hệ có thể trả về một điều luật đúng mà vẫn bị chấm sai, chỉ vì người gán nhãn không liệt kê điều đó.</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Cách xử lý: tập test giữ NGUYÊN VẸN 793 cặp của ban tổ chức, không tự sửa nhãn.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Chia lại tập và mô hình đã thấy trước dữ liệu</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8</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960120"/>
          <a:ext cx="8138160" cy="914400"/>
        </p:xfrm>
        <a:graphic>
          <a:graphicData uri="http://schemas.openxmlformats.org/drawingml/2006/table">
            <a:tbl>
              <a:tblPr/>
              <a:tblGrid>
                <a:gridCol w="1188720"/>
                <a:gridCol w="1371600"/>
                <a:gridCol w="1371600"/>
                <a:gridCol w="4206240"/>
              </a:tblGrid>
              <a:tr h="384048">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Tập</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Câu hỏi</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Cặp nhãn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Ghi chú</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384048">
                <a:tc>
                  <a:txBody>
                    <a:bodyPr/>
                    <a:lstStyle/>
                    <a:p>
                      <a:pPr indent="0" marL="0">
                        <a:buNone/>
                      </a:pPr>
                      <a:r>
                        <a:rPr lang="en-US" sz="1150" dirty="0">
                          <a:solidFill>
                            <a:srgbClr val="1A1A1A"/>
                          </a:solidFill>
                          <a:latin typeface="Arial" pitchFamily="34" charset="0"/>
                          <a:ea typeface="Arial" pitchFamily="34" charset="-122"/>
                          <a:cs typeface="Arial" pitchFamily="34" charset="-120"/>
                        </a:rPr>
                        <a:t>train</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1.925</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1.986</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đã loại 26 câu rò rỉ</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1A1A1A"/>
                          </a:solidFill>
                          <a:latin typeface="Arial" pitchFamily="34" charset="0"/>
                          <a:ea typeface="Arial" pitchFamily="34" charset="-122"/>
                          <a:cs typeface="Arial" pitchFamily="34" charset="-120"/>
                        </a:rPr>
                        <a:t>val</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481</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cắt từ train, seed 42</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1A1A1A"/>
                          </a:solidFill>
                          <a:latin typeface="Arial" pitchFamily="34" charset="0"/>
                          <a:ea typeface="Arial" pitchFamily="34" charset="-122"/>
                          <a:cs typeface="Arial" pitchFamily="34" charset="-120"/>
                        </a:rPr>
                        <a:t>test</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1A1A1A"/>
                          </a:solidFill>
                          <a:latin typeface="Arial" pitchFamily="34" charset="0"/>
                          <a:ea typeface="Arial" pitchFamily="34" charset="-122"/>
                          <a:cs typeface="Arial" pitchFamily="34" charset="-120"/>
                        </a:rPr>
                        <a:t>788</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1A1A1A"/>
                          </a:solidFill>
                          <a:latin typeface="Arial" pitchFamily="34" charset="0"/>
                          <a:ea typeface="Arial" pitchFamily="34" charset="-122"/>
                          <a:cs typeface="Arial" pitchFamily="34" charset="-120"/>
                        </a:rPr>
                        <a:t>793</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1E7A4B"/>
                          </a:solidFill>
                          <a:latin typeface="Arial" pitchFamily="34" charset="0"/>
                          <a:ea typeface="Arial" pitchFamily="34" charset="-122"/>
                          <a:cs typeface="Arial" pitchFamily="34" charset="-120"/>
                        </a:rPr>
                        <a:t>nguyên vẹn của ban tổ chức</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6"/>
          <p:cNvSpPr/>
          <p:nvPr/>
        </p:nvSpPr>
        <p:spPr>
          <a:xfrm>
            <a:off x="502920" y="2697480"/>
            <a:ext cx="8138160" cy="2148840"/>
          </a:xfrm>
          <a:prstGeom prst="roundRect">
            <a:avLst>
              <a:gd name="adj" fmla="val 2553"/>
            </a:avLst>
          </a:prstGeom>
          <a:solidFill>
            <a:srgbClr val="FDEDEC"/>
          </a:solidFill>
          <a:ln w="15875">
            <a:solidFill>
              <a:srgbClr val="C0392B"/>
            </a:solidFill>
            <a:prstDash val="solid"/>
          </a:ln>
        </p:spPr>
      </p:sp>
      <p:sp>
        <p:nvSpPr>
          <p:cNvPr id="11" name="Text 7"/>
          <p:cNvSpPr txBox="1"/>
          <p:nvPr/>
        </p:nvSpPr>
        <p:spPr>
          <a:xfrm>
            <a:off x="731520" y="2798064"/>
            <a:ext cx="7680960" cy="292608"/>
          </a:xfrm>
          <a:prstGeom prst="rect">
            <a:avLst/>
          </a:prstGeom>
          <a:noFill/>
          <a:ln/>
        </p:spPr>
        <p:txBody>
          <a:bodyPr wrap="square" lIns="0" tIns="0" rIns="0" bIns="0" rtlCol="0" anchor="ctr"/>
          <a:lstStyle/>
          <a:p>
            <a:pPr indent="0" marL="0">
              <a:buNone/>
            </a:pPr>
            <a:r>
              <a:rPr lang="en-US" sz="1350" b="1" dirty="0">
                <a:solidFill>
                  <a:srgbClr val="C0392B"/>
                </a:solidFill>
                <a:latin typeface="Arial" pitchFamily="34" charset="0"/>
                <a:ea typeface="Arial" pitchFamily="34" charset="-122"/>
                <a:cs typeface="Arial" pitchFamily="34" charset="-120"/>
              </a:rPr>
              <a:t>Rò rỉ không chỉ nằm trong dữ liệu, mà nằm trong cả mô hình</a:t>
            </a:r>
            <a:endParaRPr lang="en-US" sz="1350" dirty="0"/>
          </a:p>
        </p:txBody>
      </p:sp>
      <p:sp>
        <p:nvSpPr>
          <p:cNvPr id="12" name="Text 8"/>
          <p:cNvSpPr txBox="1"/>
          <p:nvPr/>
        </p:nvSpPr>
        <p:spPr>
          <a:xfrm>
            <a:off x="731520" y="3145536"/>
            <a:ext cx="7680960" cy="1600200"/>
          </a:xfrm>
          <a:prstGeom prst="rect">
            <a:avLst/>
          </a:prstGeom>
          <a:noFill/>
          <a:ln/>
        </p:spPr>
        <p:txBody>
          <a:bodyPr wrap="square" lIns="0" tIns="0" rIns="0" bIns="0" rtlCol="0" anchor="t"/>
          <a:lstStyle/>
          <a:p>
            <a:pPr indent="0" marL="0">
              <a:lnSpc>
                <a:spcPts val="1700"/>
              </a:lnSpc>
              <a:buNone/>
            </a:pPr>
            <a:r>
              <a:rPr lang="en-US" sz="1150" b="1" dirty="0">
                <a:solidFill>
                  <a:srgbClr val="1A1A1A"/>
                </a:solidFill>
                <a:latin typeface="Consolas" pitchFamily="34" charset="0"/>
                <a:ea typeface="Consolas" pitchFamily="34" charset="-122"/>
                <a:cs typeface="Consolas" pitchFamily="34" charset="-120"/>
              </a:rPr>
              <a:t>bkai-foundation-models/vietnamese-bi-encoder</a:t>
            </a:r>
            <a:pPr indent="0" marL="0">
              <a:lnSpc>
                <a:spcPts val="1700"/>
              </a:lnSpc>
              <a:buNone/>
            </a:pPr>
            <a:r>
              <a:rPr lang="en-US" sz="1150" dirty="0">
                <a:solidFill>
                  <a:srgbClr val="1A1A1A"/>
                </a:solidFill>
                <a:latin typeface="Arial" pitchFamily="34" charset="0"/>
                <a:ea typeface="Arial" pitchFamily="34" charset="-122"/>
                <a:cs typeface="Arial" pitchFamily="34" charset="-120"/>
              </a:rPr>
              <a:t>, model card ghi rõ:</a:t>
            </a:r>
            <a:endParaRPr lang="en-US" sz="1150" dirty="0"/>
          </a:p>
          <a:p>
            <a:pPr indent="0" marL="0">
              <a:lnSpc>
                <a:spcPts val="1700"/>
              </a:lnSpc>
              <a:buNone/>
            </a:pPr>
            <a:r>
              <a:rPr lang="en-US" sz="1150" i="1" dirty="0">
                <a:solidFill>
                  <a:srgbClr val="C0392B"/>
                </a:solidFill>
                <a:latin typeface="Arial" pitchFamily="34" charset="0"/>
                <a:ea typeface="Arial" pitchFamily="34" charset="-122"/>
                <a:cs typeface="Arial" pitchFamily="34" charset="-120"/>
              </a:rPr>
              <a:t>  “80% of the training set from the Legal Text Retrieval Zalo 2021 challenge”</a:t>
            </a:r>
            <a:endParaRPr lang="en-US" sz="1150" dirty="0"/>
          </a:p>
          <a:p>
            <a:pPr indent="0" marL="0">
              <a:lnSpc>
                <a:spcPts val="1700"/>
              </a:lnSpc>
              <a:buNone/>
            </a:pPr>
            <a:r>
              <a:rPr lang="en-US" sz="1150" dirty="0">
                <a:solidFill>
                  <a:srgbClr val="1A1A1A"/>
                </a:solidFill>
                <a:latin typeface="Arial" pitchFamily="34" charset="0"/>
                <a:ea typeface="Arial" pitchFamily="34" charset="-122"/>
                <a:cs typeface="Arial" pitchFamily="34" charset="-120"/>
              </a:rPr>
              <a:t>Tập test của đồ án lại cắt ra từ đúng tập train đó, nên mô hình đã nhìn thấy phần lớn câu hỏi test </a:t>
            </a:r>
            <a:pPr indent="0" marL="0">
              <a:lnSpc>
                <a:spcPts val="1700"/>
              </a:lnSpc>
              <a:buNone/>
            </a:pPr>
            <a:r>
              <a:rPr lang="en-US" sz="1150" b="1" dirty="0">
                <a:solidFill>
                  <a:srgbClr val="1A1A1A"/>
                </a:solidFill>
                <a:latin typeface="Arial" pitchFamily="34" charset="0"/>
                <a:ea typeface="Arial" pitchFamily="34" charset="-122"/>
                <a:cs typeface="Arial" pitchFamily="34" charset="-120"/>
              </a:rPr>
              <a:t>kèm nhãn đúng</a:t>
            </a:r>
            <a:pPr indent="0" marL="0">
              <a:lnSpc>
                <a:spcPts val="1700"/>
              </a:lnSpc>
              <a:buNone/>
            </a:pPr>
            <a:r>
              <a:rPr lang="en-US" sz="1150" dirty="0">
                <a:solidFill>
                  <a:srgbClr val="1A1A1A"/>
                </a:solidFill>
                <a:latin typeface="Arial" pitchFamily="34" charset="0"/>
                <a:ea typeface="Arial" pitchFamily="34" charset="-122"/>
                <a:cs typeface="Arial" pitchFamily="34" charset="-120"/>
              </a:rPr>
              <a:t>. Gọi nó là zero-shot là sai.</a:t>
            </a:r>
            <a:endParaRPr lang="en-US" sz="1150" dirty="0"/>
          </a:p>
        </p:txBody>
      </p:sp>
      <p:sp>
        <p:nvSpPr>
          <p:cNvPr id="13" name="Shape 9"/>
          <p:cNvSpPr/>
          <p:nvPr/>
        </p:nvSpPr>
        <p:spPr>
          <a:xfrm>
            <a:off x="502920" y="4983480"/>
            <a:ext cx="8138160" cy="1188720"/>
          </a:xfrm>
          <a:prstGeom prst="roundRect">
            <a:avLst>
              <a:gd name="adj" fmla="val 4615"/>
            </a:avLst>
          </a:prstGeom>
          <a:solidFill>
            <a:srgbClr val="EAF6EE"/>
          </a:solidFill>
          <a:ln w="15875">
            <a:solidFill>
              <a:srgbClr val="1E7A4B"/>
            </a:solidFill>
            <a:prstDash val="solid"/>
          </a:ln>
        </p:spPr>
      </p:sp>
      <p:sp>
        <p:nvSpPr>
          <p:cNvPr id="14" name="Text 10"/>
          <p:cNvSpPr txBox="1"/>
          <p:nvPr/>
        </p:nvSpPr>
        <p:spPr>
          <a:xfrm>
            <a:off x="731520" y="5074920"/>
            <a:ext cx="7680960" cy="274320"/>
          </a:xfrm>
          <a:prstGeom prst="rect">
            <a:avLst/>
          </a:prstGeom>
          <a:noFill/>
          <a:ln/>
        </p:spPr>
        <p:txBody>
          <a:bodyPr wrap="square" lIns="0" tIns="0" rIns="0" bIns="0" rtlCol="0" anchor="ctr"/>
          <a:lstStyle/>
          <a:p>
            <a:pPr indent="0" marL="0">
              <a:buNone/>
            </a:pPr>
            <a:r>
              <a:rPr lang="en-US" sz="1250" b="1" dirty="0">
                <a:solidFill>
                  <a:srgbClr val="1E7A4B"/>
                </a:solidFill>
                <a:latin typeface="Arial" pitchFamily="34" charset="0"/>
                <a:ea typeface="Arial" pitchFamily="34" charset="-122"/>
                <a:cs typeface="Arial" pitchFamily="34" charset="-120"/>
              </a:rPr>
              <a:t>Cách xử lý</a:t>
            </a:r>
            <a:endParaRPr lang="en-US" sz="1250" dirty="0"/>
          </a:p>
        </p:txBody>
      </p:sp>
      <p:sp>
        <p:nvSpPr>
          <p:cNvPr id="15" name="Text 11"/>
          <p:cNvSpPr txBox="1"/>
          <p:nvPr/>
        </p:nvSpPr>
        <p:spPr>
          <a:xfrm>
            <a:off x="731520" y="5358384"/>
            <a:ext cx="7680960" cy="73152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Dùng AITeamVN/Vietnamese_Embedding làm mô hình SẠCH cho con số chính thức, vì model card ghi “Our model was not trained on this dataset”. bkai vẫn công bố nhưng gắn nhãn nhiễm bẩn.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Kiến trúc</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9</a:t>
            </a:r>
            <a:endParaRPr lang="en-US" sz="1100" dirty="0"/>
          </a:p>
        </p:txBody>
      </p:sp>
      <p:pic>
        <p:nvPicPr>
          <p:cNvPr id="9" name="Image 0" descr="img/architecture.png">    </p:cNvPr>
          <p:cNvPicPr>
            <a:picLocks noChangeAspect="1"/>
          </p:cNvPicPr>
          <p:nvPr/>
        </p:nvPicPr>
        <p:blipFill>
          <a:blip r:embed="rId1"/>
          <a:stretch>
            <a:fillRect/>
          </a:stretch>
        </p:blipFill>
        <p:spPr>
          <a:xfrm>
            <a:off x="320040" y="1051560"/>
            <a:ext cx="8503920" cy="3657600"/>
          </a:xfrm>
          <a:prstGeom prst="rect">
            <a:avLst/>
          </a:prstGeom>
        </p:spPr>
      </p:pic>
      <p:sp>
        <p:nvSpPr>
          <p:cNvPr id="10" name="Shape 6"/>
          <p:cNvSpPr/>
          <p:nvPr/>
        </p:nvSpPr>
        <p:spPr>
          <a:xfrm>
            <a:off x="502920" y="4846320"/>
            <a:ext cx="2606040" cy="1325880"/>
          </a:xfrm>
          <a:prstGeom prst="roundRect">
            <a:avLst>
              <a:gd name="adj" fmla="val 4138"/>
            </a:avLst>
          </a:prstGeom>
          <a:solidFill>
            <a:srgbClr val="FDEDEC"/>
          </a:solidFill>
          <a:ln w="15875">
            <a:solidFill>
              <a:srgbClr val="C0392B"/>
            </a:solidFill>
            <a:prstDash val="solid"/>
          </a:ln>
        </p:spPr>
      </p:sp>
      <p:sp>
        <p:nvSpPr>
          <p:cNvPr id="11" name="Text 7"/>
          <p:cNvSpPr txBox="1"/>
          <p:nvPr/>
        </p:nvSpPr>
        <p:spPr>
          <a:xfrm>
            <a:off x="685800" y="4937760"/>
            <a:ext cx="2286000" cy="256032"/>
          </a:xfrm>
          <a:prstGeom prst="rect">
            <a:avLst/>
          </a:prstGeom>
          <a:noFill/>
          <a:ln/>
        </p:spPr>
        <p:txBody>
          <a:bodyPr wrap="square" lIns="0" tIns="0" rIns="0" bIns="0" rtlCol="0" anchor="ctr"/>
          <a:lstStyle/>
          <a:p>
            <a:pPr indent="0" marL="0">
              <a:buNone/>
            </a:pPr>
            <a:r>
              <a:rPr lang="en-US" sz="1150" b="1" dirty="0">
                <a:solidFill>
                  <a:srgbClr val="C0392B"/>
                </a:solidFill>
                <a:latin typeface="Arial" pitchFamily="34" charset="0"/>
                <a:ea typeface="Arial" pitchFamily="34" charset="-122"/>
                <a:cs typeface="Arial" pitchFamily="34" charset="-120"/>
              </a:rPr>
              <a:t>Phục hồi dấu</a:t>
            </a:r>
            <a:endParaRPr lang="en-US" sz="1150" dirty="0"/>
          </a:p>
        </p:txBody>
      </p:sp>
      <p:sp>
        <p:nvSpPr>
          <p:cNvPr id="12" name="Text 8"/>
          <p:cNvSpPr txBox="1"/>
          <p:nvPr/>
        </p:nvSpPr>
        <p:spPr>
          <a:xfrm>
            <a:off x="685800" y="5212080"/>
            <a:ext cx="2286000" cy="82296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Bigram âm tiết học từ 18,6 triệu âm tiết của kho luật và câu hỏi train. lambda = 0,9, chốt trên val</a:t>
            </a:r>
            <a:endParaRPr lang="en-US" sz="1050" dirty="0"/>
          </a:p>
        </p:txBody>
      </p:sp>
      <p:sp>
        <p:nvSpPr>
          <p:cNvPr id="13" name="Shape 9"/>
          <p:cNvSpPr/>
          <p:nvPr/>
        </p:nvSpPr>
        <p:spPr>
          <a:xfrm>
            <a:off x="3273552" y="4846320"/>
            <a:ext cx="2606040" cy="1325880"/>
          </a:xfrm>
          <a:prstGeom prst="roundRect">
            <a:avLst>
              <a:gd name="adj" fmla="val 4138"/>
            </a:avLst>
          </a:prstGeom>
          <a:solidFill>
            <a:srgbClr val="FFF8F0"/>
          </a:solidFill>
          <a:ln w="15875">
            <a:solidFill>
              <a:srgbClr val="D68910"/>
            </a:solidFill>
            <a:prstDash val="solid"/>
          </a:ln>
        </p:spPr>
      </p:sp>
      <p:sp>
        <p:nvSpPr>
          <p:cNvPr id="14" name="Text 10"/>
          <p:cNvSpPr txBox="1"/>
          <p:nvPr/>
        </p:nvSpPr>
        <p:spPr>
          <a:xfrm>
            <a:off x="3456432" y="4937760"/>
            <a:ext cx="2286000" cy="256032"/>
          </a:xfrm>
          <a:prstGeom prst="rect">
            <a:avLst/>
          </a:prstGeom>
          <a:noFill/>
          <a:ln/>
        </p:spPr>
        <p:txBody>
          <a:bodyPr wrap="square" lIns="0" tIns="0" rIns="0" bIns="0" rtlCol="0" anchor="ctr"/>
          <a:lstStyle/>
          <a:p>
            <a:pPr indent="0" marL="0">
              <a:buNone/>
            </a:pPr>
            <a:r>
              <a:rPr lang="en-US" sz="1150" b="1" dirty="0">
                <a:solidFill>
                  <a:srgbClr val="B9770E"/>
                </a:solidFill>
                <a:latin typeface="Arial" pitchFamily="34" charset="0"/>
                <a:ea typeface="Arial" pitchFamily="34" charset="-122"/>
                <a:cs typeface="Arial" pitchFamily="34" charset="-120"/>
              </a:rPr>
              <a:t>Gộp đoạn bằng max</a:t>
            </a:r>
            <a:endParaRPr lang="en-US" sz="1150" dirty="0"/>
          </a:p>
        </p:txBody>
      </p:sp>
      <p:sp>
        <p:nvSpPr>
          <p:cNvPr id="15" name="Text 11"/>
          <p:cNvSpPr txBox="1"/>
          <p:nvPr/>
        </p:nvSpPr>
        <p:spPr>
          <a:xfrm>
            <a:off x="3456432" y="5212080"/>
            <a:ext cx="2286000" cy="82296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Đo trên val: max 0,9563 so với mean 0,9127</a:t>
            </a:r>
            <a:endParaRPr lang="en-US" sz="1050" dirty="0"/>
          </a:p>
        </p:txBody>
      </p:sp>
      <p:sp>
        <p:nvSpPr>
          <p:cNvPr id="16" name="Shape 12"/>
          <p:cNvSpPr/>
          <p:nvPr/>
        </p:nvSpPr>
        <p:spPr>
          <a:xfrm>
            <a:off x="6044184" y="4846320"/>
            <a:ext cx="2606040" cy="1325880"/>
          </a:xfrm>
          <a:prstGeom prst="roundRect">
            <a:avLst>
              <a:gd name="adj" fmla="val 4138"/>
            </a:avLst>
          </a:prstGeom>
          <a:solidFill>
            <a:srgbClr val="EAF6EE"/>
          </a:solidFill>
          <a:ln w="15875">
            <a:solidFill>
              <a:srgbClr val="1E7A4B"/>
            </a:solidFill>
            <a:prstDash val="solid"/>
          </a:ln>
        </p:spPr>
      </p:sp>
      <p:sp>
        <p:nvSpPr>
          <p:cNvPr id="17" name="Text 13"/>
          <p:cNvSpPr txBox="1"/>
          <p:nvPr/>
        </p:nvSpPr>
        <p:spPr>
          <a:xfrm>
            <a:off x="6227064" y="4937760"/>
            <a:ext cx="2286000" cy="256032"/>
          </a:xfrm>
          <a:prstGeom prst="rect">
            <a:avLst/>
          </a:prstGeom>
          <a:noFill/>
          <a:ln/>
        </p:spPr>
        <p:txBody>
          <a:bodyPr wrap="square" lIns="0" tIns="0" rIns="0" bIns="0" rtlCol="0" anchor="ctr"/>
          <a:lstStyle/>
          <a:p>
            <a:pPr indent="0" marL="0">
              <a:buNone/>
            </a:pPr>
            <a:r>
              <a:rPr lang="en-US" sz="1150" b="1" dirty="0">
                <a:solidFill>
                  <a:srgbClr val="1E7A4B"/>
                </a:solidFill>
                <a:latin typeface="Arial" pitchFamily="34" charset="0"/>
                <a:ea typeface="Arial" pitchFamily="34" charset="-122"/>
                <a:cs typeface="Arial" pitchFamily="34" charset="-120"/>
              </a:rPr>
              <a:t>Tham số chốt trên val</a:t>
            </a:r>
            <a:endParaRPr lang="en-US" sz="1150" dirty="0"/>
          </a:p>
        </p:txBody>
      </p:sp>
      <p:sp>
        <p:nvSpPr>
          <p:cNvPr id="18" name="Text 14"/>
          <p:cNvSpPr txBox="1"/>
          <p:nvPr/>
        </p:nvSpPr>
        <p:spPr>
          <a:xfrm>
            <a:off x="6227064" y="5212080"/>
            <a:ext cx="2286000" cy="82296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k1 = 0,6, b = 0,90, alpha = 0,75. Test chỉ chạy một lần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Câu hỏi có dấu: kết quả trên tập test</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10</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84048" y="987552"/>
          <a:ext cx="8375904" cy="914400"/>
        </p:xfrm>
        <a:graphic>
          <a:graphicData uri="http://schemas.openxmlformats.org/drawingml/2006/table">
            <a:tbl>
              <a:tblPr/>
              <a:tblGrid>
                <a:gridCol w="2889504"/>
                <a:gridCol w="1005840"/>
                <a:gridCol w="1005840"/>
                <a:gridCol w="1097280"/>
                <a:gridCol w="1097280"/>
                <a:gridCol w="1280160"/>
              </a:tblGrid>
              <a:tr h="438912">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Hệ thống</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R@1</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R@10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MRR@10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nDCG@10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Độ trễ</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438912">
                <a:tc>
                  <a:txBody>
                    <a:bodyPr/>
                    <a:lstStyle/>
                    <a:p>
                      <a:pPr indent="0" marL="0">
                        <a:buNone/>
                      </a:pPr>
                      <a:r>
                        <a:rPr lang="en-US" sz="1100" dirty="0">
                          <a:solidFill>
                            <a:srgbClr val="1A1A1A"/>
                          </a:solidFill>
                          <a:latin typeface="Arial" pitchFamily="34" charset="0"/>
                          <a:ea typeface="Arial" pitchFamily="34" charset="-122"/>
                          <a:cs typeface="Arial" pitchFamily="34" charset="-120"/>
                        </a:rPr>
                        <a:t>BM25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0,4740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0,8522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0,6025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0,6625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0,5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38912">
                <a:tc>
                  <a:txBody>
                    <a:bodyPr/>
                    <a:lstStyle/>
                    <a:p>
                      <a:pPr indent="0" marL="0">
                        <a:buNone/>
                      </a:pPr>
                      <a:r>
                        <a:rPr lang="en-US" sz="1100" dirty="0">
                          <a:solidFill>
                            <a:srgbClr val="1A1A1A"/>
                          </a:solidFill>
                          <a:latin typeface="Arial" pitchFamily="34" charset="0"/>
                          <a:ea typeface="Arial" pitchFamily="34" charset="-122"/>
                          <a:cs typeface="Arial" pitchFamily="34" charset="-120"/>
                        </a:rPr>
                        <a:t>Ngữ nghĩa aiteam</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0,7811</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0,9721</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0,8595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0,8869</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351,5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38912">
                <a:tc>
                  <a:txBody>
                    <a:bodyPr/>
                    <a:lstStyle/>
                    <a:p>
                      <a:pPr indent="0" marL="0">
                        <a:buNone/>
                      </a:pPr>
                      <a:r>
                        <a:rPr lang="en-US" sz="1100" b="1" dirty="0">
                          <a:solidFill>
                            <a:srgbClr val="1A1A1A"/>
                          </a:solidFill>
                          <a:latin typeface="Arial" pitchFamily="34" charset="0"/>
                          <a:ea typeface="Arial" pitchFamily="34" charset="-122"/>
                          <a:cs typeface="Arial" pitchFamily="34" charset="-120"/>
                        </a:rPr>
                        <a:t>Trọng số (BM25 + aiteam)</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0,7824</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1A1A"/>
                          </a:solidFill>
                          <a:latin typeface="Arial" pitchFamily="34" charset="0"/>
                          <a:ea typeface="Arial" pitchFamily="34" charset="-122"/>
                          <a:cs typeface="Arial" pitchFamily="34" charset="-120"/>
                        </a:rPr>
                        <a:t>0,9772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0,8619</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0,8900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352,0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38912">
                <a:tc>
                  <a:txBody>
                    <a:bodyPr/>
                    <a:lstStyle/>
                    <a:p>
                      <a:pPr indent="0" marL="0">
                        <a:buNone/>
                      </a:pPr>
                      <a:r>
                        <a:rPr lang="en-US" sz="1100" dirty="0">
                          <a:solidFill>
                            <a:srgbClr val="5A5A5A"/>
                          </a:solidFill>
                          <a:latin typeface="Arial" pitchFamily="34" charset="0"/>
                          <a:ea typeface="Arial" pitchFamily="34" charset="-122"/>
                          <a:cs typeface="Arial" pitchFamily="34" charset="-120"/>
                        </a:rPr>
                        <a:t>Ngữ nghĩa bkai  (nhiễm bẩn)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0,8204</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0,9746</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0,8865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0,9082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265,4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r>
              <a:tr h="438912">
                <a:tc>
                  <a:txBody>
                    <a:bodyPr/>
                    <a:lstStyle/>
                    <a:p>
                      <a:pPr indent="0" marL="0">
                        <a:buNone/>
                      </a:pPr>
                      <a:r>
                        <a:rPr lang="en-US" sz="1100" dirty="0">
                          <a:solidFill>
                            <a:srgbClr val="5A5A5A"/>
                          </a:solidFill>
                          <a:latin typeface="Arial" pitchFamily="34" charset="0"/>
                          <a:ea typeface="Arial" pitchFamily="34" charset="-122"/>
                          <a:cs typeface="Arial" pitchFamily="34" charset="-120"/>
                        </a:rPr>
                        <a:t>Trọng số (BM25 + bkai_ft)  (nhiễm bẩn)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0,8452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0,9860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0,9070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0,9264</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261,3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r>
            </a:tbl>
          </a:graphicData>
        </a:graphic>
      </p:graphicFrame>
      <p:sp>
        <p:nvSpPr>
          <p:cNvPr id="10" name="Shape 6"/>
          <p:cNvSpPr/>
          <p:nvPr/>
        </p:nvSpPr>
        <p:spPr>
          <a:xfrm>
            <a:off x="384048" y="3977640"/>
            <a:ext cx="4114800" cy="2194560"/>
          </a:xfrm>
          <a:prstGeom prst="roundRect">
            <a:avLst>
              <a:gd name="adj" fmla="val 2500"/>
            </a:avLst>
          </a:prstGeom>
          <a:solidFill>
            <a:srgbClr val="EAF6EE"/>
          </a:solidFill>
          <a:ln w="15875">
            <a:solidFill>
              <a:srgbClr val="1E7A4B"/>
            </a:solidFill>
            <a:prstDash val="solid"/>
          </a:ln>
        </p:spPr>
      </p:sp>
      <p:sp>
        <p:nvSpPr>
          <p:cNvPr id="11" name="Text 7"/>
          <p:cNvSpPr txBox="1"/>
          <p:nvPr/>
        </p:nvSpPr>
        <p:spPr>
          <a:xfrm>
            <a:off x="594360" y="4078224"/>
            <a:ext cx="3703320" cy="274320"/>
          </a:xfrm>
          <a:prstGeom prst="rect">
            <a:avLst/>
          </a:prstGeom>
          <a:noFill/>
          <a:ln/>
        </p:spPr>
        <p:txBody>
          <a:bodyPr wrap="square" lIns="0" tIns="0" rIns="0" bIns="0" rtlCol="0" anchor="ctr"/>
          <a:lstStyle/>
          <a:p>
            <a:pPr indent="0" marL="0">
              <a:buNone/>
            </a:pPr>
            <a:r>
              <a:rPr lang="en-US" sz="1250" b="1" dirty="0">
                <a:solidFill>
                  <a:srgbClr val="1E7A4B"/>
                </a:solidFill>
                <a:latin typeface="Arial" pitchFamily="34" charset="0"/>
                <a:ea typeface="Arial" pitchFamily="34" charset="-122"/>
                <a:cs typeface="Arial" pitchFamily="34" charset="-120"/>
              </a:rPr>
              <a:t>Trả lời CH1: có, nhưng rất nhỏ</a:t>
            </a:r>
            <a:endParaRPr lang="en-US" sz="1250" dirty="0"/>
          </a:p>
        </p:txBody>
      </p:sp>
      <p:sp>
        <p:nvSpPr>
          <p:cNvPr id="12" name="Text 8"/>
          <p:cNvSpPr txBox="1"/>
          <p:nvPr/>
        </p:nvSpPr>
        <p:spPr>
          <a:xfrm>
            <a:off x="594360" y="4389120"/>
            <a:ext cx="3703320" cy="1691640"/>
          </a:xfrm>
          <a:prstGeom prst="rect">
            <a:avLst/>
          </a:prstGeom>
          <a:noFill/>
          <a:ln/>
        </p:spPr>
        <p:txBody>
          <a:bodyPr wrap="square" lIns="0" tIns="0" rIns="0" bIns="0" rtlCol="0" anchor="t"/>
          <a:lstStyle/>
          <a:p>
            <a:pPr indent="0" marL="0">
              <a:lnSpc>
                <a:spcPts val="1600"/>
              </a:lnSpc>
              <a:buNone/>
            </a:pPr>
            <a:r>
              <a:rPr lang="en-US" sz="1100" b="1" dirty="0">
                <a:solidFill>
                  <a:srgbClr val="1A1A1A"/>
                </a:solidFill>
                <a:latin typeface="Arial" pitchFamily="34" charset="0"/>
                <a:ea typeface="Arial" pitchFamily="34" charset="-122"/>
                <a:cs typeface="Arial" pitchFamily="34" charset="-120"/>
              </a:rPr>
              <a:t>Hợp nhất hơn ngữ nghĩa thuần 0,50 điểm phần trăm, tức 4 câu trên 788.</a:t>
            </a:r>
            <a:endParaRPr lang="en-US" sz="1100" dirty="0"/>
          </a:p>
          <a:p>
            <a:pPr indent="0" marL="0">
              <a:lnSpc>
                <a:spcPts val="1600"/>
              </a:lnSpc>
              <a:buNone/>
            </a:pPr>
            <a:r>
              <a:rPr lang="en-US" sz="1100" dirty="0">
                <a:solidFill>
                  <a:srgbClr val="1A1A1A"/>
                </a:solidFill>
                <a:latin typeface="Arial" pitchFamily="34" charset="0"/>
                <a:ea typeface="Arial" pitchFamily="34" charset="-122"/>
                <a:cs typeface="Arial" pitchFamily="34" charset="-120"/>
              </a:rPr>
              <a:t>Riêng BM25 cứu được 3 câu mà ngữ nghĩa bỏ lỡ.</a:t>
            </a:r>
            <a:endParaRPr lang="en-US" sz="1100" dirty="0"/>
          </a:p>
          <a:p>
            <a:pPr indent="0" marL="0">
              <a:lnSpc>
                <a:spcPts val="1600"/>
              </a:lnSpc>
              <a:buNone/>
            </a:pPr>
            <a:r>
              <a:rPr lang="en-US" sz="1100" dirty="0">
                <a:solidFill>
                  <a:srgbClr val="1A1A1A"/>
                </a:solidFill>
                <a:latin typeface="Arial" pitchFamily="34" charset="0"/>
                <a:ea typeface="Arial" pitchFamily="34" charset="-122"/>
                <a:cs typeface="Arial" pitchFamily="34" charset="-120"/>
              </a:rPr>
              <a:t>Tổng trọng số thắng RRF: Recall@1 0,7824 so với 0,6701, khớp Bruch và cs.</a:t>
            </a:r>
            <a:endParaRPr lang="en-US" sz="1100" dirty="0"/>
          </a:p>
        </p:txBody>
      </p:sp>
      <p:sp>
        <p:nvSpPr>
          <p:cNvPr id="13" name="Shape 9"/>
          <p:cNvSpPr/>
          <p:nvPr/>
        </p:nvSpPr>
        <p:spPr>
          <a:xfrm>
            <a:off x="4645152" y="3977640"/>
            <a:ext cx="4114800" cy="2194560"/>
          </a:xfrm>
          <a:prstGeom prst="roundRect">
            <a:avLst>
              <a:gd name="adj" fmla="val 2500"/>
            </a:avLst>
          </a:prstGeom>
          <a:solidFill>
            <a:srgbClr val="F4F8FC"/>
          </a:solidFill>
          <a:ln w="15875">
            <a:solidFill>
              <a:srgbClr val="2D75B6"/>
            </a:solidFill>
            <a:prstDash val="solid"/>
          </a:ln>
        </p:spPr>
      </p:sp>
      <p:sp>
        <p:nvSpPr>
          <p:cNvPr id="14" name="Text 10"/>
          <p:cNvSpPr txBox="1"/>
          <p:nvPr/>
        </p:nvSpPr>
        <p:spPr>
          <a:xfrm>
            <a:off x="4855464" y="4078224"/>
            <a:ext cx="370332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Chi phí, đo trên cùng một máy</a:t>
            </a:r>
            <a:endParaRPr lang="en-US" sz="1250" dirty="0"/>
          </a:p>
        </p:txBody>
      </p:sp>
      <p:sp>
        <p:nvSpPr>
          <p:cNvPr id="15" name="Text 11"/>
          <p:cNvSpPr txBox="1"/>
          <p:nvPr/>
        </p:nvSpPr>
        <p:spPr>
          <a:xfrm>
            <a:off x="4855464" y="4389120"/>
            <a:ext cx="3703320" cy="1554480"/>
          </a:xfrm>
          <a:prstGeom prst="rect">
            <a:avLst/>
          </a:prstGeom>
          <a:noFill/>
          <a:ln/>
        </p:spPr>
        <p:txBody>
          <a:bodyPr wrap="square" lIns="0" tIns="0" rIns="0" bIns="0" rtlCol="0" anchor="t"/>
          <a:lstStyle/>
          <a:p>
            <a:pPr indent="0" marL="0">
              <a:lnSpc>
                <a:spcPts val="1900"/>
              </a:lnSpc>
              <a:buNone/>
            </a:pPr>
            <a:r>
              <a:rPr lang="en-US" sz="1150" dirty="0">
                <a:solidFill>
                  <a:srgbClr val="1A1A1A"/>
                </a:solidFill>
                <a:latin typeface="Arial" pitchFamily="34" charset="0"/>
                <a:ea typeface="Arial" pitchFamily="34" charset="-122"/>
                <a:cs typeface="Arial" pitchFamily="34" charset="-120"/>
              </a:rPr>
              <a:t>BM25: 0,5 ms, chỉ mục 35,1 MB</a:t>
            </a:r>
            <a:endParaRPr lang="en-US" sz="1150" dirty="0"/>
          </a:p>
          <a:p>
            <a:pPr indent="0" marL="0">
              <a:lnSpc>
                <a:spcPts val="1900"/>
              </a:lnSpc>
              <a:buNone/>
            </a:pPr>
            <a:r>
              <a:rPr lang="en-US" sz="1150" dirty="0">
                <a:solidFill>
                  <a:srgbClr val="1A1A1A"/>
                </a:solidFill>
                <a:latin typeface="Arial" pitchFamily="34" charset="0"/>
                <a:ea typeface="Arial" pitchFamily="34" charset="-122"/>
                <a:cs typeface="Arial" pitchFamily="34" charset="-120"/>
              </a:rPr>
              <a:t>Ngữ nghĩa: 352 ms, chỉ mục 319 MB</a:t>
            </a:r>
            <a:endParaRPr lang="en-US" sz="1150" dirty="0"/>
          </a:p>
          <a:p>
            <a:pPr indent="0" marL="0">
              <a:lnSpc>
                <a:spcPts val="1900"/>
              </a:lnSpc>
              <a:buNone/>
            </a:pPr>
            <a:r>
              <a:rPr lang="en-US" sz="1150" b="1" dirty="0">
                <a:solidFill>
                  <a:srgbClr val="2D75B6"/>
                </a:solidFill>
                <a:latin typeface="Arial" pitchFamily="34" charset="0"/>
                <a:ea typeface="Arial" pitchFamily="34" charset="-122"/>
                <a:cs typeface="Arial" pitchFamily="34" charset="-120"/>
              </a:rPr>
              <a:t>BM25 nhanh hơn khoảng 703 lần</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Câu hỏi gõ không dấu: hệ sụp đổ</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11</a:t>
            </a:r>
            <a:endParaRPr lang="en-US" sz="1100" dirty="0"/>
          </a:p>
        </p:txBody>
      </p:sp>
      <p:sp>
        <p:nvSpPr>
          <p:cNvPr id="9" name="Text 6"/>
          <p:cNvSpPr txBox="1"/>
          <p:nvPr/>
        </p:nvSpPr>
        <p:spPr>
          <a:xfrm>
            <a:off x="502920" y="932688"/>
            <a:ext cx="8138160" cy="548640"/>
          </a:xfrm>
          <a:prstGeom prst="rect">
            <a:avLst/>
          </a:prstGeom>
          <a:noFill/>
          <a:ln/>
        </p:spPr>
        <p:txBody>
          <a:bodyPr wrap="square" lIns="0" tIns="0" rIns="0" bIns="0" rtlCol="0" anchor="t"/>
          <a:lstStyle/>
          <a:p>
            <a:pPr indent="0" marL="0">
              <a:lnSpc>
                <a:spcPts val="1700"/>
              </a:lnSpc>
              <a:buNone/>
            </a:pPr>
            <a:r>
              <a:rPr lang="en-US" sz="1200" b="1" dirty="0">
                <a:solidFill>
                  <a:srgbClr val="1A1A1A"/>
                </a:solidFill>
                <a:latin typeface="Arial" pitchFamily="34" charset="0"/>
                <a:ea typeface="Arial" pitchFamily="34" charset="-122"/>
                <a:cs typeface="Arial" pitchFamily="34" charset="-120"/>
              </a:rPr>
              <a:t>Có dấu:  </a:t>
            </a:r>
            <a:pPr indent="0" marL="0">
              <a:lnSpc>
                <a:spcPts val="1700"/>
              </a:lnSpc>
              <a:buNone/>
            </a:pPr>
            <a:r>
              <a:rPr lang="en-US" sz="1200" dirty="0">
                <a:solidFill>
                  <a:srgbClr val="1A1A1A"/>
                </a:solidFill>
                <a:latin typeface="Arial" pitchFamily="34" charset="0"/>
                <a:ea typeface="Arial" pitchFamily="34" charset="-122"/>
                <a:cs typeface="Arial" pitchFamily="34" charset="-120"/>
              </a:rPr>
              <a:t>Đi xe máy không đội mũ bảo hiểm bị phạt bao nhiêu tiền?</a:t>
            </a:r>
            <a:endParaRPr lang="en-US" sz="1200" dirty="0"/>
          </a:p>
          <a:p>
            <a:pPr indent="0" marL="0">
              <a:lnSpc>
                <a:spcPts val="1700"/>
              </a:lnSpc>
              <a:buNone/>
            </a:pPr>
            <a:r>
              <a:rPr lang="en-US" sz="1200" b="1" dirty="0">
                <a:solidFill>
                  <a:srgbClr val="C0392B"/>
                </a:solidFill>
                <a:latin typeface="Arial" pitchFamily="34" charset="0"/>
                <a:ea typeface="Arial" pitchFamily="34" charset="-122"/>
                <a:cs typeface="Arial" pitchFamily="34" charset="-120"/>
              </a:rPr>
              <a:t>Không dấu:  </a:t>
            </a:r>
            <a:pPr indent="0" marL="0">
              <a:lnSpc>
                <a:spcPts val="1700"/>
              </a:lnSpc>
              <a:buNone/>
            </a:pPr>
            <a:r>
              <a:rPr lang="en-US" sz="1200" dirty="0">
                <a:solidFill>
                  <a:srgbClr val="C0392B"/>
                </a:solidFill>
                <a:latin typeface="Arial" pitchFamily="34" charset="0"/>
                <a:ea typeface="Arial" pitchFamily="34" charset="-122"/>
                <a:cs typeface="Arial" pitchFamily="34" charset="-120"/>
              </a:rPr>
              <a:t>Di xe may khong doi mu bao hiem bi phat bao nhieu tien?</a:t>
            </a:r>
            <a:endParaRPr lang="en-US" sz="1200" dirty="0"/>
          </a:p>
        </p:txBody>
      </p:sp>
      <p:pic>
        <p:nvPicPr>
          <p:cNvPr id="10" name="Image 0" descr="img/khong_dau.png">    </p:cNvPr>
          <p:cNvPicPr>
            <a:picLocks noChangeAspect="1"/>
          </p:cNvPicPr>
          <p:nvPr/>
        </p:nvPicPr>
        <p:blipFill>
          <a:blip r:embed="rId1"/>
          <a:stretch>
            <a:fillRect/>
          </a:stretch>
        </p:blipFill>
        <p:spPr>
          <a:xfrm>
            <a:off x="502920" y="1536192"/>
            <a:ext cx="8138160" cy="3419856"/>
          </a:xfrm>
          <a:prstGeom prst="rect">
            <a:avLst/>
          </a:prstGeom>
        </p:spPr>
      </p:pic>
      <p:sp>
        <p:nvSpPr>
          <p:cNvPr id="11" name="Shape 7"/>
          <p:cNvSpPr/>
          <p:nvPr/>
        </p:nvSpPr>
        <p:spPr>
          <a:xfrm>
            <a:off x="502920" y="5047488"/>
            <a:ext cx="3977640" cy="1143000"/>
          </a:xfrm>
          <a:prstGeom prst="roundRect">
            <a:avLst>
              <a:gd name="adj" fmla="val 4800"/>
            </a:avLst>
          </a:prstGeom>
          <a:solidFill>
            <a:srgbClr val="FDEDEC"/>
          </a:solidFill>
          <a:ln w="15875">
            <a:solidFill>
              <a:srgbClr val="C0392B"/>
            </a:solidFill>
            <a:prstDash val="solid"/>
          </a:ln>
        </p:spPr>
      </p:sp>
      <p:sp>
        <p:nvSpPr>
          <p:cNvPr id="12" name="Text 8"/>
          <p:cNvSpPr txBox="1"/>
          <p:nvPr/>
        </p:nvSpPr>
        <p:spPr>
          <a:xfrm>
            <a:off x="713232" y="5120640"/>
            <a:ext cx="3566160" cy="256032"/>
          </a:xfrm>
          <a:prstGeom prst="rect">
            <a:avLst/>
          </a:prstGeom>
          <a:noFill/>
          <a:ln/>
        </p:spPr>
        <p:txBody>
          <a:bodyPr wrap="square" lIns="0" tIns="0" rIns="0" bIns="0" rtlCol="0" anchor="ctr"/>
          <a:lstStyle/>
          <a:p>
            <a:pPr indent="0" marL="0">
              <a:buNone/>
            </a:pPr>
            <a:r>
              <a:rPr lang="en-US" sz="1200" b="1" dirty="0">
                <a:solidFill>
                  <a:srgbClr val="C0392B"/>
                </a:solidFill>
                <a:latin typeface="Arial" pitchFamily="34" charset="0"/>
                <a:ea typeface="Arial" pitchFamily="34" charset="-122"/>
                <a:cs typeface="Arial" pitchFamily="34" charset="-120"/>
              </a:rPr>
              <a:t>Vì sao sụp</a:t>
            </a:r>
            <a:endParaRPr lang="en-US" sz="1200" dirty="0"/>
          </a:p>
        </p:txBody>
      </p:sp>
      <p:sp>
        <p:nvSpPr>
          <p:cNvPr id="13" name="Text 9"/>
          <p:cNvSpPr txBox="1"/>
          <p:nvPr/>
        </p:nvSpPr>
        <p:spPr>
          <a:xfrm>
            <a:off x="713232" y="5394960"/>
            <a:ext cx="3566160" cy="749808"/>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BM25: “phat” và “phạt” là hai từ khác nhau, không khớp gì. Mô hình ngữ nghĩa: nhóm đoán do học chủ yếu trên văn bản có dấu.</a:t>
            </a:r>
            <a:endParaRPr lang="en-US" sz="1050" dirty="0"/>
          </a:p>
        </p:txBody>
      </p:sp>
      <p:sp>
        <p:nvSpPr>
          <p:cNvPr id="14" name="Shape 10"/>
          <p:cNvSpPr/>
          <p:nvPr/>
        </p:nvSpPr>
        <p:spPr>
          <a:xfrm>
            <a:off x="4663440" y="5047488"/>
            <a:ext cx="3977640" cy="1143000"/>
          </a:xfrm>
          <a:prstGeom prst="roundRect">
            <a:avLst>
              <a:gd name="adj" fmla="val 4800"/>
            </a:avLst>
          </a:prstGeom>
          <a:solidFill>
            <a:srgbClr val="FFF8F0"/>
          </a:solidFill>
          <a:ln w="15875">
            <a:solidFill>
              <a:srgbClr val="D68910"/>
            </a:solidFill>
            <a:prstDash val="solid"/>
          </a:ln>
        </p:spPr>
      </p:sp>
      <p:sp>
        <p:nvSpPr>
          <p:cNvPr id="15" name="Text 11"/>
          <p:cNvSpPr txBox="1"/>
          <p:nvPr/>
        </p:nvSpPr>
        <p:spPr>
          <a:xfrm>
            <a:off x="4873752" y="5120640"/>
            <a:ext cx="3566160" cy="256032"/>
          </a:xfrm>
          <a:prstGeom prst="rect">
            <a:avLst/>
          </a:prstGeom>
          <a:noFill/>
          <a:ln/>
        </p:spPr>
        <p:txBody>
          <a:bodyPr wrap="square" lIns="0" tIns="0" rIns="0" bIns="0" rtlCol="0" anchor="ctr"/>
          <a:lstStyle/>
          <a:p>
            <a:pPr indent="0" marL="0">
              <a:buNone/>
            </a:pPr>
            <a:r>
              <a:rPr lang="en-US" sz="1200" b="1" dirty="0">
                <a:solidFill>
                  <a:srgbClr val="B9770E"/>
                </a:solidFill>
                <a:latin typeface="Arial" pitchFamily="34" charset="0"/>
                <a:ea typeface="Arial" pitchFamily="34" charset="-122"/>
                <a:cs typeface="Arial" pitchFamily="34" charset="-120"/>
              </a:rPr>
              <a:t>BM25 bỏ dấu: 74,30%, không cần mô hình</a:t>
            </a:r>
            <a:endParaRPr lang="en-US" sz="1200" dirty="0"/>
          </a:p>
        </p:txBody>
      </p:sp>
      <p:sp>
        <p:nvSpPr>
          <p:cNvPr id="16" name="Text 12"/>
          <p:cNvSpPr txBox="1"/>
          <p:nvPr/>
        </p:nvSpPr>
        <p:spPr>
          <a:xfrm>
            <a:off x="4873752" y="5394960"/>
            <a:ext cx="3566160" cy="749808"/>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Ở câu có dấu BM25 gần như không góp gì. Ở câu không dấu nó lại là tầng đứng vững nhất.</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Sửa bằng phục hồi dấu: bigram học từ kho luật</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12</a:t>
            </a:r>
            <a:endParaRPr lang="en-US" sz="1100" dirty="0"/>
          </a:p>
        </p:txBody>
      </p:sp>
      <p:sp>
        <p:nvSpPr>
          <p:cNvPr id="9" name="Shape 6"/>
          <p:cNvSpPr/>
          <p:nvPr/>
        </p:nvSpPr>
        <p:spPr>
          <a:xfrm>
            <a:off x="384048" y="960120"/>
            <a:ext cx="4114800" cy="2651760"/>
          </a:xfrm>
          <a:prstGeom prst="roundRect">
            <a:avLst>
              <a:gd name="adj" fmla="val 2069"/>
            </a:avLst>
          </a:prstGeom>
          <a:solidFill>
            <a:srgbClr val="F4F8FC"/>
          </a:solidFill>
          <a:ln w="15875">
            <a:solidFill>
              <a:srgbClr val="2D75B6"/>
            </a:solidFill>
            <a:prstDash val="solid"/>
          </a:ln>
        </p:spPr>
      </p:sp>
      <p:sp>
        <p:nvSpPr>
          <p:cNvPr id="10" name="Text 7"/>
          <p:cNvSpPr txBox="1"/>
          <p:nvPr/>
        </p:nvSpPr>
        <p:spPr>
          <a:xfrm>
            <a:off x="585216" y="1042416"/>
            <a:ext cx="374904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Cách làm</a:t>
            </a:r>
            <a:endParaRPr lang="en-US" sz="1250" dirty="0"/>
          </a:p>
        </p:txBody>
      </p:sp>
      <p:sp>
        <p:nvSpPr>
          <p:cNvPr id="11" name="Text 8"/>
          <p:cNvSpPr txBox="1"/>
          <p:nvPr/>
        </p:nvSpPr>
        <p:spPr>
          <a:xfrm>
            <a:off x="585216" y="1371600"/>
            <a:ext cx="3749040" cy="2194560"/>
          </a:xfrm>
          <a:prstGeom prst="rect">
            <a:avLst/>
          </a:prstGeom>
          <a:noFill/>
          <a:ln/>
        </p:spPr>
        <p:txBody>
          <a:bodyPr wrap="square" lIns="0" tIns="0" rIns="0" bIns="0" rtlCol="0" anchor="t"/>
          <a:lstStyle/>
          <a:p>
            <a:pPr indent="0" marL="0">
              <a:lnSpc>
                <a:spcPts val="1800"/>
              </a:lnSpc>
              <a:spcAft>
                <a:spcPts val="400"/>
              </a:spcAft>
              <a:buNone/>
            </a:pPr>
            <a:r>
              <a:rPr lang="en-US" sz="1200" dirty="0">
                <a:solidFill>
                  <a:srgbClr val="1A1A1A"/>
                </a:solidFill>
                <a:latin typeface="Arial" pitchFamily="34" charset="0"/>
                <a:ea typeface="Arial" pitchFamily="34" charset="-122"/>
                <a:cs typeface="Arial" pitchFamily="34" charset="-120"/>
              </a:rPr>
              <a:t>1. Đếm unigram và bigram trên 18,6 triệu âm tiết của kho luật và câu hỏi train</a:t>
            </a:r>
            <a:endParaRPr lang="en-US" sz="1200" dirty="0"/>
          </a:p>
          <a:p>
            <a:pPr indent="0" marL="0">
              <a:lnSpc>
                <a:spcPts val="1800"/>
              </a:lnSpc>
              <a:spcAft>
                <a:spcPts val="400"/>
              </a:spcAft>
              <a:buNone/>
            </a:pPr>
            <a:r>
              <a:rPr lang="en-US" sz="1200" dirty="0">
                <a:solidFill>
                  <a:srgbClr val="1A1A1A"/>
                </a:solidFill>
                <a:latin typeface="Arial" pitchFamily="34" charset="0"/>
                <a:ea typeface="Arial" pitchFamily="34" charset="-122"/>
                <a:cs typeface="Arial" pitchFamily="34" charset="-120"/>
              </a:rPr>
              <a:t>2. Mỗi âm tiết không dấu có nhiều ứng viên: phat → phát, phạt, phắt</a:t>
            </a:r>
            <a:endParaRPr lang="en-US" sz="1200" dirty="0"/>
          </a:p>
          <a:p>
            <a:pPr indent="0" marL="0">
              <a:lnSpc>
                <a:spcPts val="1800"/>
              </a:lnSpc>
              <a:spcAft>
                <a:spcPts val="400"/>
              </a:spcAft>
              <a:buNone/>
            </a:pPr>
            <a:r>
              <a:rPr lang="en-US" sz="1200" dirty="0">
                <a:solidFill>
                  <a:srgbClr val="1A1A1A"/>
                </a:solidFill>
                <a:latin typeface="Arial" pitchFamily="34" charset="0"/>
                <a:ea typeface="Arial" pitchFamily="34" charset="-122"/>
                <a:cs typeface="Arial" pitchFamily="34" charset="-120"/>
              </a:rPr>
              <a:t>3. Viterbi chọn chuỗi có xác suất bigram cao nhất</a:t>
            </a:r>
            <a:endParaRPr lang="en-US" sz="1200" dirty="0"/>
          </a:p>
          <a:p>
            <a:pPr indent="0" marL="0">
              <a:lnSpc>
                <a:spcPts val="1800"/>
              </a:lnSpc>
              <a:spcAft>
                <a:spcPts val="400"/>
              </a:spcAft>
              <a:buNone/>
            </a:pPr>
            <a:r>
              <a:rPr lang="en-US" sz="1200" dirty="0">
                <a:solidFill>
                  <a:srgbClr val="1A1A1A"/>
                </a:solidFill>
                <a:latin typeface="Arial" pitchFamily="34" charset="0"/>
                <a:ea typeface="Arial" pitchFamily="34" charset="-122"/>
                <a:cs typeface="Arial" pitchFamily="34" charset="-120"/>
              </a:rPr>
              <a:t>4. Hệ số nội suy lambda = 0,9, chốt trên val</a:t>
            </a:r>
            <a:endParaRPr lang="en-US" sz="1200" dirty="0"/>
          </a:p>
        </p:txBody>
      </p:sp>
      <p:sp>
        <p:nvSpPr>
          <p:cNvPr id="12" name="Shape 9"/>
          <p:cNvSpPr/>
          <p:nvPr/>
        </p:nvSpPr>
        <p:spPr>
          <a:xfrm>
            <a:off x="4663440" y="960120"/>
            <a:ext cx="1993392" cy="1252728"/>
          </a:xfrm>
          <a:prstGeom prst="roundRect">
            <a:avLst>
              <a:gd name="adj" fmla="val 4380"/>
            </a:avLst>
          </a:prstGeom>
          <a:solidFill>
            <a:srgbClr val="FFFFFF"/>
          </a:solidFill>
          <a:ln w="15875">
            <a:solidFill>
              <a:srgbClr val="BFBFBF"/>
            </a:solidFill>
            <a:prstDash val="solid"/>
          </a:ln>
        </p:spPr>
      </p:sp>
      <p:sp>
        <p:nvSpPr>
          <p:cNvPr id="13" name="Text 10"/>
          <p:cNvSpPr txBox="1"/>
          <p:nvPr/>
        </p:nvSpPr>
        <p:spPr>
          <a:xfrm>
            <a:off x="4663440" y="1069848"/>
            <a:ext cx="1993392" cy="548640"/>
          </a:xfrm>
          <a:prstGeom prst="rect">
            <a:avLst/>
          </a:prstGeom>
          <a:noFill/>
          <a:ln/>
        </p:spPr>
        <p:txBody>
          <a:bodyPr wrap="square" lIns="0" tIns="0" rIns="0" bIns="0" rtlCol="0" anchor="ctr"/>
          <a:lstStyle/>
          <a:p>
            <a:pPr algn="ctr" indent="0" marL="0">
              <a:buNone/>
            </a:pPr>
            <a:r>
              <a:rPr lang="en-US" sz="2200" b="1" dirty="0">
                <a:solidFill>
                  <a:srgbClr val="2D75B6"/>
                </a:solidFill>
                <a:latin typeface="Arial" pitchFamily="34" charset="0"/>
                <a:ea typeface="Arial" pitchFamily="34" charset="-122"/>
                <a:cs typeface="Arial" pitchFamily="34" charset="-120"/>
              </a:rPr>
              <a:t>98,41%</a:t>
            </a:r>
            <a:endParaRPr lang="en-US" sz="2200" dirty="0"/>
          </a:p>
        </p:txBody>
      </p:sp>
      <p:sp>
        <p:nvSpPr>
          <p:cNvPr id="14" name="Text 11"/>
          <p:cNvSpPr txBox="1"/>
          <p:nvPr/>
        </p:nvSpPr>
        <p:spPr>
          <a:xfrm>
            <a:off x="4754880" y="1655064"/>
            <a:ext cx="1810512" cy="475488"/>
          </a:xfrm>
          <a:prstGeom prst="rect">
            <a:avLst/>
          </a:prstGeom>
          <a:noFill/>
          <a:ln/>
        </p:spPr>
        <p:txBody>
          <a:bodyPr wrap="square" lIns="0" tIns="0" rIns="0" bIns="0" rtlCol="0" anchor="t"/>
          <a:lstStyle/>
          <a:p>
            <a:pPr algn="ctr" indent="0" marL="0">
              <a:buNone/>
            </a:pPr>
            <a:r>
              <a:rPr lang="en-US" sz="1000" dirty="0">
                <a:solidFill>
                  <a:srgbClr val="5A5A5A"/>
                </a:solidFill>
                <a:latin typeface="Arial" pitchFamily="34" charset="0"/>
                <a:ea typeface="Arial" pitchFamily="34" charset="-122"/>
                <a:cs typeface="Arial" pitchFamily="34" charset="-120"/>
              </a:rPr>
              <a:t>âm tiết phục hồi đúng</a:t>
            </a:r>
            <a:endParaRPr lang="en-US" sz="1000" dirty="0"/>
          </a:p>
        </p:txBody>
      </p:sp>
      <p:sp>
        <p:nvSpPr>
          <p:cNvPr id="15" name="Shape 12"/>
          <p:cNvSpPr/>
          <p:nvPr/>
        </p:nvSpPr>
        <p:spPr>
          <a:xfrm>
            <a:off x="6739128" y="960120"/>
            <a:ext cx="1993392" cy="1252728"/>
          </a:xfrm>
          <a:prstGeom prst="roundRect">
            <a:avLst>
              <a:gd name="adj" fmla="val 4380"/>
            </a:avLst>
          </a:prstGeom>
          <a:solidFill>
            <a:srgbClr val="FFFFFF"/>
          </a:solidFill>
          <a:ln w="15875">
            <a:solidFill>
              <a:srgbClr val="BFBFBF"/>
            </a:solidFill>
            <a:prstDash val="solid"/>
          </a:ln>
        </p:spPr>
      </p:sp>
      <p:sp>
        <p:nvSpPr>
          <p:cNvPr id="16" name="Text 13"/>
          <p:cNvSpPr txBox="1"/>
          <p:nvPr/>
        </p:nvSpPr>
        <p:spPr>
          <a:xfrm>
            <a:off x="6739128" y="1069848"/>
            <a:ext cx="1993392" cy="548640"/>
          </a:xfrm>
          <a:prstGeom prst="rect">
            <a:avLst/>
          </a:prstGeom>
          <a:noFill/>
          <a:ln/>
        </p:spPr>
        <p:txBody>
          <a:bodyPr wrap="square" lIns="0" tIns="0" rIns="0" bIns="0" rtlCol="0" anchor="ctr"/>
          <a:lstStyle/>
          <a:p>
            <a:pPr algn="ctr" indent="0" marL="0">
              <a:buNone/>
            </a:pPr>
            <a:r>
              <a:rPr lang="en-US" sz="2200" b="1" dirty="0">
                <a:solidFill>
                  <a:srgbClr val="2D75B6"/>
                </a:solidFill>
                <a:latin typeface="Arial" pitchFamily="34" charset="0"/>
                <a:ea typeface="Arial" pitchFamily="34" charset="-122"/>
                <a:cs typeface="Arial" pitchFamily="34" charset="-120"/>
              </a:rPr>
              <a:t>619/788</a:t>
            </a:r>
            <a:endParaRPr lang="en-US" sz="2200" dirty="0"/>
          </a:p>
        </p:txBody>
      </p:sp>
      <p:sp>
        <p:nvSpPr>
          <p:cNvPr id="17" name="Text 14"/>
          <p:cNvSpPr txBox="1"/>
          <p:nvPr/>
        </p:nvSpPr>
        <p:spPr>
          <a:xfrm>
            <a:off x="6830568" y="1655064"/>
            <a:ext cx="1810512" cy="475488"/>
          </a:xfrm>
          <a:prstGeom prst="rect">
            <a:avLst/>
          </a:prstGeom>
          <a:noFill/>
          <a:ln/>
        </p:spPr>
        <p:txBody>
          <a:bodyPr wrap="square" lIns="0" tIns="0" rIns="0" bIns="0" rtlCol="0" anchor="t"/>
          <a:lstStyle/>
          <a:p>
            <a:pPr algn="ctr" indent="0" marL="0">
              <a:buNone/>
            </a:pPr>
            <a:r>
              <a:rPr lang="en-US" sz="1000" dirty="0">
                <a:solidFill>
                  <a:srgbClr val="5A5A5A"/>
                </a:solidFill>
                <a:latin typeface="Arial" pitchFamily="34" charset="0"/>
                <a:ea typeface="Arial" pitchFamily="34" charset="-122"/>
                <a:cs typeface="Arial" pitchFamily="34" charset="-120"/>
              </a:rPr>
              <a:t>câu đúng hoàn toàn</a:t>
            </a:r>
            <a:endParaRPr lang="en-US" sz="1000" dirty="0"/>
          </a:p>
        </p:txBody>
      </p:sp>
      <p:sp>
        <p:nvSpPr>
          <p:cNvPr id="18" name="Shape 15"/>
          <p:cNvSpPr/>
          <p:nvPr/>
        </p:nvSpPr>
        <p:spPr>
          <a:xfrm>
            <a:off x="4663440" y="2304288"/>
            <a:ext cx="1993392" cy="1252728"/>
          </a:xfrm>
          <a:prstGeom prst="roundRect">
            <a:avLst>
              <a:gd name="adj" fmla="val 4380"/>
            </a:avLst>
          </a:prstGeom>
          <a:solidFill>
            <a:srgbClr val="FFFFFF"/>
          </a:solidFill>
          <a:ln w="15875">
            <a:solidFill>
              <a:srgbClr val="BFBFBF"/>
            </a:solidFill>
            <a:prstDash val="solid"/>
          </a:ln>
        </p:spPr>
      </p:sp>
      <p:sp>
        <p:nvSpPr>
          <p:cNvPr id="19" name="Text 16"/>
          <p:cNvSpPr txBox="1"/>
          <p:nvPr/>
        </p:nvSpPr>
        <p:spPr>
          <a:xfrm>
            <a:off x="4663440" y="2414016"/>
            <a:ext cx="1993392" cy="548640"/>
          </a:xfrm>
          <a:prstGeom prst="rect">
            <a:avLst/>
          </a:prstGeom>
          <a:noFill/>
          <a:ln/>
        </p:spPr>
        <p:txBody>
          <a:bodyPr wrap="square" lIns="0" tIns="0" rIns="0" bIns="0" rtlCol="0" anchor="ctr"/>
          <a:lstStyle/>
          <a:p>
            <a:pPr algn="ctr" indent="0" marL="0">
              <a:buNone/>
            </a:pPr>
            <a:r>
              <a:rPr lang="en-US" sz="2200" b="1" dirty="0">
                <a:solidFill>
                  <a:srgbClr val="2D75B6"/>
                </a:solidFill>
                <a:latin typeface="Arial" pitchFamily="34" charset="0"/>
                <a:ea typeface="Arial" pitchFamily="34" charset="-122"/>
                <a:cs typeface="Arial" pitchFamily="34" charset="-120"/>
              </a:rPr>
              <a:t>1,0 ms</a:t>
            </a:r>
            <a:endParaRPr lang="en-US" sz="2200" dirty="0"/>
          </a:p>
        </p:txBody>
      </p:sp>
      <p:sp>
        <p:nvSpPr>
          <p:cNvPr id="20" name="Text 17"/>
          <p:cNvSpPr txBox="1"/>
          <p:nvPr/>
        </p:nvSpPr>
        <p:spPr>
          <a:xfrm>
            <a:off x="4754880" y="2999232"/>
            <a:ext cx="1810512" cy="475488"/>
          </a:xfrm>
          <a:prstGeom prst="rect">
            <a:avLst/>
          </a:prstGeom>
          <a:noFill/>
          <a:ln/>
        </p:spPr>
        <p:txBody>
          <a:bodyPr wrap="square" lIns="0" tIns="0" rIns="0" bIns="0" rtlCol="0" anchor="t"/>
          <a:lstStyle/>
          <a:p>
            <a:pPr algn="ctr" indent="0" marL="0">
              <a:buNone/>
            </a:pPr>
            <a:r>
              <a:rPr lang="en-US" sz="1000" dirty="0">
                <a:solidFill>
                  <a:srgbClr val="5A5A5A"/>
                </a:solidFill>
                <a:latin typeface="Arial" pitchFamily="34" charset="0"/>
                <a:ea typeface="Arial" pitchFamily="34" charset="-122"/>
                <a:cs typeface="Arial" pitchFamily="34" charset="-120"/>
              </a:rPr>
              <a:t>phục hồi dấu mỗi câu</a:t>
            </a:r>
            <a:endParaRPr lang="en-US" sz="1000" dirty="0"/>
          </a:p>
        </p:txBody>
      </p:sp>
      <p:sp>
        <p:nvSpPr>
          <p:cNvPr id="21" name="Shape 18"/>
          <p:cNvSpPr/>
          <p:nvPr/>
        </p:nvSpPr>
        <p:spPr>
          <a:xfrm>
            <a:off x="6739128" y="2304288"/>
            <a:ext cx="1993392" cy="1252728"/>
          </a:xfrm>
          <a:prstGeom prst="roundRect">
            <a:avLst>
              <a:gd name="adj" fmla="val 4380"/>
            </a:avLst>
          </a:prstGeom>
          <a:solidFill>
            <a:srgbClr val="EAF6EE"/>
          </a:solidFill>
          <a:ln w="15875">
            <a:solidFill>
              <a:srgbClr val="1E7A4B"/>
            </a:solidFill>
            <a:prstDash val="solid"/>
          </a:ln>
        </p:spPr>
      </p:sp>
      <p:sp>
        <p:nvSpPr>
          <p:cNvPr id="22" name="Text 19"/>
          <p:cNvSpPr txBox="1"/>
          <p:nvPr/>
        </p:nvSpPr>
        <p:spPr>
          <a:xfrm>
            <a:off x="6739128" y="2414016"/>
            <a:ext cx="1993392" cy="548640"/>
          </a:xfrm>
          <a:prstGeom prst="rect">
            <a:avLst/>
          </a:prstGeom>
          <a:noFill/>
          <a:ln/>
        </p:spPr>
        <p:txBody>
          <a:bodyPr wrap="square" lIns="0" tIns="0" rIns="0" bIns="0" rtlCol="0" anchor="ctr"/>
          <a:lstStyle/>
          <a:p>
            <a:pPr algn="ctr" indent="0" marL="0">
              <a:buNone/>
            </a:pPr>
            <a:r>
              <a:rPr lang="en-US" sz="2200" b="1" dirty="0">
                <a:solidFill>
                  <a:srgbClr val="1E7A4B"/>
                </a:solidFill>
                <a:latin typeface="Arial" pitchFamily="34" charset="0"/>
                <a:ea typeface="Arial" pitchFamily="34" charset="-122"/>
                <a:cs typeface="Arial" pitchFamily="34" charset="-120"/>
              </a:rPr>
              <a:t>96,70%</a:t>
            </a:r>
            <a:endParaRPr lang="en-US" sz="2200" dirty="0"/>
          </a:p>
        </p:txBody>
      </p:sp>
      <p:sp>
        <p:nvSpPr>
          <p:cNvPr id="23" name="Text 20"/>
          <p:cNvSpPr txBox="1"/>
          <p:nvPr/>
        </p:nvSpPr>
        <p:spPr>
          <a:xfrm>
            <a:off x="6830568" y="2999232"/>
            <a:ext cx="1810512" cy="475488"/>
          </a:xfrm>
          <a:prstGeom prst="rect">
            <a:avLst/>
          </a:prstGeom>
          <a:noFill/>
          <a:ln/>
        </p:spPr>
        <p:txBody>
          <a:bodyPr wrap="square" lIns="0" tIns="0" rIns="0" bIns="0" rtlCol="0" anchor="t"/>
          <a:lstStyle/>
          <a:p>
            <a:pPr algn="ctr" indent="0" marL="0">
              <a:buNone/>
            </a:pPr>
            <a:r>
              <a:rPr lang="en-US" sz="1000" dirty="0">
                <a:solidFill>
                  <a:srgbClr val="5A5A5A"/>
                </a:solidFill>
                <a:latin typeface="Arial" pitchFamily="34" charset="0"/>
                <a:ea typeface="Arial" pitchFamily="34" charset="-122"/>
                <a:cs typeface="Arial" pitchFamily="34" charset="-120"/>
              </a:rPr>
              <a:t>Recall@10, kém câu có dấu 1,02 điểm</a:t>
            </a:r>
            <a:endParaRPr lang="en-US" sz="1000" dirty="0"/>
          </a:p>
        </p:txBody>
      </p:sp>
      <p:sp>
        <p:nvSpPr>
          <p:cNvPr id="24" name="Shape 21"/>
          <p:cNvSpPr/>
          <p:nvPr/>
        </p:nvSpPr>
        <p:spPr>
          <a:xfrm>
            <a:off x="384048" y="3767328"/>
            <a:ext cx="8375904" cy="1280160"/>
          </a:xfrm>
          <a:prstGeom prst="roundRect">
            <a:avLst>
              <a:gd name="adj" fmla="val 4286"/>
            </a:avLst>
          </a:prstGeom>
          <a:solidFill>
            <a:srgbClr val="FDEDEC"/>
          </a:solidFill>
          <a:ln w="15875">
            <a:solidFill>
              <a:srgbClr val="C0392B"/>
            </a:solidFill>
            <a:prstDash val="solid"/>
          </a:ln>
        </p:spPr>
      </p:sp>
      <p:sp>
        <p:nvSpPr>
          <p:cNvPr id="25" name="Text 22"/>
          <p:cNvSpPr txBox="1"/>
          <p:nvPr/>
        </p:nvSpPr>
        <p:spPr>
          <a:xfrm>
            <a:off x="585216" y="3849624"/>
            <a:ext cx="7955280" cy="27432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Sai ở đâu: từ nói thường mà văn bản luật không dùng</a:t>
            </a:r>
            <a:endParaRPr lang="en-US" sz="1250" dirty="0"/>
          </a:p>
        </p:txBody>
      </p:sp>
      <p:sp>
        <p:nvSpPr>
          <p:cNvPr id="26" name="Text 23"/>
          <p:cNvSpPr txBox="1"/>
          <p:nvPr/>
        </p:nvSpPr>
        <p:spPr>
          <a:xfrm>
            <a:off x="585216" y="4160520"/>
            <a:ext cx="7955280" cy="841248"/>
          </a:xfrm>
          <a:prstGeom prst="rect">
            <a:avLst/>
          </a:prstGeom>
          <a:noFill/>
          <a:ln/>
        </p:spPr>
        <p:txBody>
          <a:bodyPr wrap="square" lIns="0" tIns="0" rIns="0" bIns="0" rtlCol="0" anchor="t"/>
          <a:lstStyle/>
          <a:p>
            <a:pPr indent="0" marL="0">
              <a:lnSpc>
                <a:spcPts val="1700"/>
              </a:lnSpc>
              <a:buNone/>
            </a:pPr>
            <a:r>
              <a:rPr lang="en-US" sz="1150" b="1" dirty="0">
                <a:solidFill>
                  <a:srgbClr val="1A1A1A"/>
                </a:solidFill>
                <a:latin typeface="Arial" pitchFamily="34" charset="0"/>
                <a:ea typeface="Arial" pitchFamily="34" charset="-122"/>
                <a:cs typeface="Arial" pitchFamily="34" charset="-120"/>
              </a:rPr>
              <a:t>“Tài xế” → “tải xe”,  “máu” → “mẫu”,  “đi bộ” → “đi bờ”</a:t>
            </a:r>
            <a:endParaRPr lang="en-US" sz="1150" dirty="0"/>
          </a:p>
          <a:p>
            <a:pPr indent="0" marL="0">
              <a:lnSpc>
                <a:spcPts val="1700"/>
              </a:lnSpc>
              <a:buNone/>
            </a:pPr>
            <a:r>
              <a:rPr lang="en-US" sz="1150" dirty="0">
                <a:solidFill>
                  <a:srgbClr val="1A1A1A"/>
                </a:solidFill>
                <a:latin typeface="Arial" pitchFamily="34" charset="0"/>
                <a:ea typeface="Arial" pitchFamily="34" charset="-122"/>
                <a:cs typeface="Arial" pitchFamily="34" charset="-120"/>
              </a:rPr>
              <a:t>169 câu sai ít nhất một âm tiết. Ở nhóm này tỷ lệ tìm đúng trong top-10 tụt từ 94,67% xuống 89,94%: mất 9 câu, được 1 câu.</a:t>
            </a:r>
            <a:endParaRPr lang="en-US" sz="1150" dirty="0"/>
          </a:p>
        </p:txBody>
      </p:sp>
      <p:sp>
        <p:nvSpPr>
          <p:cNvPr id="27" name="Shape 24"/>
          <p:cNvSpPr/>
          <p:nvPr/>
        </p:nvSpPr>
        <p:spPr>
          <a:xfrm>
            <a:off x="384048" y="5175504"/>
            <a:ext cx="8375904" cy="1005840"/>
          </a:xfrm>
          <a:prstGeom prst="roundRect">
            <a:avLst>
              <a:gd name="adj" fmla="val 5455"/>
            </a:avLst>
          </a:prstGeom>
          <a:solidFill>
            <a:srgbClr val="EAF6EE"/>
          </a:solidFill>
          <a:ln w="15875">
            <a:solidFill>
              <a:srgbClr val="1E7A4B"/>
            </a:solidFill>
            <a:prstDash val="solid"/>
          </a:ln>
        </p:spPr>
      </p:sp>
      <p:sp>
        <p:nvSpPr>
          <p:cNvPr id="28" name="Text 25"/>
          <p:cNvSpPr txBox="1"/>
          <p:nvPr/>
        </p:nvSpPr>
        <p:spPr>
          <a:xfrm>
            <a:off x="585216" y="5230368"/>
            <a:ext cx="7955280" cy="896112"/>
          </a:xfrm>
          <a:prstGeom prst="rect">
            <a:avLst/>
          </a:prstGeom>
          <a:noFill/>
          <a:ln/>
        </p:spPr>
        <p:txBody>
          <a:bodyPr wrap="square" lIns="0" tIns="0" rIns="0" bIns="0" rtlCol="0" anchor="ctr"/>
          <a:lstStyle/>
          <a:p>
            <a:pPr indent="0" marL="0">
              <a:lnSpc>
                <a:spcPts val="1600"/>
              </a:lnSpc>
              <a:buNone/>
            </a:pPr>
            <a:r>
              <a:rPr lang="en-US" sz="1150" b="1" dirty="0">
                <a:solidFill>
                  <a:srgbClr val="1E7A4B"/>
                </a:solidFill>
                <a:latin typeface="Arial" pitchFamily="34" charset="0"/>
                <a:ea typeface="Arial" pitchFamily="34" charset="-122"/>
                <a:cs typeface="Arial" pitchFamily="34" charset="-120"/>
              </a:rPr>
              <a:t>Bộ định tuyến: </a:t>
            </a:r>
            <a:pPr indent="0" marL="0">
              <a:lnSpc>
                <a:spcPts val="1600"/>
              </a:lnSpc>
              <a:buNone/>
            </a:pPr>
            <a:r>
              <a:rPr lang="en-US" sz="1150" dirty="0">
                <a:solidFill>
                  <a:srgbClr val="1A1A1A"/>
                </a:solidFill>
                <a:latin typeface="Arial" pitchFamily="34" charset="0"/>
                <a:ea typeface="Arial" pitchFamily="34" charset="-122"/>
                <a:cs typeface="Arial" pitchFamily="34" charset="-120"/>
              </a:rPr>
              <a:t>0 câu gốc bị nhận nhầm là không dấu, nên câu có dấu vẫn giữ nguyên Recall@10 97,72%. Trong demo, trợ lý tra cứu dùng đúng đường chạy này và trả lời bằng cách trích nguyên văn khoản luật.</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Kết luận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13</a:t>
            </a:r>
            <a:endParaRPr lang="en-US" sz="1100" dirty="0"/>
          </a:p>
        </p:txBody>
      </p:sp>
      <p:sp>
        <p:nvSpPr>
          <p:cNvPr id="9" name="Shape 6"/>
          <p:cNvSpPr/>
          <p:nvPr/>
        </p:nvSpPr>
        <p:spPr>
          <a:xfrm>
            <a:off x="502920" y="960120"/>
            <a:ext cx="8138160" cy="1051560"/>
          </a:xfrm>
          <a:prstGeom prst="roundRect">
            <a:avLst>
              <a:gd name="adj" fmla="val 5217"/>
            </a:avLst>
          </a:prstGeom>
          <a:solidFill>
            <a:srgbClr val="FFFFFF"/>
          </a:solidFill>
          <a:ln w="15875">
            <a:solidFill>
              <a:srgbClr val="1E7A4B"/>
            </a:solidFill>
            <a:prstDash val="solid"/>
          </a:ln>
        </p:spPr>
      </p:sp>
      <p:sp>
        <p:nvSpPr>
          <p:cNvPr id="10" name="Shape 7"/>
          <p:cNvSpPr/>
          <p:nvPr/>
        </p:nvSpPr>
        <p:spPr>
          <a:xfrm>
            <a:off x="502920" y="960120"/>
            <a:ext cx="82296" cy="1051560"/>
          </a:xfrm>
          <a:prstGeom prst="rect">
            <a:avLst/>
          </a:prstGeom>
          <a:solidFill>
            <a:srgbClr val="1E7A4B"/>
          </a:solidFill>
          <a:ln/>
        </p:spPr>
      </p:sp>
      <p:sp>
        <p:nvSpPr>
          <p:cNvPr id="11" name="Text 8"/>
          <p:cNvSpPr txBox="1"/>
          <p:nvPr/>
        </p:nvSpPr>
        <p:spPr>
          <a:xfrm>
            <a:off x="749808" y="1033272"/>
            <a:ext cx="7680960" cy="292608"/>
          </a:xfrm>
          <a:prstGeom prst="rect">
            <a:avLst/>
          </a:prstGeom>
          <a:noFill/>
          <a:ln/>
        </p:spPr>
        <p:txBody>
          <a:bodyPr wrap="square" lIns="0" tIns="0" rIns="0" bIns="0" rtlCol="0" anchor="ctr"/>
          <a:lstStyle/>
          <a:p>
            <a:pPr indent="0" marL="0">
              <a:buNone/>
            </a:pPr>
            <a:r>
              <a:rPr lang="en-US" sz="1300" b="1" dirty="0">
                <a:solidFill>
                  <a:srgbClr val="1E7A4B"/>
                </a:solidFill>
                <a:latin typeface="Arial" pitchFamily="34" charset="0"/>
                <a:ea typeface="Arial" pitchFamily="34" charset="-122"/>
                <a:cs typeface="Arial" pitchFamily="34" charset="-120"/>
              </a:rPr>
              <a:t>CH1. Câu có dấu: hợp nhất có cải thiện, nhưng rất nhỏ</a:t>
            </a:r>
            <a:endParaRPr lang="en-US" sz="1300" dirty="0"/>
          </a:p>
        </p:txBody>
      </p:sp>
      <p:sp>
        <p:nvSpPr>
          <p:cNvPr id="12" name="Text 9"/>
          <p:cNvSpPr txBox="1"/>
          <p:nvPr/>
        </p:nvSpPr>
        <p:spPr>
          <a:xfrm>
            <a:off x="749808" y="1344168"/>
            <a:ext cx="7680960" cy="603504"/>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Hơn ngữ nghĩa thuần 0,50 điểm phần trăm, tức 4 câu trên 788. Tổng trọng số thắng RRF. BM25 nhanh hơn khoảng 703 lần và giải thích được kết quả.</a:t>
            </a:r>
            <a:endParaRPr lang="en-US" sz="1150" dirty="0"/>
          </a:p>
        </p:txBody>
      </p:sp>
      <p:sp>
        <p:nvSpPr>
          <p:cNvPr id="13" name="Shape 10"/>
          <p:cNvSpPr/>
          <p:nvPr/>
        </p:nvSpPr>
        <p:spPr>
          <a:xfrm>
            <a:off x="502920" y="2148840"/>
            <a:ext cx="8138160" cy="1051560"/>
          </a:xfrm>
          <a:prstGeom prst="roundRect">
            <a:avLst>
              <a:gd name="adj" fmla="val 5217"/>
            </a:avLst>
          </a:prstGeom>
          <a:solidFill>
            <a:srgbClr val="FFFFFF"/>
          </a:solidFill>
          <a:ln w="15875">
            <a:solidFill>
              <a:srgbClr val="C0392B"/>
            </a:solidFill>
            <a:prstDash val="solid"/>
          </a:ln>
        </p:spPr>
      </p:sp>
      <p:sp>
        <p:nvSpPr>
          <p:cNvPr id="14" name="Shape 11"/>
          <p:cNvSpPr/>
          <p:nvPr/>
        </p:nvSpPr>
        <p:spPr>
          <a:xfrm>
            <a:off x="502920" y="2148840"/>
            <a:ext cx="82296" cy="1051560"/>
          </a:xfrm>
          <a:prstGeom prst="rect">
            <a:avLst/>
          </a:prstGeom>
          <a:solidFill>
            <a:srgbClr val="C0392B"/>
          </a:solidFill>
          <a:ln/>
        </p:spPr>
      </p:sp>
      <p:sp>
        <p:nvSpPr>
          <p:cNvPr id="15" name="Text 12"/>
          <p:cNvSpPr txBox="1"/>
          <p:nvPr/>
        </p:nvSpPr>
        <p:spPr>
          <a:xfrm>
            <a:off x="749808" y="2221992"/>
            <a:ext cx="7680960" cy="292608"/>
          </a:xfrm>
          <a:prstGeom prst="rect">
            <a:avLst/>
          </a:prstGeom>
          <a:noFill/>
          <a:ln/>
        </p:spPr>
        <p:txBody>
          <a:bodyPr wrap="square" lIns="0" tIns="0" rIns="0" bIns="0" rtlCol="0" anchor="ctr"/>
          <a:lstStyle/>
          <a:p>
            <a:pPr indent="0" marL="0">
              <a:buNone/>
            </a:pPr>
            <a:r>
              <a:rPr lang="en-US" sz="1300" b="1" dirty="0">
                <a:solidFill>
                  <a:srgbClr val="C0392B"/>
                </a:solidFill>
                <a:latin typeface="Arial" pitchFamily="34" charset="0"/>
                <a:ea typeface="Arial" pitchFamily="34" charset="-122"/>
                <a:cs typeface="Arial" pitchFamily="34" charset="-120"/>
              </a:rPr>
              <a:t>CH2. Câu không dấu: hệ sụp, phục hồi dấu kéo lại gần hết</a:t>
            </a:r>
            <a:endParaRPr lang="en-US" sz="1300" dirty="0"/>
          </a:p>
        </p:txBody>
      </p:sp>
      <p:sp>
        <p:nvSpPr>
          <p:cNvPr id="16" name="Text 13"/>
          <p:cNvSpPr txBox="1"/>
          <p:nvPr/>
        </p:nvSpPr>
        <p:spPr>
          <a:xfrm>
            <a:off x="749808" y="2532888"/>
            <a:ext cx="7680960" cy="603504"/>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Hệ lai giữ nguyên chỉ còn 14,47%. BM25 bỏ dấu đạt 74,30% không cần mô hình. Phục hồi dấu bằng bigram đưa hệ về 96,70%, 98,41% âm tiết đúng.</a:t>
            </a:r>
            <a:endParaRPr lang="en-US" sz="1150" dirty="0"/>
          </a:p>
        </p:txBody>
      </p:sp>
      <p:sp>
        <p:nvSpPr>
          <p:cNvPr id="17" name="Shape 14"/>
          <p:cNvSpPr/>
          <p:nvPr/>
        </p:nvSpPr>
        <p:spPr>
          <a:xfrm>
            <a:off x="502920" y="3337560"/>
            <a:ext cx="8138160" cy="1051560"/>
          </a:xfrm>
          <a:prstGeom prst="roundRect">
            <a:avLst>
              <a:gd name="adj" fmla="val 5217"/>
            </a:avLst>
          </a:prstGeom>
          <a:solidFill>
            <a:srgbClr val="FFFFFF"/>
          </a:solidFill>
          <a:ln w="15875">
            <a:solidFill>
              <a:srgbClr val="2D75B6"/>
            </a:solidFill>
            <a:prstDash val="solid"/>
          </a:ln>
        </p:spPr>
      </p:sp>
      <p:sp>
        <p:nvSpPr>
          <p:cNvPr id="18" name="Shape 15"/>
          <p:cNvSpPr/>
          <p:nvPr/>
        </p:nvSpPr>
        <p:spPr>
          <a:xfrm>
            <a:off x="502920" y="3337560"/>
            <a:ext cx="82296" cy="1051560"/>
          </a:xfrm>
          <a:prstGeom prst="rect">
            <a:avLst/>
          </a:prstGeom>
          <a:solidFill>
            <a:srgbClr val="2D75B6"/>
          </a:solidFill>
          <a:ln/>
        </p:spPr>
      </p:sp>
      <p:sp>
        <p:nvSpPr>
          <p:cNvPr id="19" name="Text 16"/>
          <p:cNvSpPr txBox="1"/>
          <p:nvPr/>
        </p:nvSpPr>
        <p:spPr>
          <a:xfrm>
            <a:off x="749808" y="3410712"/>
            <a:ext cx="7680960" cy="292608"/>
          </a:xfrm>
          <a:prstGeom prst="rect">
            <a:avLst/>
          </a:prstGeom>
          <a:noFill/>
          <a:ln/>
        </p:spPr>
        <p:txBody>
          <a:bodyPr wrap="square" lIns="0" tIns="0" rIns="0" bIns="0" rtlCol="0" anchor="ctr"/>
          <a:lstStyle/>
          <a:p>
            <a:pPr indent="0" marL="0">
              <a:buNone/>
            </a:pPr>
            <a:r>
              <a:rPr lang="en-US" sz="1300" b="1" dirty="0">
                <a:solidFill>
                  <a:srgbClr val="2D75B6"/>
                </a:solidFill>
                <a:latin typeface="Arial" pitchFamily="34" charset="0"/>
                <a:ea typeface="Arial" pitchFamily="34" charset="-122"/>
                <a:cs typeface="Arial" pitchFamily="34" charset="-120"/>
              </a:rPr>
              <a:t>Chống rò rỉ không dừng ở việc chia lại tập</a:t>
            </a:r>
            <a:endParaRPr lang="en-US" sz="1300" dirty="0"/>
          </a:p>
        </p:txBody>
      </p:sp>
      <p:sp>
        <p:nvSpPr>
          <p:cNvPr id="20" name="Text 17"/>
          <p:cNvSpPr txBox="1"/>
          <p:nvPr/>
        </p:nvSpPr>
        <p:spPr>
          <a:xfrm>
            <a:off x="749808" y="3721608"/>
            <a:ext cx="7680960" cy="603504"/>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Mô hình bi-encoder tiếng Việt phổ biến nhất đã học chính bộ dữ liệu này. Phải đọc model card trước khi tin một con số benchmark.</a:t>
            </a:r>
            <a:endParaRPr lang="en-US" sz="1150" dirty="0"/>
          </a:p>
        </p:txBody>
      </p:sp>
      <p:sp>
        <p:nvSpPr>
          <p:cNvPr id="21" name="Shape 18"/>
          <p:cNvSpPr/>
          <p:nvPr/>
        </p:nvSpPr>
        <p:spPr>
          <a:xfrm>
            <a:off x="502920" y="4617720"/>
            <a:ext cx="3977640" cy="1554480"/>
          </a:xfrm>
          <a:prstGeom prst="roundRect">
            <a:avLst>
              <a:gd name="adj" fmla="val 3529"/>
            </a:avLst>
          </a:prstGeom>
          <a:solidFill>
            <a:srgbClr val="F4F8FC"/>
          </a:solidFill>
          <a:ln w="15875">
            <a:solidFill>
              <a:srgbClr val="2D75B6"/>
            </a:solidFill>
            <a:prstDash val="solid"/>
          </a:ln>
        </p:spPr>
      </p:sp>
      <p:sp>
        <p:nvSpPr>
          <p:cNvPr id="22" name="Text 19"/>
          <p:cNvSpPr txBox="1"/>
          <p:nvPr/>
        </p:nvSpPr>
        <p:spPr>
          <a:xfrm>
            <a:off x="713232" y="4709160"/>
            <a:ext cx="356616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Giới hạn</a:t>
            </a:r>
            <a:endParaRPr lang="en-US" sz="1250" dirty="0"/>
          </a:p>
        </p:txBody>
      </p:sp>
      <p:sp>
        <p:nvSpPr>
          <p:cNvPr id="23" name="Text 20"/>
          <p:cNvSpPr txBox="1"/>
          <p:nvPr/>
        </p:nvSpPr>
        <p:spPr>
          <a:xfrm>
            <a:off x="713232" y="4992624"/>
            <a:ext cx="3566160" cy="114300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Câu không dấu tạo bằng máy từ câu gốc, chưa có câu gõ tay thật, chưa đo câu gõ dấu một nửa.</a:t>
            </a:r>
            <a:endParaRPr lang="en-US" sz="1050" dirty="0"/>
          </a:p>
          <a:p>
            <a:pPr indent="0" marL="0">
              <a:lnSpc>
                <a:spcPts val="1400"/>
              </a:lnSpc>
              <a:buNone/>
            </a:pPr>
            <a:r>
              <a:rPr lang="en-US" sz="1050" dirty="0">
                <a:solidFill>
                  <a:srgbClr val="1A1A1A"/>
                </a:solidFill>
                <a:latin typeface="Arial" pitchFamily="34" charset="0"/>
                <a:ea typeface="Arial" pitchFamily="34" charset="-122"/>
                <a:cs typeface="Arial" pitchFamily="34" charset="-120"/>
              </a:rPr>
              <a:t>Nhãn không đầy đủ, mọi Recall là cận dưới.</a:t>
            </a:r>
            <a:endParaRPr lang="en-US" sz="1050" dirty="0"/>
          </a:p>
          <a:p>
            <a:pPr indent="0" marL="0">
              <a:lnSpc>
                <a:spcPts val="1400"/>
              </a:lnSpc>
              <a:buNone/>
            </a:pPr>
            <a:r>
              <a:rPr lang="en-US" sz="1050" dirty="0">
                <a:solidFill>
                  <a:srgbClr val="1A1A1A"/>
                </a:solidFill>
                <a:latin typeface="Arial" pitchFamily="34" charset="0"/>
                <a:ea typeface="Arial" pitchFamily="34" charset="-122"/>
                <a:cs typeface="Arial" pitchFamily="34" charset="-120"/>
              </a:rPr>
              <a:t>Mỗi cấu hình chỉ chạy một seed.</a:t>
            </a:r>
            <a:endParaRPr lang="en-US" sz="1050" dirty="0"/>
          </a:p>
        </p:txBody>
      </p:sp>
      <p:sp>
        <p:nvSpPr>
          <p:cNvPr id="24" name="Shape 21"/>
          <p:cNvSpPr/>
          <p:nvPr/>
        </p:nvSpPr>
        <p:spPr>
          <a:xfrm>
            <a:off x="4663440" y="4617720"/>
            <a:ext cx="3977640" cy="1554480"/>
          </a:xfrm>
          <a:prstGeom prst="roundRect">
            <a:avLst>
              <a:gd name="adj" fmla="val 3529"/>
            </a:avLst>
          </a:prstGeom>
          <a:solidFill>
            <a:srgbClr val="EAF6EE"/>
          </a:solidFill>
          <a:ln w="15875">
            <a:solidFill>
              <a:srgbClr val="1E7A4B"/>
            </a:solidFill>
            <a:prstDash val="solid"/>
          </a:ln>
        </p:spPr>
      </p:sp>
      <p:sp>
        <p:nvSpPr>
          <p:cNvPr id="25" name="Text 22"/>
          <p:cNvSpPr txBox="1"/>
          <p:nvPr/>
        </p:nvSpPr>
        <p:spPr>
          <a:xfrm>
            <a:off x="4873752" y="4709160"/>
            <a:ext cx="3566160" cy="274320"/>
          </a:xfrm>
          <a:prstGeom prst="rect">
            <a:avLst/>
          </a:prstGeom>
          <a:noFill/>
          <a:ln/>
        </p:spPr>
        <p:txBody>
          <a:bodyPr wrap="square" lIns="0" tIns="0" rIns="0" bIns="0" rtlCol="0" anchor="ctr"/>
          <a:lstStyle/>
          <a:p>
            <a:pPr indent="0" marL="0">
              <a:buNone/>
            </a:pPr>
            <a:r>
              <a:rPr lang="en-US" sz="1250" b="1" dirty="0">
                <a:solidFill>
                  <a:srgbClr val="1E7A4B"/>
                </a:solidFill>
                <a:latin typeface="Arial" pitchFamily="34" charset="0"/>
                <a:ea typeface="Arial" pitchFamily="34" charset="-122"/>
                <a:cs typeface="Arial" pitchFamily="34" charset="-120"/>
              </a:rPr>
              <a:t>Hướng phát triển</a:t>
            </a:r>
            <a:endParaRPr lang="en-US" sz="1250" dirty="0"/>
          </a:p>
        </p:txBody>
      </p:sp>
      <p:sp>
        <p:nvSpPr>
          <p:cNvPr id="26" name="Text 23"/>
          <p:cNvSpPr txBox="1"/>
          <p:nvPr/>
        </p:nvSpPr>
        <p:spPr>
          <a:xfrm>
            <a:off x="4873752" y="4992624"/>
            <a:ext cx="3566160" cy="114300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Thu câu hỏi không dấu do người thật gõ.</a:t>
            </a:r>
            <a:endParaRPr lang="en-US" sz="1050" dirty="0"/>
          </a:p>
          <a:p>
            <a:pPr indent="0" marL="0">
              <a:lnSpc>
                <a:spcPts val="1400"/>
              </a:lnSpc>
              <a:buNone/>
            </a:pPr>
            <a:r>
              <a:rPr lang="en-US" sz="1050" dirty="0">
                <a:solidFill>
                  <a:srgbClr val="1A1A1A"/>
                </a:solidFill>
                <a:latin typeface="Arial" pitchFamily="34" charset="0"/>
                <a:ea typeface="Arial" pitchFamily="34" charset="-122"/>
                <a:cs typeface="Arial" pitchFamily="34" charset="-120"/>
              </a:rPr>
              <a:t>Cho mô hình phục hồi dấu học thêm văn nói.</a:t>
            </a:r>
            <a:endParaRPr lang="en-US" sz="1050" dirty="0"/>
          </a:p>
          <a:p>
            <a:pPr indent="0" marL="0">
              <a:lnSpc>
                <a:spcPts val="1400"/>
              </a:lnSpc>
              <a:buNone/>
            </a:pPr>
            <a:r>
              <a:rPr lang="en-US" sz="1050" dirty="0">
                <a:solidFill>
                  <a:srgbClr val="1A1A1A"/>
                </a:solidFill>
                <a:latin typeface="Arial" pitchFamily="34" charset="0"/>
                <a:ea typeface="Arial" pitchFamily="34" charset="-122"/>
                <a:cs typeface="Arial" pitchFamily="34" charset="-120"/>
              </a:rPr>
              <a:t>Cross-encoder xếp hạng lại top-20.</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Phụ lục: vì sao bắt buộc phải chia đoạn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14</a:t>
            </a:r>
            <a:endParaRPr lang="en-US" sz="1100" dirty="0"/>
          </a:p>
        </p:txBody>
      </p:sp>
      <p:pic>
        <p:nvPicPr>
          <p:cNvPr id="9" name="Image 0" descr="img/chunk_need.png">    </p:cNvPr>
          <p:cNvPicPr>
            <a:picLocks noChangeAspect="1"/>
          </p:cNvPicPr>
          <p:nvPr/>
        </p:nvPicPr>
        <p:blipFill>
          <a:blip r:embed="rId1"/>
          <a:stretch>
            <a:fillRect/>
          </a:stretch>
        </p:blipFill>
        <p:spPr>
          <a:xfrm>
            <a:off x="502920" y="960120"/>
            <a:ext cx="8138160" cy="3886200"/>
          </a:xfrm>
          <a:prstGeom prst="rect">
            <a:avLst/>
          </a:prstGeom>
        </p:spPr>
      </p:pic>
      <p:sp>
        <p:nvSpPr>
          <p:cNvPr id="10" name="Shape 6"/>
          <p:cNvSpPr/>
          <p:nvPr/>
        </p:nvSpPr>
        <p:spPr>
          <a:xfrm>
            <a:off x="502920" y="4983480"/>
            <a:ext cx="8138160" cy="1188720"/>
          </a:xfrm>
          <a:prstGeom prst="roundRect">
            <a:avLst>
              <a:gd name="adj" fmla="val 4615"/>
            </a:avLst>
          </a:prstGeom>
          <a:solidFill>
            <a:srgbClr val="FFF8F0"/>
          </a:solidFill>
          <a:ln w="15875">
            <a:solidFill>
              <a:srgbClr val="D68910"/>
            </a:solidFill>
            <a:prstDash val="solid"/>
          </a:ln>
        </p:spPr>
      </p:sp>
      <p:sp>
        <p:nvSpPr>
          <p:cNvPr id="11" name="Text 7"/>
          <p:cNvSpPr txBox="1"/>
          <p:nvPr/>
        </p:nvSpPr>
        <p:spPr>
          <a:xfrm>
            <a:off x="731520" y="5074920"/>
            <a:ext cx="7680960" cy="27432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Cách cắt</a:t>
            </a:r>
            <a:endParaRPr lang="en-US" sz="1250" dirty="0"/>
          </a:p>
        </p:txBody>
      </p:sp>
      <p:sp>
        <p:nvSpPr>
          <p:cNvPr id="12" name="Text 8"/>
          <p:cNvSpPr txBox="1"/>
          <p:nvPr/>
        </p:nvSpPr>
        <p:spPr>
          <a:xfrm>
            <a:off x="731520" y="5358384"/>
            <a:ext cx="7680960" cy="73152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Cắt theo ranh giới khoản trước, chỉ trượt cửa sổ khi một khoản tự nó quá dài. Mỗi đoạn đều mang tiêu đề điều. Kết quả: 61.425 điều thành 154.176 đoạn, trung bình 2,51 đoạn mỗi điều.</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Phụ lục: hợp nhất có thật sự giúp không</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15</a:t>
            </a:r>
            <a:endParaRPr lang="en-US" sz="1100" dirty="0"/>
          </a:p>
        </p:txBody>
      </p:sp>
      <p:pic>
        <p:nvPicPr>
          <p:cNvPr id="9" name="Image 0" descr="img/venn_bm25_dense.png">    </p:cNvPr>
          <p:cNvPicPr>
            <a:picLocks noChangeAspect="1"/>
          </p:cNvPicPr>
          <p:nvPr/>
        </p:nvPicPr>
        <p:blipFill>
          <a:blip r:embed="rId1"/>
          <a:stretch>
            <a:fillRect/>
          </a:stretch>
        </p:blipFill>
        <p:spPr>
          <a:xfrm>
            <a:off x="384048" y="932688"/>
            <a:ext cx="5029200" cy="3310128"/>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577840" y="1097280"/>
          <a:ext cx="3182112" cy="914400"/>
        </p:xfrm>
        <a:graphic>
          <a:graphicData uri="http://schemas.openxmlformats.org/drawingml/2006/table">
            <a:tbl>
              <a:tblPr/>
              <a:tblGrid>
                <a:gridCol w="2084832"/>
                <a:gridCol w="1097280"/>
              </a:tblGrid>
              <a:tr h="365760">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Ô</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Câu hỏi</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365760">
                <a:tc>
                  <a:txBody>
                    <a:bodyPr/>
                    <a:lstStyle/>
                    <a:p>
                      <a:pPr indent="0" marL="0">
                        <a:buNone/>
                      </a:pPr>
                      <a:r>
                        <a:rPr lang="en-US" sz="1150" dirty="0">
                          <a:solidFill>
                            <a:srgbClr val="1A1A1A"/>
                          </a:solidFill>
                          <a:latin typeface="Arial" pitchFamily="34" charset="0"/>
                          <a:ea typeface="Arial" pitchFamily="34" charset="-122"/>
                          <a:cs typeface="Arial" pitchFamily="34" charset="-120"/>
                        </a:rPr>
                        <a:t>Cả hai đúng</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669</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65760">
                <a:tc>
                  <a:txBody>
                    <a:bodyPr/>
                    <a:lstStyle/>
                    <a:p>
                      <a:pPr indent="0" marL="0">
                        <a:buNone/>
                      </a:pPr>
                      <a:r>
                        <a:rPr lang="en-US" sz="1150" b="1" dirty="0">
                          <a:solidFill>
                            <a:srgbClr val="C0392B"/>
                          </a:solidFill>
                          <a:latin typeface="Arial" pitchFamily="34" charset="0"/>
                          <a:ea typeface="Arial" pitchFamily="34" charset="-122"/>
                          <a:cs typeface="Arial" pitchFamily="34" charset="-120"/>
                        </a:rPr>
                        <a:t>Chỉ BM25 đúng</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1A1A"/>
                          </a:solidFill>
                          <a:latin typeface="Arial" pitchFamily="34" charset="0"/>
                          <a:ea typeface="Arial" pitchFamily="34" charset="-122"/>
                          <a:cs typeface="Arial" pitchFamily="34" charset="-120"/>
                        </a:rPr>
                        <a:t>Chỉ ngữ nghĩa đúng</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98</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1A1A"/>
                          </a:solidFill>
                          <a:latin typeface="Arial" pitchFamily="34" charset="0"/>
                          <a:ea typeface="Arial" pitchFamily="34" charset="-122"/>
                          <a:cs typeface="Arial" pitchFamily="34" charset="-120"/>
                        </a:rPr>
                        <a:t>Cả hai sai</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18</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Text 6"/>
          <p:cNvSpPr txBox="1"/>
          <p:nvPr/>
        </p:nvSpPr>
        <p:spPr>
          <a:xfrm>
            <a:off x="5577840" y="3127248"/>
            <a:ext cx="3182112" cy="237744"/>
          </a:xfrm>
          <a:prstGeom prst="rect">
            <a:avLst/>
          </a:prstGeom>
          <a:noFill/>
          <a:ln/>
        </p:spPr>
        <p:txBody>
          <a:bodyPr wrap="square" lIns="0" tIns="0" rIns="0" bIns="0" rtlCol="0" anchor="ctr"/>
          <a:lstStyle/>
          <a:p>
            <a:pPr indent="0" marL="0">
              <a:buNone/>
            </a:pPr>
            <a:r>
              <a:rPr lang="en-US" sz="1000" i="1" dirty="0">
                <a:solidFill>
                  <a:srgbClr val="5A5A5A"/>
                </a:solidFill>
                <a:latin typeface="Arial" pitchFamily="34" charset="0"/>
                <a:ea typeface="Arial" pitchFamily="34" charset="-122"/>
                <a:cs typeface="Arial" pitchFamily="34" charset="-120"/>
              </a:rPr>
              <a:t>Tỷ lệ câu hỏi có ít nhất một điều gold trong top-10</a:t>
            </a:r>
            <a:endParaRPr lang="en-US" sz="100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5577840" y="3383280"/>
          <a:ext cx="3182112" cy="914400"/>
        </p:xfrm>
        <a:graphic>
          <a:graphicData uri="http://schemas.openxmlformats.org/drawingml/2006/table">
            <a:tbl>
              <a:tblPr/>
              <a:tblGrid>
                <a:gridCol w="2084832"/>
                <a:gridCol w="1097280"/>
              </a:tblGrid>
              <a:tr h="329184">
                <a:tc>
                  <a:txBody>
                    <a:bodyPr/>
                    <a:lstStyle/>
                    <a:p>
                      <a:pPr indent="0" marL="0">
                        <a:buNone/>
                      </a:pPr>
                      <a:r>
                        <a:rPr lang="en-US" sz="1100" dirty="0">
                          <a:solidFill>
                            <a:srgbClr val="1A1A1A"/>
                          </a:solidFill>
                          <a:latin typeface="Arial" pitchFamily="34" charset="0"/>
                          <a:ea typeface="Arial" pitchFamily="34" charset="-122"/>
                          <a:cs typeface="Arial" pitchFamily="34" charset="-120"/>
                        </a:rPr>
                        <a:t>BM25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85,28 %</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A1A1A"/>
                          </a:solidFill>
                          <a:latin typeface="Arial" pitchFamily="34" charset="0"/>
                          <a:ea typeface="Arial" pitchFamily="34" charset="-122"/>
                          <a:cs typeface="Arial" pitchFamily="34" charset="-120"/>
                        </a:rPr>
                        <a:t>Ngữ nghĩa aiteam</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97,34 %</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E7A4B"/>
                          </a:solidFill>
                          <a:latin typeface="Arial" pitchFamily="34" charset="0"/>
                          <a:ea typeface="Arial" pitchFamily="34" charset="-122"/>
                          <a:cs typeface="Arial" pitchFamily="34" charset="-120"/>
                        </a:rPr>
                        <a:t>Hợp nhất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b="1" dirty="0">
                          <a:solidFill>
                            <a:srgbClr val="1E7A4B"/>
                          </a:solidFill>
                          <a:latin typeface="Arial" pitchFamily="34" charset="0"/>
                          <a:ea typeface="Arial" pitchFamily="34" charset="-122"/>
                          <a:cs typeface="Arial" pitchFamily="34" charset="-120"/>
                        </a:rPr>
                        <a:t>97,84 %</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Shape 7"/>
          <p:cNvSpPr/>
          <p:nvPr/>
        </p:nvSpPr>
        <p:spPr>
          <a:xfrm>
            <a:off x="384048" y="4389120"/>
            <a:ext cx="8375904" cy="960120"/>
          </a:xfrm>
          <a:prstGeom prst="roundRect">
            <a:avLst>
              <a:gd name="adj" fmla="val 5714"/>
            </a:avLst>
          </a:prstGeom>
          <a:solidFill>
            <a:srgbClr val="F4F8FC"/>
          </a:solidFill>
          <a:ln w="15875">
            <a:solidFill>
              <a:srgbClr val="2D75B6"/>
            </a:solidFill>
            <a:prstDash val="solid"/>
          </a:ln>
        </p:spPr>
      </p:sp>
      <p:sp>
        <p:nvSpPr>
          <p:cNvPr id="14" name="Text 8"/>
          <p:cNvSpPr txBox="1"/>
          <p:nvPr/>
        </p:nvSpPr>
        <p:spPr>
          <a:xfrm>
            <a:off x="594360" y="4498848"/>
            <a:ext cx="7955280" cy="73152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Hợp nhất hơn ngữ nghĩa thuần 0,50 điểm phần trăm, </a:t>
            </a:r>
            <a:pPr indent="0" marL="0">
              <a:buNone/>
            </a:pPr>
            <a:r>
              <a:rPr lang="en-US" sz="1250" b="1" dirty="0">
                <a:solidFill>
                  <a:srgbClr val="1A1A1A"/>
                </a:solidFill>
                <a:latin typeface="Arial" pitchFamily="34" charset="0"/>
                <a:ea typeface="Arial" pitchFamily="34" charset="-122"/>
                <a:cs typeface="Arial" pitchFamily="34" charset="-120"/>
              </a:rPr>
              <a:t>tức 4 câu hỏi trên 788. </a:t>
            </a:r>
            <a:pPr indent="0" marL="0">
              <a:buNone/>
            </a:pPr>
            <a:r>
              <a:rPr lang="en-US" sz="1250" dirty="0">
                <a:solidFill>
                  <a:srgbClr val="1A1A1A"/>
                </a:solidFill>
                <a:latin typeface="Arial" pitchFamily="34" charset="0"/>
                <a:ea typeface="Arial" pitchFamily="34" charset="-122"/>
                <a:cs typeface="Arial" pitchFamily="34" charset="-120"/>
              </a:rPr>
              <a:t>Riêng BM25 cứu được 3 câu mà ngữ nghĩa bỏ lỡ.</a:t>
            </a:r>
            <a:endParaRPr lang="en-US" sz="1250" dirty="0"/>
          </a:p>
        </p:txBody>
      </p:sp>
      <p:sp>
        <p:nvSpPr>
          <p:cNvPr id="15" name="Shape 9"/>
          <p:cNvSpPr/>
          <p:nvPr/>
        </p:nvSpPr>
        <p:spPr>
          <a:xfrm>
            <a:off x="384048" y="5468112"/>
            <a:ext cx="8375904" cy="749808"/>
          </a:xfrm>
          <a:prstGeom prst="roundRect">
            <a:avLst>
              <a:gd name="adj" fmla="val 7317"/>
            </a:avLst>
          </a:prstGeom>
          <a:solidFill>
            <a:srgbClr val="FDEDEC"/>
          </a:solidFill>
          <a:ln w="15875">
            <a:solidFill>
              <a:srgbClr val="C0392B"/>
            </a:solidFill>
            <a:prstDash val="solid"/>
          </a:ln>
        </p:spPr>
      </p:sp>
      <p:sp>
        <p:nvSpPr>
          <p:cNvPr id="16" name="Text 10"/>
          <p:cNvSpPr txBox="1"/>
          <p:nvPr/>
        </p:nvSpPr>
        <p:spPr>
          <a:xfrm>
            <a:off x="594360" y="5541264"/>
            <a:ext cx="7955280" cy="603504"/>
          </a:xfrm>
          <a:prstGeom prst="rect">
            <a:avLst/>
          </a:prstGeom>
          <a:noFill/>
          <a:ln/>
        </p:spPr>
        <p:txBody>
          <a:bodyPr wrap="square" lIns="0" tIns="0" rIns="0" bIns="0" rtlCol="0" anchor="ctr"/>
          <a:lstStyle/>
          <a:p>
            <a:pPr indent="0" marL="0">
              <a:buNone/>
            </a:pPr>
            <a:r>
              <a:rPr lang="en-US" sz="1200" b="1" dirty="0">
                <a:solidFill>
                  <a:srgbClr val="C0392B"/>
                </a:solidFill>
                <a:latin typeface="Arial" pitchFamily="34" charset="0"/>
                <a:ea typeface="Arial" pitchFamily="34" charset="-122"/>
                <a:cs typeface="Arial" pitchFamily="34" charset="-120"/>
              </a:rPr>
              <a:t>Kết luận trung thực: có cải thiện nhưng rất nhỏ. Mỗi cấu hình chỉ chạy một seed nên nhóm không có cơ sở nói về biên độ nhiễu, và không gọi 0,50 điểm là đáng kể.</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Phụ lục: hệ sai ở đâu trên câu có dấu</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16</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987552"/>
          <a:ext cx="8138160" cy="914400"/>
        </p:xfrm>
        <a:graphic>
          <a:graphicData uri="http://schemas.openxmlformats.org/drawingml/2006/table">
            <a:tbl>
              <a:tblPr/>
              <a:tblGrid>
                <a:gridCol w="4846320"/>
                <a:gridCol w="1645920"/>
                <a:gridCol w="1645920"/>
              </a:tblGrid>
              <a:tr h="420624">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Nguyên nhân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Số ca</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Tỷ lệ</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420624">
                <a:tc>
                  <a:txBody>
                    <a:bodyPr/>
                    <a:lstStyle/>
                    <a:p>
                      <a:pPr indent="0" marL="0">
                        <a:buNone/>
                      </a:pPr>
                      <a:r>
                        <a:rPr lang="en-US" sz="1150" dirty="0">
                          <a:solidFill>
                            <a:srgbClr val="1A1A1A"/>
                          </a:solidFill>
                          <a:latin typeface="Arial" pitchFamily="34" charset="0"/>
                          <a:ea typeface="Arial" pitchFamily="34" charset="-122"/>
                          <a:cs typeface="Arial" pitchFamily="34" charset="-120"/>
                        </a:rPr>
                        <a:t>Thiếu ngữ cảnh pháp lý</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10</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58,8 %</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1A1A1A"/>
                          </a:solidFill>
                          <a:latin typeface="Arial" pitchFamily="34" charset="0"/>
                          <a:ea typeface="Arial" pitchFamily="34" charset="-122"/>
                          <a:cs typeface="Arial" pitchFamily="34" charset="-120"/>
                        </a:rPr>
                        <a:t>Nhiều điều cùng đúng, nhãn ghi một</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5</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29,4 %</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r>
              <a:tr h="420624">
                <a:tc>
                  <a:txBody>
                    <a:bodyPr/>
                    <a:lstStyle/>
                    <a:p>
                      <a:pPr indent="0" marL="0">
                        <a:buNone/>
                      </a:pPr>
                      <a:r>
                        <a:rPr lang="en-US" sz="1150" dirty="0">
                          <a:solidFill>
                            <a:srgbClr val="1A1A1A"/>
                          </a:solidFill>
                          <a:latin typeface="Arial" pitchFamily="34" charset="0"/>
                          <a:ea typeface="Arial" pitchFamily="34" charset="-122"/>
                          <a:cs typeface="Arial" pitchFamily="34" charset="-120"/>
                        </a:rPr>
                        <a:t>Nhãn gold đáng ngờ</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11,8 %</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6"/>
          <p:cNvSpPr/>
          <p:nvPr/>
        </p:nvSpPr>
        <p:spPr>
          <a:xfrm>
            <a:off x="502920" y="2788920"/>
            <a:ext cx="8138160" cy="1572768"/>
          </a:xfrm>
          <a:prstGeom prst="roundRect">
            <a:avLst>
              <a:gd name="adj" fmla="val 3488"/>
            </a:avLst>
          </a:prstGeom>
          <a:solidFill>
            <a:srgbClr val="FFF8F0"/>
          </a:solidFill>
          <a:ln w="15875">
            <a:solidFill>
              <a:srgbClr val="D68910"/>
            </a:solidFill>
            <a:prstDash val="solid"/>
          </a:ln>
        </p:spPr>
      </p:sp>
      <p:sp>
        <p:nvSpPr>
          <p:cNvPr id="11" name="Text 7"/>
          <p:cNvSpPr txBox="1"/>
          <p:nvPr/>
        </p:nvSpPr>
        <p:spPr>
          <a:xfrm>
            <a:off x="731520" y="2889504"/>
            <a:ext cx="7680960" cy="27432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Ví dụ nhóm lớn nhất: thiếu ngữ cảnh pháp lý</a:t>
            </a:r>
            <a:endParaRPr lang="en-US" sz="1250" dirty="0"/>
          </a:p>
        </p:txBody>
      </p:sp>
      <p:sp>
        <p:nvSpPr>
          <p:cNvPr id="12" name="Text 8"/>
          <p:cNvSpPr txBox="1"/>
          <p:nvPr/>
        </p:nvSpPr>
        <p:spPr>
          <a:xfrm>
            <a:off x="731520" y="3182112"/>
            <a:ext cx="7680960" cy="1097280"/>
          </a:xfrm>
          <a:prstGeom prst="rect">
            <a:avLst/>
          </a:prstGeom>
          <a:noFill/>
          <a:ln/>
        </p:spPr>
        <p:txBody>
          <a:bodyPr wrap="square" lIns="0" tIns="0" rIns="0" bIns="0" rtlCol="0" anchor="t"/>
          <a:lstStyle/>
          <a:p>
            <a:pPr indent="0" marL="0">
              <a:lnSpc>
                <a:spcPts val="1700"/>
              </a:lnSpc>
              <a:buNone/>
            </a:pPr>
            <a:r>
              <a:rPr lang="en-US" sz="1150" b="1" dirty="0">
                <a:solidFill>
                  <a:srgbClr val="1A1A1A"/>
                </a:solidFill>
                <a:latin typeface="Arial" pitchFamily="34" charset="0"/>
                <a:ea typeface="Arial" pitchFamily="34" charset="-122"/>
                <a:cs typeface="Arial" pitchFamily="34" charset="-120"/>
              </a:rPr>
              <a:t>Hỏi:  </a:t>
            </a:r>
            <a:pPr indent="0" marL="0">
              <a:lnSpc>
                <a:spcPts val="1700"/>
              </a:lnSpc>
              <a:buNone/>
            </a:pPr>
            <a:r>
              <a:rPr lang="en-US" sz="1150" dirty="0">
                <a:solidFill>
                  <a:srgbClr val="1A1A1A"/>
                </a:solidFill>
                <a:latin typeface="Arial" pitchFamily="34" charset="0"/>
                <a:ea typeface="Arial" pitchFamily="34" charset="-122"/>
                <a:cs typeface="Arial" pitchFamily="34" charset="-120"/>
              </a:rPr>
              <a:t>Nướng bắp, ngô trên cầu phạt bao nhiêu tiền?</a:t>
            </a:r>
            <a:endParaRPr lang="en-US" sz="1150" dirty="0"/>
          </a:p>
          <a:p>
            <a:pPr indent="0" marL="0">
              <a:lnSpc>
                <a:spcPts val="1700"/>
              </a:lnSpc>
              <a:buNone/>
            </a:pPr>
            <a:r>
              <a:rPr lang="en-US" sz="1150" b="1" dirty="0">
                <a:solidFill>
                  <a:srgbClr val="1A1A1A"/>
                </a:solidFill>
                <a:latin typeface="Arial" pitchFamily="34" charset="0"/>
                <a:ea typeface="Arial" pitchFamily="34" charset="-122"/>
                <a:cs typeface="Arial" pitchFamily="34" charset="-120"/>
              </a:rPr>
              <a:t>Điều đúng:  </a:t>
            </a:r>
            <a:pPr indent="0" marL="0">
              <a:lnSpc>
                <a:spcPts val="1700"/>
              </a:lnSpc>
              <a:buNone/>
            </a:pPr>
            <a:r>
              <a:rPr lang="en-US" sz="1150" dirty="0">
                <a:solidFill>
                  <a:srgbClr val="1A1A1A"/>
                </a:solidFill>
                <a:latin typeface="Arial" pitchFamily="34" charset="0"/>
                <a:ea typeface="Arial" pitchFamily="34" charset="-122"/>
                <a:cs typeface="Arial" pitchFamily="34" charset="-120"/>
              </a:rPr>
              <a:t>Xử phạt vi phạm quy định về quản lý, khai thác, bảo trì công trình đường bộ</a:t>
            </a:r>
            <a:endParaRPr lang="en-US" sz="1150" dirty="0"/>
          </a:p>
          <a:p>
            <a:pPr indent="0" marL="0">
              <a:lnSpc>
                <a:spcPts val="1700"/>
              </a:lnSpc>
              <a:buNone/>
            </a:pPr>
            <a:r>
              <a:rPr lang="en-US" sz="1150" i="1" dirty="0">
                <a:solidFill>
                  <a:srgbClr val="1A1A1A"/>
                </a:solidFill>
                <a:latin typeface="Arial" pitchFamily="34" charset="0"/>
                <a:ea typeface="Arial" pitchFamily="34" charset="-122"/>
                <a:cs typeface="Arial" pitchFamily="34" charset="-120"/>
              </a:rPr>
              <a:t>Phải biết luật gọi hành vi đó là gì mới tìm ra. Không tầng nào bắc được cầu này.</a:t>
            </a:r>
            <a:endParaRPr lang="en-US" sz="1150" dirty="0"/>
          </a:p>
        </p:txBody>
      </p:sp>
      <p:sp>
        <p:nvSpPr>
          <p:cNvPr id="13" name="Shape 9"/>
          <p:cNvSpPr/>
          <p:nvPr/>
        </p:nvSpPr>
        <p:spPr>
          <a:xfrm>
            <a:off x="502920" y="4526280"/>
            <a:ext cx="8138160" cy="1645920"/>
          </a:xfrm>
          <a:prstGeom prst="roundRect">
            <a:avLst>
              <a:gd name="adj" fmla="val 3333"/>
            </a:avLst>
          </a:prstGeom>
          <a:solidFill>
            <a:srgbClr val="FDEDEC"/>
          </a:solidFill>
          <a:ln w="15875">
            <a:solidFill>
              <a:srgbClr val="C0392B"/>
            </a:solidFill>
            <a:prstDash val="solid"/>
          </a:ln>
        </p:spPr>
      </p:sp>
      <p:sp>
        <p:nvSpPr>
          <p:cNvPr id="14" name="Text 10"/>
          <p:cNvSpPr txBox="1"/>
          <p:nvPr/>
        </p:nvSpPr>
        <p:spPr>
          <a:xfrm>
            <a:off x="731520" y="4626864"/>
            <a:ext cx="7680960" cy="27432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Ví dụ nhóm nhãn gold đáng ngờ</a:t>
            </a:r>
            <a:endParaRPr lang="en-US" sz="1250" dirty="0"/>
          </a:p>
        </p:txBody>
      </p:sp>
      <p:sp>
        <p:nvSpPr>
          <p:cNvPr id="15" name="Text 11"/>
          <p:cNvSpPr txBox="1"/>
          <p:nvPr/>
        </p:nvSpPr>
        <p:spPr>
          <a:xfrm>
            <a:off x="731520" y="4919472"/>
            <a:ext cx="7680960" cy="1188720"/>
          </a:xfrm>
          <a:prstGeom prst="rect">
            <a:avLst/>
          </a:prstGeom>
          <a:noFill/>
          <a:ln/>
        </p:spPr>
        <p:txBody>
          <a:bodyPr wrap="square" lIns="0" tIns="0" rIns="0" bIns="0" rtlCol="0" anchor="t"/>
          <a:lstStyle/>
          <a:p>
            <a:pPr indent="0" marL="0">
              <a:lnSpc>
                <a:spcPts val="1700"/>
              </a:lnSpc>
              <a:buNone/>
            </a:pPr>
            <a:r>
              <a:rPr lang="en-US" sz="1150" b="1" dirty="0">
                <a:solidFill>
                  <a:srgbClr val="1A1A1A"/>
                </a:solidFill>
                <a:latin typeface="Arial" pitchFamily="34" charset="0"/>
                <a:ea typeface="Arial" pitchFamily="34" charset="-122"/>
                <a:cs typeface="Arial" pitchFamily="34" charset="-120"/>
              </a:rPr>
              <a:t>Hỏi:  </a:t>
            </a:r>
            <a:pPr indent="0" marL="0">
              <a:lnSpc>
                <a:spcPts val="1700"/>
              </a:lnSpc>
              <a:buNone/>
            </a:pPr>
            <a:r>
              <a:rPr lang="en-US" sz="1150" dirty="0">
                <a:solidFill>
                  <a:srgbClr val="1A1A1A"/>
                </a:solidFill>
                <a:latin typeface="Arial" pitchFamily="34" charset="0"/>
                <a:ea typeface="Arial" pitchFamily="34" charset="-122"/>
                <a:cs typeface="Arial" pitchFamily="34" charset="-120"/>
              </a:rPr>
              <a:t>Người chấp hành biện pháp bắt buộc chữa bệnh sẽ chữa bệnh ở đâu?</a:t>
            </a:r>
            <a:endParaRPr lang="en-US" sz="1150" dirty="0"/>
          </a:p>
          <a:p>
            <a:pPr indent="0" marL="0">
              <a:lnSpc>
                <a:spcPts val="1700"/>
              </a:lnSpc>
              <a:buNone/>
            </a:pPr>
            <a:r>
              <a:rPr lang="en-US" sz="1150" b="1" dirty="0">
                <a:solidFill>
                  <a:srgbClr val="1A1A1A"/>
                </a:solidFill>
                <a:latin typeface="Arial" pitchFamily="34" charset="0"/>
                <a:ea typeface="Arial" pitchFamily="34" charset="-122"/>
                <a:cs typeface="Arial" pitchFamily="34" charset="-120"/>
              </a:rPr>
              <a:t>Hệ trả về:  </a:t>
            </a:r>
            <a:pPr indent="0" marL="0">
              <a:lnSpc>
                <a:spcPts val="1700"/>
              </a:lnSpc>
              <a:buNone/>
            </a:pPr>
            <a:r>
              <a:rPr lang="en-US" sz="1150" dirty="0">
                <a:solidFill>
                  <a:srgbClr val="1E7A4B"/>
                </a:solidFill>
                <a:latin typeface="Arial" pitchFamily="34" charset="0"/>
                <a:ea typeface="Arial" pitchFamily="34" charset="-122"/>
                <a:cs typeface="Arial" pitchFamily="34" charset="-120"/>
              </a:rPr>
              <a:t>Điều 138. Tổ chức điều trị cho người bị bắt buộc chữa bệnh</a:t>
            </a:r>
            <a:endParaRPr lang="en-US" sz="1150" dirty="0"/>
          </a:p>
          <a:p>
            <a:pPr indent="0" marL="0">
              <a:lnSpc>
                <a:spcPts val="1700"/>
              </a:lnSpc>
              <a:buNone/>
            </a:pPr>
            <a:r>
              <a:rPr lang="en-US" sz="1150" b="1" dirty="0">
                <a:solidFill>
                  <a:srgbClr val="1A1A1A"/>
                </a:solidFill>
                <a:latin typeface="Arial" pitchFamily="34" charset="0"/>
                <a:ea typeface="Arial" pitchFamily="34" charset="-122"/>
                <a:cs typeface="Arial" pitchFamily="34" charset="-120"/>
              </a:rPr>
              <a:t>Nhãn ghi:  </a:t>
            </a:r>
            <a:pPr indent="0" marL="0">
              <a:lnSpc>
                <a:spcPts val="1700"/>
              </a:lnSpc>
              <a:buNone/>
            </a:pPr>
            <a:r>
              <a:rPr lang="en-US" sz="1150" dirty="0">
                <a:solidFill>
                  <a:srgbClr val="C0392B"/>
                </a:solidFill>
                <a:latin typeface="Arial" pitchFamily="34" charset="0"/>
                <a:ea typeface="Arial" pitchFamily="34" charset="-122"/>
                <a:cs typeface="Arial" pitchFamily="34" charset="-120"/>
              </a:rPr>
              <a:t>Điều 133. Cơ quan được giao nhiệm vụ thi hành biện pháp tư pháp</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Tài liệu tham khảo</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17</a:t>
            </a:r>
            <a:endParaRPr lang="en-US" sz="1100" dirty="0"/>
          </a:p>
        </p:txBody>
      </p:sp>
      <p:sp>
        <p:nvSpPr>
          <p:cNvPr id="9" name="Text 6"/>
          <p:cNvSpPr txBox="1"/>
          <p:nvPr/>
        </p:nvSpPr>
        <p:spPr>
          <a:xfrm>
            <a:off x="384048" y="932688"/>
            <a:ext cx="4114800" cy="5394960"/>
          </a:xfrm>
          <a:prstGeom prst="rect">
            <a:avLst/>
          </a:prstGeom>
          <a:noFill/>
          <a:ln/>
        </p:spPr>
        <p:txBody>
          <a:bodyPr wrap="square" lIns="0" tIns="0" rIns="0" bIns="0" rtlCol="0" anchor="t"/>
          <a:lstStyle/>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 Robertson, S., &amp; Zaragoza, H. (2009). The Probabilistic Relevance Framework: BM25 and Beyond. Foundations and Trends in Information Retrieval, 3(4).</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 Cormack, G. V., Clarke, C. L. A., &amp; Büttcher, S. (2009). Reciprocal Rank Fusion Outperforms Condorcet and Individual Rank Learning Methods. SIGIR 2009.</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[3] Karpukhin, V., et al. (2020). Dense Passage Retrieval for Open-Domain Question Answering. EMNLP 2020.</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[4] Nguyen, D. Q., &amp; Nguyen, A. T. (2020). PhoBERT: Pre-trained Language Models for Vietnamese. Findings of EMNLP 2020.</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[5] Gao, L., Zhang, Y., Han, J., &amp; Callan, J. (2021). Scaling Deep Contrastive Learning Batch Size under Memory Limited Setup. RepL4NLP 2021.</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[6] Chen, J., Xiao, S., Zhang, P., Luo, K., Lian, D., &amp; Liu, Z. (2024). BGE M3-Embedding: Multi-Lingual, Multi-Functionality, Multi-Granularity Text Embeddings Through Self-Knowledge Distillation. arXiv:2402.03216.</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[7] Bruch, S., Gai, S., &amp; Ingber, A. (2023). An Analysis of Fusion Functions for Hybrid Retrieval. ACM Transactions on Information Systems, 42(1).</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[8] Rosa, G. M., Rodrigues, R. C., Lotufo, R., &amp; Nogueira, R. (2021). Yes, BM25 is a Strong Baseline for Legal Case Retrieval. arXiv:2105.05686.</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[9] Pham, N.-M., Nguyen, H.-T., &amp; Do, T.-H. (2022). Multi-stage Information Retrieval for Vietnamese Legal Texts. PKAW 2022. arXiv:2209.14494.</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[10] Nguyen Hoang Gia Khang, Nguyen Minh Nhat, Trung Nguyen Quoc, &amp; Vinh Truong Hoang (2024). Vietnamese Legal Text Retrieval based on Sparse and Dense Retrieval approaches. Procedia Computer Science.</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[11] Nguyen Ba, T., Doan The, V., Pham Quang, T., &amp; Tran Van, T. (2024). Vietnamese Legal Information Retrieval in Question-Answering System. arXiv:2409.13699.</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[12] Pham Tien, S., Nguyen Doan, H., Nguyen Dai, A., &amp; Dinh Viet, S. (2024). Improving Vietnamese Legal Document Retrieval using Synthetic Data. arXiv:2412.00657.</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[13] Le, V.-H., Nguyen, D.-V., Nguyen, K. V., &amp; Nguyen, N. L.-T. (2025). Optimizing Legal Document Retrieval in Vietnamese with Semi-Hard Negative Mining. ICCCI 2025. arXiv:2507.14619.</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[14] Giang, N. T., Duc, T. M., Dang, N. M., &amp; Trang, N. T. M. (2026). Optimizing Retrieval Strategies for Vietnamese Legal RAG Systems. CIT&amp;DS 2025, CCIS vol. 2803, Springer.</a:t>
            </a:r>
            <a:endParaRPr lang="en-US" sz="850" dirty="0"/>
          </a:p>
        </p:txBody>
      </p:sp>
      <p:sp>
        <p:nvSpPr>
          <p:cNvPr id="10" name="Text 7"/>
          <p:cNvSpPr txBox="1"/>
          <p:nvPr/>
        </p:nvSpPr>
        <p:spPr>
          <a:xfrm>
            <a:off x="4608576" y="932688"/>
            <a:ext cx="4114800" cy="5394960"/>
          </a:xfrm>
          <a:prstGeom prst="rect">
            <a:avLst/>
          </a:prstGeom>
          <a:noFill/>
          <a:ln/>
        </p:spPr>
        <p:txBody>
          <a:bodyPr wrap="square" lIns="0" tIns="0" rIns="0" bIns="0" rtlCol="0" anchor="t"/>
          <a:lstStyle/>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[15] Tran, D. X., Truong, T. D., &amp; Nguyen, K. C. (2025). ViDRILL: A Multi-Stage Retrieval Framework for Vietnamese Legal Document Search. VLSP 2025, tr. 120-126.</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[16] Nguyen, C., et al. (2023). A Summary of the ALQAC 2023 Competition. KSE 2023.</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[17] Nguyen, L. S. T., &amp; Quan, T. T. (2026). Which Works Best for Vietnamese? A Practical Study of Information Retrieval Methods across Domains. Findings of EACL 2026.</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[18] Enevoldsen, K., et al. (2025). MMTEB: Massive Multilingual Text Embedding Benchmark. ICLR 2025.</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[19] Chung, I., Kerboua, I., Kardos, M., Solomatin, R., &amp; Enevoldsen, K. (2025). Maintaining MTEB: Towards Long Term Usability and Reproducibility of Embedding Benchmarks. arXiv:2506.21182.</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[20] CuongNN218. zalo_ltr_2021: Source code for Zalo AI 2021 submission. https://github.com/CuongNN218/zalo_ltr_2021</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[21] hieudx149. ZaloAI2021_LTR. https://github.com/hieudx149/ZaloAI2021_LTR</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[22] BKAI Foundation Models. vietnamese-bi-encoder (model card). https://huggingface.co/bkai-foundation-models/vietnamese-bi-encoder</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[23] darklethelong. vnlegal-lal (model card). https://huggingface.co/darklethelong/vnlegal-lal</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[24] AITeamVN. Vietnamese_Embedding (model card). https://huggingface.co/AITeamVN/Vietnamese_Embedding</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[25] Pham, T.-H., Pham, X.-K., &amp; Le-Hong, P. (2017). On the Use of Machine Translation-Based Approaches for Vietnamese Diacritic Restoration. IALP 2017. arXiv:1709.07104.</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[26] Le-Hong, P. (2021). Diacritics Generation and Application in Hate Speech Detection on Vietnamese Social Networks. Knowledge-Based Systems, 233.</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[27] GreenNode. zalo-ai-legal-text-retrieval-vn (dataset card). https://huggingface.co/datasets/GreenNode/zalo-ai-legal-text-retrieval-vn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Truy hoi dieu luat tieng Viet cho cau hoi go khong dau</dc:title>
  <dc:subject>PptxGenJS Presentation</dc:subject>
  <dc:creator>Nhom 09</dc:creator>
  <cp:lastModifiedBy>Nhom 09</cp:lastModifiedBy>
  <cp:revision>1</cp:revision>
  <dcterms:created xsi:type="dcterms:W3CDTF">2026-09-15T13:09:18Z</dcterms:created>
  <dcterms:modified xsi:type="dcterms:W3CDTF">2026-09-15T13:09:18Z</dcterms:modified>
</cp:coreProperties>
</file>
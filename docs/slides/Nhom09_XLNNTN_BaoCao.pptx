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Nói chậm, nhìn thầy. Khoảng 20 giây.
"Em xin chào thầy và các bạn. Nhóm 09 báo cáo đề tài Tìm kiếm điều luật cho câu hỏi pháp luật tiếng Việt, kết hợp tìm theo từ khóa và tìm theo ngữ nghĩa."
Đừng đọc lại tên từng thành viên, thầy đã có danh sách. Chuyển slide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lướt 5 mục, KHÔNG giải thích gì ở đây. Khoảng 20 giây.
"Bài báo cáo gồm 5 phần. Em xin nhấn mạnh trước phần 2, kiểm toán dữ liệu, vì đó là nơi nhóm phát hiện ba vấn đề mà bộ dữ liệu đã công bố vẫn còn."
Câu đó tạo tò mò, kéo sự chú ý tới slide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40 giây.
"Đầu vào là một câu hỏi pháp luật viết bằng tiếng Việt tự nhiên. Đầu ra là danh sách điều luật xếp hạng, kèm điểm và những từ đã khớp. Kho tra cứu có 61.425 điều luật thuộc 3.271 văn bản."
Chỉ vào ví dụ: "Người dân gõ 'nướng bắp trên cầu phạt bao nhiêu tiền'. Điều luật đúng lại viết là 'sử dụng trái phép đất của đường bộ'. Không một từ nào trùng nhau. Đó chính là chỗ khó."
NẾU THẦY HỎI "sao không sinh luôn câu trả lời": đề tài là truy hồi. Trả về sai điều luật kèm một câu trả lời trôi chảy còn nguy hiểm hơn trả về sai điều luật.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Đọc nhanh bảng bên trái, dừng lại ở bảng bên phải.
"Bộ dữ liệu Zalo AI Challenge 2021, bản đã đưa về định dạng BEIR trên HuggingFace, giấy phép MIT. 61.425 điều luật, 3.271 văn bản."
Chỉ vào ô đỏ: "Chỗ này đáng chú ý. Tệp câu hỏi có 3.298 dòng nhưng chỉ 3.196 mã duy nhất. 93 mã bị lặp dòng. May là không mã nào mang hai nội dung khác nhau nên khử trùng an toàn."
NẾU THẦY HỎI "sao không dùng bộ lớn hơn": đây là benchmark phổ biến nhất cho bài toán này ở Việt Nam, nên so được với công bố ngoài.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50 giây. Đây là slide quan trọng, nói chậm.
"Bộ dữ liệu này đã công bố, đã được đưa vào MTEB. Nhóm vẫn kiểm toán lại từ đầu, và tìm ra sáu vấn đề. Mỗi vấn đề để lại một tệp bằng chứng trong reports/audit."
Chỉ vào cột đỏ: "26 câu hỏi nằm ở cả train lẫn test. Đây là rò rỉ, slide sau em nói kỹ."
Chỉ vào cột trùng điều luật: "1.467 điều trùng nguyên văn. Trong đó 780 điều đến từ đúng bốn văn bản bị tách đôi chỉ vì dấu tiếng Việt: 155/2020/nd-cp và 155/2020/nđ-cp là cùng một Nghị định."
NẾU THẦY HỎI "sao không xóa điều trùng đi": kho luật thật thì có điều trùng thật, xóa đi làm bài toán dễ đi một cách giả tạo.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50 giây. Slide này là điểm nhấn của phần kiểm toán.
"24 câu hỏi nằm ở cả train lẫn test. Nhưng chúng không phải dòng lặp. Với CẢ 24 TRÊN 24 CÂU, tệp train chỉ sang một điều luật, tệp test chỉ sang một điều luật khác hẳn."
Đọc dòng đầu của bảng: "Cùng câu hỏi về thương tật 25%, train bảo đáp án là Bộ luật Hình sự sửa đổi, test bảo là Bộ luật Tố tụng Hình sự. Cả hai đều là điều luật có thật và đều liên quan."
Chốt: "Nghĩa là bộ nhãn KHÔNG ĐẦY ĐỦ. Mọi con số Recall trong báo cáo này đều là cận dưới. Hệ có thể trả về một điều luật đúng mà vẫn bị chấm sai, chỉ vì người gán nhãn không liệt kê điều đó."
Thú nhận luôn nếu thầy hỏi kỹ: bản dựng đầu tiên của script đã gộp nhầm cả hai vào test, làm test phình từ 793 lên 818 cặp. Lỗi bị bắt khi đối chiếu lại số dòng với tệp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55 giây. Đây là phát hiện lớn nhất của cả đồ án, nói kỹ.
Phần trên: "Sau khi loại 26 câu hỏi rò rỉ, nhóm chia lại: train 1925, val 481, test 788 câu hỏi. Test giữ nguyên vẹn của ban tổ chức."
Phần dưới, nói chậm: "Nhưng chống rò rỉ không dừng ở chia lại tập. Nhóm đọc model card của bkai, mô hình bi-encoder tiếng Việt phổ biến nhất. Nó ghi rõ: được huấn luyện trên 80% tập train của Zalo 2021. Mà tập test của nhóm lại cắt ra từ đúng tập train đó."
"Nghĩa là mô hình đã nhìn thấy phần lớn câu hỏi test kèm nhãn đúng. Gọi nó là zero-shot là sai."
"Nhóm vì thế chuyển sang AITeamVN, mô hình ghi rõ trong model card rằng không huấn luyện trên bộ này, làm mô hình sạch cho con số chính thức."
NẾU THẦY HỎI "sao tin model card": không kiểm chứng trực tiếp được, nên nhóm ghi rõ đây là tuyên bố của tác giả mô hình, không phải kết quả nhóm tự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"Câu hỏi đi vào hai nhánh song song. Nhánh trên là BM25 trên 61.425 điều luật đã tách từ. Nhánh dưới là bi-encoder trên 154.176 đoạn, rồi gộp về điều bằng cách lấy điểm cao nhất. Hai nhánh cùng trả top-100, tầng thứ ba hợp nhất lại."
Nhấn vào chỗ tách từ: "Tách từ rất quan trọng với tiếng Việt. Bằng lái xe là một khái niệm. Tách theo khoảng trắng thì chữ bằng khớp nhầm với bằng chứng."
Nhấn vào chỗ gộp max: "Lấy điểm cao nhất chứ không lấy trung bình, vì câu trả lời thường nằm gọn trong một khoản. Lấy trung bình thì các khoản không liên quan kéo điểm xuống. Nhóm đo cả hai cách trên val: max 0,9563 còn mean 0,9127."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35 giây.
"PhoBERT chỉ nhận 256 token, tương đương khoảng 140 từ tiếng Việt. Đường đứt đỏ là cái trần đó. 61,1 phần trăm điều luật nằm bên phải đường này."
"Cắt cụt là vứt phần đuôi của phần lớn số điều. Mà đuôi điều luật thường là chỗ ghi mức phạt và các trường hợp ngoại lệ, đúng thứ người dân hay hỏi."
"Nhóm cắt theo ranh giới khoản trước, chỉ khi một khoản tự nó quá dài mới cắt bằng cửa sổ trượt. Kết quả 61.425 điều thành 154.176 đoạn, trung bình 2,51 đoạn mỗi điều."
NẾU THẦY HỎI "sao không dùng mô hình ngữ cảnh dài": có, AITeamVN nhận tới 8192 token. Nhưng nhóm cho cả hai bộ mã hóa ăn cùng một bộ đoạn để biến duy nhất là bộ mã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60 giây. Slide số liệu chính, nói chậm và chỉ tay.
"788 câu hỏi, chấm đúng một lần, dùng tham số đã chốt trên val."
Chỉ vào ba dòng trên: "Ba dòng đầu là các hệ SẠCH. BM25 một mình được Recall@10 0,8522. Ngữ nghĩa một mình 0,9721. Hợp nhất có trọng số 0,9772."
Chỉ vào hai dòng gạch chéo: "Hai dòng dưới trông đẹp hơn, nhưng chúng dùng mô hình đã thấy dữ liệu test khi huấn luyện. Không so được với ba dòng trên. Nhóm vẫn để đây để thấy một con số benchmark bị thổi lên dễ thế nào."
Chỉ vào cột độ trễ: "BM25 nhanh hơn khoảng 700 lần. Đây là lý do thực dụng để giữ nó lại, ngoài chuyện điểm số."
NẾU THẦY HỎI "F2 sao thấp": F2 ở đây cố định k = 10 nên precision tối đa chỉ 0,1. Ban tổ chức Zalo cho phép trả về số kết quả thay đổi được nên con số của họ không so trực tiếp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60 giây. Đây là câu trả lời cho câu hỏi trung tâm của đề tài. Trả lời thẳng, đừng vòng vo.
"Bảng bốn ô, tính ở top-10, với mô hình sạch. 669 câu cả hai tầng đều đúng. 98 câu chỉ ngữ nghĩa đúng. Nhưng chỉ 3 câu trên 788 là chỉ BM25 đúng."
Nói chậm câu này: "Nghĩa là BM25 chỉ cứu được 3 câu hỏi mà tầng ngữ nghĩa bỏ lỡ, tức 0,38 điểm phần trăm."
Chỉ vào bảng phải: "Ngữ nghĩa một mình đúng 97,34 phần trăm số câu. Hợp nhất được 97,84 phần trăm. Chênh nhau 0,50 điểm phần trăm, tức 4 câu hỏi trên 788."
NẾU THẦY HỎI về dòng cuối bảng: "Đó là trần khi phép hợp chỉ lấy top-10 của mỗi tầng. Hệ thật hợp nhất từ top-100, nên nó kéo được cả điều luật đứng hạng 11 tới 100 lên, và vượt dòng đó 0,12 điểm."
Kết luận trung thực: "Có cải thiện nhưng rất nhỏ. Mỗi cấu hình chỉ chạy một seed nên nhóm không có cơ sở nói về biên độ nhiễu, và không dám gọi 0,50 điểm là đáng kể."
Nhấn thêm: "RRF còn KÉM HƠN ngữ nghĩa một mình, Recall@1 tụt từ 0,7811 xuống 0,6701. Vì RRF chỉ nhìn thứ hạng nên nó để BM25 kéo tụt những xếp hạng vốn đã tốt."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45 giây.
"Hệ sạch tốt nhất sai 17 trên 788 câu hỏi. Nhóm đọc tay cả 17 ca, không đoán."
Chỉ vào nhóm lớn nhất: "10 ca là thiếu ngữ cảnh pháp lý. Ví dụ câu nướng bắp trên cầu ở slide 3: phải biết luật gọi hành vi đó là sử dụng trái phép đất của đường bộ mới tìm ra."
Chỉ vào nhóm cuối: "Và có 2 ca mà nhóm cho rằng nhãn gold đáng ngờ. Ví dụ câu hỏi người bắt buộc chữa bệnh sẽ chữa ở đâu: hệ trả về đúng điều Tổ chức điều trị cho người bị bắt buộc chữa bệnh, còn nhãn lại ghi điều khác."
Nói thẳng: "Nhóm không giấu chỗ này. Nó củng cố nhận định ở slide 6 rằng bộ nhãn không đầy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50 giây. Nói chậm, đây là ấn tượng cuối cùng.
"Ba điều nhóm rút ra."
"Một, hệ lai đạt Recall@10 0,9772 trên tập test. Nhưng so với ngữ nghĩa một mình thì chỉ hơn 0,50 điểm phần trăm, và riêng BM25 chỉ cứu được 3 câu hỏi trên 788. Có cải thiện nhưng rất nhỏ. Đó là kết quả thật, không phải kết quả nhóm mong muốn."
"Hai, BM25 vẫn đáng giữ, nhưng vì hai lý do khác: nó nhanh hơn khoảng 700 lần, và nó giải thích được vì sao một điều luật được trả về."
"Ba, và đây là bài học lớn nhất: chống rò rỉ dữ liệu không dừng ở việc chia lại tập. Mô hình tiền huấn luyện mà mình đem dùng cũng có thể đã thấy tập test rồi."
Hướng phát triển, nói nhanh: "Cross-encoder xếp hạng lại, và bổ sung nhãn cho những câu hỏi có nhiều điều luật cùng đúng."
Kết: "Em xin hết. Nhóm sẵn sàng nhận câu hỏi và sẽ demo code ngay sau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cover.png">    </p:cNvPr>
          <p:cNvPicPr>
            <a:picLocks noChangeAspect="1"/>
          </p:cNvPicPr>
          <p:nvPr/>
        </p:nvPicPr>
        <p:blipFill>
          <a:blip r:embed="rId1"/>
          <a:stretch>
            <a:fillRect/>
          </a:stretch>
        </p:blipFill>
        <p:spPr>
          <a:xfrm>
            <a:off x="0" y="0"/>
            <a:ext cx="9144000" cy="6858000"/>
          </a:xfrm>
          <a:prstGeom prst="rect">
            <a:avLst/>
          </a:prstGeom>
        </p:spPr>
      </p:pic>
      <p:sp>
        <p:nvSpPr>
          <p:cNvPr id="3" name="Shape 0"/>
          <p:cNvSpPr/>
          <p:nvPr/>
        </p:nvSpPr>
        <p:spPr>
          <a:xfrm>
            <a:off x="0" y="0"/>
            <a:ext cx="9144000" cy="658368"/>
          </a:xfrm>
          <a:prstGeom prst="rect">
            <a:avLst/>
          </a:prstGeom>
          <a:solidFill>
            <a:srgbClr val="303030"/>
          </a:solidFill>
          <a:ln/>
        </p:spPr>
      </p:sp>
      <p:sp>
        <p:nvSpPr>
          <p:cNvPr id="4" name="Text 1"/>
          <p:cNvSpPr txBox="1"/>
          <p:nvPr/>
        </p:nvSpPr>
        <p:spPr>
          <a:xfrm>
            <a:off x="384048" y="0"/>
            <a:ext cx="8412480" cy="65836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Trường Đại học Công nghệ Thông tin – Đại học Quốc gia TP. Hồ Chí Minh</a:t>
            </a:r>
            <a:endParaRPr lang="en-US" sz="1400" dirty="0"/>
          </a:p>
        </p:txBody>
      </p:sp>
      <p:sp>
        <p:nvSpPr>
          <p:cNvPr id="5" name="Shape 2"/>
          <p:cNvSpPr/>
          <p:nvPr/>
        </p:nvSpPr>
        <p:spPr>
          <a:xfrm>
            <a:off x="384048" y="1234440"/>
            <a:ext cx="2468880" cy="822960"/>
          </a:xfrm>
          <a:prstGeom prst="rect">
            <a:avLst/>
          </a:prstGeom>
          <a:solidFill>
            <a:srgbClr val="303030">
              <a:alpha val="88000"/>
            </a:srgbClr>
          </a:solidFill>
          <a:ln/>
        </p:spPr>
      </p:sp>
      <p:sp>
        <p:nvSpPr>
          <p:cNvPr id="6" name="Text 3"/>
          <p:cNvSpPr txBox="1"/>
          <p:nvPr/>
        </p:nvSpPr>
        <p:spPr>
          <a:xfrm>
            <a:off x="384048" y="1234440"/>
            <a:ext cx="2468880" cy="822960"/>
          </a:xfrm>
          <a:prstGeom prst="rect">
            <a:avLst/>
          </a:prstGeom>
          <a:noFill/>
          <a:ln/>
        </p:spPr>
        <p:txBody>
          <a:bodyPr wrap="square" lIns="1524" tIns="1524" rIns="1524" bIns="1524" rtlCol="0" anchor="ctr"/>
          <a:lstStyle/>
          <a:p>
            <a:pPr indent="0" marL="0">
              <a:buNone/>
            </a:pPr>
            <a:r>
              <a:rPr lang="en-US" sz="1250" b="1" dirty="0">
                <a:solidFill>
                  <a:srgbClr val="FFFFFF"/>
                </a:solidFill>
                <a:latin typeface="Arial" pitchFamily="34" charset="0"/>
                <a:ea typeface="Arial" pitchFamily="34" charset="-122"/>
                <a:cs typeface="Arial" pitchFamily="34" charset="-120"/>
              </a:rPr>
              <a:t>Tháng 9, 2026
</a:t>
            </a:r>
            <a:pPr indent="0" marL="0">
              <a:buNone/>
            </a:pPr>
            <a:r>
              <a:rPr lang="en-US" sz="1250" dirty="0">
                <a:solidFill>
                  <a:srgbClr val="FFFFFF"/>
                </a:solidFill>
                <a:latin typeface="Arial" pitchFamily="34" charset="0"/>
                <a:ea typeface="Arial" pitchFamily="34" charset="-122"/>
                <a:cs typeface="Arial" pitchFamily="34" charset="-120"/>
              </a:rPr>
              <a:t>TP. Hồ Chí Minh</a:t>
            </a:r>
            <a:endParaRPr lang="en-US" sz="1250" dirty="0"/>
          </a:p>
        </p:txBody>
      </p:sp>
      <p:sp>
        <p:nvSpPr>
          <p:cNvPr id="7" name="Shape 4"/>
          <p:cNvSpPr/>
          <p:nvPr/>
        </p:nvSpPr>
        <p:spPr>
          <a:xfrm>
            <a:off x="914400" y="2788920"/>
            <a:ext cx="8229600" cy="3291840"/>
          </a:xfrm>
          <a:prstGeom prst="rect">
            <a:avLst/>
          </a:prstGeom>
          <a:solidFill>
            <a:srgbClr val="0E1B2C">
              <a:alpha val="85000"/>
            </a:srgbClr>
          </a:solidFill>
          <a:ln/>
        </p:spPr>
      </p:sp>
      <p:sp>
        <p:nvSpPr>
          <p:cNvPr id="8" name="Text 5"/>
          <p:cNvSpPr txBox="1"/>
          <p:nvPr/>
        </p:nvSpPr>
        <p:spPr>
          <a:xfrm>
            <a:off x="1143000" y="2944368"/>
            <a:ext cx="7772400" cy="384048"/>
          </a:xfrm>
          <a:prstGeom prst="rect">
            <a:avLst/>
          </a:prstGeom>
          <a:noFill/>
          <a:ln/>
        </p:spPr>
        <p:txBody>
          <a:bodyPr wrap="square" lIns="0" tIns="0" rIns="0" bIns="0" rtlCol="0" anchor="ctr"/>
          <a:lstStyle/>
          <a:p>
            <a:pPr algn="r" indent="0" marL="0">
              <a:buNone/>
            </a:pPr>
            <a:r>
              <a:rPr lang="en-US" sz="1600" b="1" dirty="0">
                <a:solidFill>
                  <a:srgbClr val="FFFFFF"/>
                </a:solidFill>
                <a:latin typeface="Arial" pitchFamily="34" charset="0"/>
                <a:ea typeface="Arial" pitchFamily="34" charset="-122"/>
                <a:cs typeface="Arial" pitchFamily="34" charset="-120"/>
              </a:rPr>
              <a:t>BÁO CÁO ĐỒ ÁN MÔN HỌC</a:t>
            </a:r>
            <a:endParaRPr lang="en-US" sz="1600" dirty="0"/>
          </a:p>
        </p:txBody>
      </p:sp>
      <p:sp>
        <p:nvSpPr>
          <p:cNvPr id="9" name="Text 6"/>
          <p:cNvSpPr txBox="1"/>
          <p:nvPr/>
        </p:nvSpPr>
        <p:spPr>
          <a:xfrm>
            <a:off x="1143000" y="3346704"/>
            <a:ext cx="7772400" cy="1143000"/>
          </a:xfrm>
          <a:prstGeom prst="rect">
            <a:avLst/>
          </a:prstGeom>
          <a:noFill/>
          <a:ln/>
        </p:spPr>
        <p:txBody>
          <a:bodyPr wrap="square" lIns="0" tIns="0" rIns="0" bIns="0" rtlCol="0" anchor="ctr"/>
          <a:lstStyle/>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Tìm kiếm điều luật cho câu hỏi</a:t>
            </a:r>
            <a:endParaRPr lang="en-US" sz="2600" dirty="0"/>
          </a:p>
          <a:p>
            <a:pPr algn="r" indent="0" marL="0">
              <a:lnSpc>
                <a:spcPct val="110000"/>
              </a:lnSpc>
              <a:buNone/>
            </a:pPr>
            <a:r>
              <a:rPr lang="en-US" sz="2600" b="1" dirty="0">
                <a:solidFill>
                  <a:srgbClr val="FFFFFF"/>
                </a:solidFill>
                <a:latin typeface="Arial" pitchFamily="34" charset="0"/>
                <a:ea typeface="Arial" pitchFamily="34" charset="-122"/>
                <a:cs typeface="Arial" pitchFamily="34" charset="-120"/>
              </a:rPr>
              <a:t>pháp luật tiếng Việt</a:t>
            </a:r>
            <a:endParaRPr lang="en-US" sz="2600" dirty="0"/>
          </a:p>
        </p:txBody>
      </p:sp>
      <p:sp>
        <p:nvSpPr>
          <p:cNvPr id="10" name="Text 7"/>
          <p:cNvSpPr txBox="1"/>
          <p:nvPr/>
        </p:nvSpPr>
        <p:spPr>
          <a:xfrm>
            <a:off x="1143000" y="4498848"/>
            <a:ext cx="7772400" cy="310896"/>
          </a:xfrm>
          <a:prstGeom prst="rect">
            <a:avLst/>
          </a:prstGeom>
          <a:noFill/>
          <a:ln/>
        </p:spPr>
        <p:txBody>
          <a:bodyPr wrap="square" lIns="0" tIns="0" rIns="0" bIns="0" rtlCol="0" anchor="ctr"/>
          <a:lstStyle/>
          <a:p>
            <a:pPr algn="r" indent="0" marL="0">
              <a:buNone/>
            </a:pPr>
            <a:r>
              <a:rPr lang="en-US" sz="1300" i="1" dirty="0">
                <a:solidFill>
                  <a:srgbClr val="CFE2F5"/>
                </a:solidFill>
                <a:latin typeface="Arial" pitchFamily="34" charset="0"/>
                <a:ea typeface="Arial" pitchFamily="34" charset="-122"/>
                <a:cs typeface="Arial" pitchFamily="34" charset="-120"/>
              </a:rPr>
              <a:t>Kết hợp tìm theo từ khóa và tìm theo ngữ nghĩa</a:t>
            </a:r>
            <a:endParaRPr lang="en-US" sz="1300" dirty="0"/>
          </a:p>
        </p:txBody>
      </p:sp>
      <p:sp>
        <p:nvSpPr>
          <p:cNvPr id="11" name="Shape 8"/>
          <p:cNvSpPr/>
          <p:nvPr/>
        </p:nvSpPr>
        <p:spPr>
          <a:xfrm>
            <a:off x="2834640" y="4882896"/>
            <a:ext cx="6080760" cy="0"/>
          </a:xfrm>
          <a:prstGeom prst="line">
            <a:avLst/>
          </a:prstGeom>
          <a:noFill/>
          <a:ln w="12700">
            <a:solidFill>
              <a:srgbClr val="C9C9C9"/>
            </a:solidFill>
            <a:prstDash val="solid"/>
          </a:ln>
        </p:spPr>
      </p:sp>
      <p:sp>
        <p:nvSpPr>
          <p:cNvPr id="12" name="Text 9"/>
          <p:cNvSpPr txBox="1"/>
          <p:nvPr/>
        </p:nvSpPr>
        <p:spPr>
          <a:xfrm>
            <a:off x="1143000" y="4992624"/>
            <a:ext cx="7772400" cy="960120"/>
          </a:xfrm>
          <a:prstGeom prst="rect">
            <a:avLst/>
          </a:prstGeom>
          <a:noFill/>
          <a:ln/>
        </p:spPr>
        <p:txBody>
          <a:bodyPr wrap="square" lIns="0" tIns="0" rIns="0" bIns="0" rtlCol="0" anchor="ctr"/>
          <a:lstStyle/>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Nhóm 09  ·  Môn Xử lý ngôn ngữ tự nhiên</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Hoàng Lộc – 25210293</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Lê Thị Tuấn Anh – 25210250</a:t>
            </a:r>
            <a:endParaRPr lang="en-US" sz="1150" dirty="0"/>
          </a:p>
          <a:p>
            <a:pPr algn="r" indent="0" marL="0">
              <a:lnSpc>
                <a:spcPts val="1500"/>
              </a:lnSpc>
              <a:buNone/>
            </a:pPr>
            <a:r>
              <a:rPr lang="en-US" sz="1150" dirty="0">
                <a:solidFill>
                  <a:srgbClr val="FFFFFF"/>
                </a:solidFill>
                <a:latin typeface="Arial" pitchFamily="34" charset="0"/>
                <a:ea typeface="Arial" pitchFamily="34" charset="-122"/>
                <a:cs typeface="Arial" pitchFamily="34" charset="-120"/>
              </a:rPr>
              <a:t>Đoàn Mậu Thiên Thư – 25210341</a:t>
            </a:r>
            <a:endParaRPr lang="en-US" sz="1150" dirty="0"/>
          </a:p>
          <a:p>
            <a:pPr algn="r" indent="0" marL="0">
              <a:lnSpc>
                <a:spcPts val="1500"/>
              </a:lnSpc>
              <a:buNone/>
            </a:pPr>
            <a:r>
              <a:rPr lang="en-US" sz="1150" b="1" dirty="0">
                <a:solidFill>
                  <a:srgbClr val="FFFFFF"/>
                </a:solidFill>
                <a:latin typeface="Arial" pitchFamily="34" charset="0"/>
                <a:ea typeface="Arial" pitchFamily="34" charset="-122"/>
                <a:cs typeface="Arial" pitchFamily="34" charset="-120"/>
              </a:rPr>
              <a:t>GVHD: Đặng Văn Thìn</a:t>
            </a:r>
            <a:endParaRPr lang="en-US" sz="1150" dirty="0"/>
          </a:p>
        </p:txBody>
      </p:sp>
      <p:sp>
        <p:nvSpPr>
          <p:cNvPr id="13" name="Shape 10"/>
          <p:cNvSpPr/>
          <p:nvPr/>
        </p:nvSpPr>
        <p:spPr>
          <a:xfrm>
            <a:off x="0" y="6446520"/>
            <a:ext cx="9144000" cy="411480"/>
          </a:xfrm>
          <a:prstGeom prst="rect">
            <a:avLst/>
          </a:prstGeom>
          <a:solidFill>
            <a:srgbClr val="303030"/>
          </a:solidFill>
          <a:ln/>
        </p:spPr>
      </p:sp>
      <p:sp>
        <p:nvSpPr>
          <p:cNvPr id="14" name="Text 11"/>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Nội dung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2</a:t>
            </a:r>
            <a:endParaRPr lang="en-US" sz="1100" dirty="0"/>
          </a:p>
        </p:txBody>
      </p:sp>
      <p:sp>
        <p:nvSpPr>
          <p:cNvPr id="9" name="Shape 6"/>
          <p:cNvSpPr/>
          <p:nvPr/>
        </p:nvSpPr>
        <p:spPr>
          <a:xfrm>
            <a:off x="502920" y="1188720"/>
            <a:ext cx="8138160" cy="841248"/>
          </a:xfrm>
          <a:prstGeom prst="roundRect">
            <a:avLst>
              <a:gd name="adj" fmla="val 6522"/>
            </a:avLst>
          </a:prstGeom>
          <a:solidFill>
            <a:srgbClr val="F4F8FC"/>
          </a:solidFill>
          <a:ln w="15875">
            <a:solidFill>
              <a:srgbClr val="2D75B6"/>
            </a:solidFill>
            <a:prstDash val="solid"/>
          </a:ln>
        </p:spPr>
      </p:sp>
      <p:sp>
        <p:nvSpPr>
          <p:cNvPr id="10" name="Shape 7"/>
          <p:cNvSpPr/>
          <p:nvPr/>
        </p:nvSpPr>
        <p:spPr>
          <a:xfrm>
            <a:off x="731520" y="1371600"/>
            <a:ext cx="475488" cy="475488"/>
          </a:xfrm>
          <a:prstGeom prst="ellipse">
            <a:avLst/>
          </a:prstGeom>
          <a:solidFill>
            <a:srgbClr val="2D75B6"/>
          </a:solidFill>
          <a:ln/>
        </p:spPr>
      </p:sp>
      <p:sp>
        <p:nvSpPr>
          <p:cNvPr id="11" name="Text 8"/>
          <p:cNvSpPr txBox="1"/>
          <p:nvPr/>
        </p:nvSpPr>
        <p:spPr>
          <a:xfrm>
            <a:off x="731520" y="137160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12" name="Text 9"/>
          <p:cNvSpPr txBox="1"/>
          <p:nvPr/>
        </p:nvSpPr>
        <p:spPr>
          <a:xfrm>
            <a:off x="1417320" y="1307592"/>
            <a:ext cx="4572000" cy="329184"/>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Bài toán và dữ liệu</a:t>
            </a:r>
            <a:endParaRPr lang="en-US" sz="1550" dirty="0"/>
          </a:p>
        </p:txBody>
      </p:sp>
      <p:sp>
        <p:nvSpPr>
          <p:cNvPr id="13" name="Text 10"/>
          <p:cNvSpPr txBox="1"/>
          <p:nvPr/>
        </p:nvSpPr>
        <p:spPr>
          <a:xfrm>
            <a:off x="1417320" y="1627632"/>
            <a:ext cx="6949440" cy="292608"/>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61.425 điều luật, 3.196 câu hỏi</a:t>
            </a:r>
            <a:endParaRPr lang="en-US" sz="1150" dirty="0"/>
          </a:p>
        </p:txBody>
      </p:sp>
      <p:sp>
        <p:nvSpPr>
          <p:cNvPr id="14" name="Shape 11"/>
          <p:cNvSpPr/>
          <p:nvPr/>
        </p:nvSpPr>
        <p:spPr>
          <a:xfrm>
            <a:off x="502920" y="2203704"/>
            <a:ext cx="8138160" cy="841248"/>
          </a:xfrm>
          <a:prstGeom prst="roundRect">
            <a:avLst>
              <a:gd name="adj" fmla="val 6522"/>
            </a:avLst>
          </a:prstGeom>
          <a:solidFill>
            <a:srgbClr val="FDF2E9"/>
          </a:solidFill>
          <a:ln w="15875">
            <a:solidFill>
              <a:srgbClr val="D68910"/>
            </a:solidFill>
            <a:prstDash val="solid"/>
          </a:ln>
        </p:spPr>
      </p:sp>
      <p:sp>
        <p:nvSpPr>
          <p:cNvPr id="15" name="Shape 12"/>
          <p:cNvSpPr/>
          <p:nvPr/>
        </p:nvSpPr>
        <p:spPr>
          <a:xfrm>
            <a:off x="731520" y="2386584"/>
            <a:ext cx="475488" cy="475488"/>
          </a:xfrm>
          <a:prstGeom prst="ellipse">
            <a:avLst/>
          </a:prstGeom>
          <a:solidFill>
            <a:srgbClr val="D68910"/>
          </a:solidFill>
          <a:ln/>
        </p:spPr>
      </p:sp>
      <p:sp>
        <p:nvSpPr>
          <p:cNvPr id="16" name="Text 13"/>
          <p:cNvSpPr txBox="1"/>
          <p:nvPr/>
        </p:nvSpPr>
        <p:spPr>
          <a:xfrm>
            <a:off x="731520" y="23865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7" name="Text 14"/>
          <p:cNvSpPr txBox="1"/>
          <p:nvPr/>
        </p:nvSpPr>
        <p:spPr>
          <a:xfrm>
            <a:off x="1417320" y="2322576"/>
            <a:ext cx="4572000" cy="329184"/>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Kiểm toán dữ liệu</a:t>
            </a:r>
            <a:endParaRPr lang="en-US" sz="1550" dirty="0"/>
          </a:p>
        </p:txBody>
      </p:sp>
      <p:sp>
        <p:nvSpPr>
          <p:cNvPr id="18" name="Text 15"/>
          <p:cNvSpPr txBox="1"/>
          <p:nvPr/>
        </p:nvSpPr>
        <p:spPr>
          <a:xfrm>
            <a:off x="1417320" y="2642616"/>
            <a:ext cx="6949440" cy="292608"/>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Sáu vấn đề trong bộ đã công bố</a:t>
            </a:r>
            <a:endParaRPr lang="en-US" sz="1150" dirty="0"/>
          </a:p>
        </p:txBody>
      </p:sp>
      <p:sp>
        <p:nvSpPr>
          <p:cNvPr id="19" name="Shape 16"/>
          <p:cNvSpPr/>
          <p:nvPr/>
        </p:nvSpPr>
        <p:spPr>
          <a:xfrm>
            <a:off x="502920" y="3218688"/>
            <a:ext cx="8138160" cy="841248"/>
          </a:xfrm>
          <a:prstGeom prst="roundRect">
            <a:avLst>
              <a:gd name="adj" fmla="val 6522"/>
            </a:avLst>
          </a:prstGeom>
          <a:solidFill>
            <a:srgbClr val="F4F8FC"/>
          </a:solidFill>
          <a:ln w="15875">
            <a:solidFill>
              <a:srgbClr val="2D75B6"/>
            </a:solidFill>
            <a:prstDash val="solid"/>
          </a:ln>
        </p:spPr>
      </p:sp>
      <p:sp>
        <p:nvSpPr>
          <p:cNvPr id="20" name="Shape 17"/>
          <p:cNvSpPr/>
          <p:nvPr/>
        </p:nvSpPr>
        <p:spPr>
          <a:xfrm>
            <a:off x="731520" y="3401568"/>
            <a:ext cx="475488" cy="475488"/>
          </a:xfrm>
          <a:prstGeom prst="ellipse">
            <a:avLst/>
          </a:prstGeom>
          <a:solidFill>
            <a:srgbClr val="2D75B6"/>
          </a:solidFill>
          <a:ln/>
        </p:spPr>
      </p:sp>
      <p:sp>
        <p:nvSpPr>
          <p:cNvPr id="21" name="Text 18"/>
          <p:cNvSpPr txBox="1"/>
          <p:nvPr/>
        </p:nvSpPr>
        <p:spPr>
          <a:xfrm>
            <a:off x="731520" y="340156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22" name="Text 19"/>
          <p:cNvSpPr txBox="1"/>
          <p:nvPr/>
        </p:nvSpPr>
        <p:spPr>
          <a:xfrm>
            <a:off x="1417320" y="3337560"/>
            <a:ext cx="4572000" cy="329184"/>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Kiến trúc ba tầng</a:t>
            </a:r>
            <a:endParaRPr lang="en-US" sz="1550" dirty="0"/>
          </a:p>
        </p:txBody>
      </p:sp>
      <p:sp>
        <p:nvSpPr>
          <p:cNvPr id="23" name="Text 20"/>
          <p:cNvSpPr txBox="1"/>
          <p:nvPr/>
        </p:nvSpPr>
        <p:spPr>
          <a:xfrm>
            <a:off x="1417320" y="3657600"/>
            <a:ext cx="6949440" cy="292608"/>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BM25, bi-encoder, hợp nhất</a:t>
            </a:r>
            <a:endParaRPr lang="en-US" sz="1150" dirty="0"/>
          </a:p>
        </p:txBody>
      </p:sp>
      <p:sp>
        <p:nvSpPr>
          <p:cNvPr id="24" name="Shape 21"/>
          <p:cNvSpPr/>
          <p:nvPr/>
        </p:nvSpPr>
        <p:spPr>
          <a:xfrm>
            <a:off x="502920" y="4233672"/>
            <a:ext cx="8138160" cy="841248"/>
          </a:xfrm>
          <a:prstGeom prst="roundRect">
            <a:avLst>
              <a:gd name="adj" fmla="val 6522"/>
            </a:avLst>
          </a:prstGeom>
          <a:solidFill>
            <a:srgbClr val="F4F8FC"/>
          </a:solidFill>
          <a:ln w="15875">
            <a:solidFill>
              <a:srgbClr val="2D75B6"/>
            </a:solidFill>
            <a:prstDash val="solid"/>
          </a:ln>
        </p:spPr>
      </p:sp>
      <p:sp>
        <p:nvSpPr>
          <p:cNvPr id="25" name="Shape 22"/>
          <p:cNvSpPr/>
          <p:nvPr/>
        </p:nvSpPr>
        <p:spPr>
          <a:xfrm>
            <a:off x="731520" y="4416552"/>
            <a:ext cx="475488" cy="475488"/>
          </a:xfrm>
          <a:prstGeom prst="ellipse">
            <a:avLst/>
          </a:prstGeom>
          <a:solidFill>
            <a:srgbClr val="2D75B6"/>
          </a:solidFill>
          <a:ln/>
        </p:spPr>
      </p:sp>
      <p:sp>
        <p:nvSpPr>
          <p:cNvPr id="26" name="Text 23"/>
          <p:cNvSpPr txBox="1"/>
          <p:nvPr/>
        </p:nvSpPr>
        <p:spPr>
          <a:xfrm>
            <a:off x="731520" y="441655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27" name="Text 24"/>
          <p:cNvSpPr txBox="1"/>
          <p:nvPr/>
        </p:nvSpPr>
        <p:spPr>
          <a:xfrm>
            <a:off x="1417320" y="4352544"/>
            <a:ext cx="4572000" cy="329184"/>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Kết quả và đối chiếu chéo</a:t>
            </a:r>
            <a:endParaRPr lang="en-US" sz="1550" dirty="0"/>
          </a:p>
        </p:txBody>
      </p:sp>
      <p:sp>
        <p:nvSpPr>
          <p:cNvPr id="28" name="Text 25"/>
          <p:cNvSpPr txBox="1"/>
          <p:nvPr/>
        </p:nvSpPr>
        <p:spPr>
          <a:xfrm>
            <a:off x="1417320" y="4672584"/>
            <a:ext cx="6949440" cy="292608"/>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Hợp nhất có thật sự giúp không</a:t>
            </a:r>
            <a:endParaRPr lang="en-US" sz="1150" dirty="0"/>
          </a:p>
        </p:txBody>
      </p:sp>
      <p:sp>
        <p:nvSpPr>
          <p:cNvPr id="29" name="Shape 26"/>
          <p:cNvSpPr/>
          <p:nvPr/>
        </p:nvSpPr>
        <p:spPr>
          <a:xfrm>
            <a:off x="502920" y="5248656"/>
            <a:ext cx="8138160" cy="841248"/>
          </a:xfrm>
          <a:prstGeom prst="roundRect">
            <a:avLst>
              <a:gd name="adj" fmla="val 6522"/>
            </a:avLst>
          </a:prstGeom>
          <a:solidFill>
            <a:srgbClr val="F4F8FC"/>
          </a:solidFill>
          <a:ln w="15875">
            <a:solidFill>
              <a:srgbClr val="2D75B6"/>
            </a:solidFill>
            <a:prstDash val="solid"/>
          </a:ln>
        </p:spPr>
      </p:sp>
      <p:sp>
        <p:nvSpPr>
          <p:cNvPr id="30" name="Shape 27"/>
          <p:cNvSpPr/>
          <p:nvPr/>
        </p:nvSpPr>
        <p:spPr>
          <a:xfrm>
            <a:off x="731520" y="5431536"/>
            <a:ext cx="475488" cy="475488"/>
          </a:xfrm>
          <a:prstGeom prst="ellipse">
            <a:avLst/>
          </a:prstGeom>
          <a:solidFill>
            <a:srgbClr val="2D75B6"/>
          </a:solidFill>
          <a:ln/>
        </p:spPr>
      </p:sp>
      <p:sp>
        <p:nvSpPr>
          <p:cNvPr id="31" name="Text 28"/>
          <p:cNvSpPr txBox="1"/>
          <p:nvPr/>
        </p:nvSpPr>
        <p:spPr>
          <a:xfrm>
            <a:off x="731520" y="54315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5</a:t>
            </a:r>
            <a:endParaRPr lang="en-US" sz="1700" dirty="0"/>
          </a:p>
        </p:txBody>
      </p:sp>
      <p:sp>
        <p:nvSpPr>
          <p:cNvPr id="32" name="Text 29"/>
          <p:cNvSpPr txBox="1"/>
          <p:nvPr/>
        </p:nvSpPr>
        <p:spPr>
          <a:xfrm>
            <a:off x="1417320" y="5367528"/>
            <a:ext cx="4572000" cy="329184"/>
          </a:xfrm>
          <a:prstGeom prst="rect">
            <a:avLst/>
          </a:prstGeom>
          <a:noFill/>
          <a:ln/>
        </p:spPr>
        <p:txBody>
          <a:bodyPr wrap="square" lIns="0" tIns="0" rIns="0" bIns="0" rtlCol="0" anchor="ctr"/>
          <a:lstStyle/>
          <a:p>
            <a:pPr indent="0" marL="0">
              <a:buNone/>
            </a:pPr>
            <a:r>
              <a:rPr lang="en-US" sz="1550" b="1" dirty="0">
                <a:solidFill>
                  <a:srgbClr val="1A1A1A"/>
                </a:solidFill>
                <a:latin typeface="Arial" pitchFamily="34" charset="0"/>
                <a:ea typeface="Arial" pitchFamily="34" charset="-122"/>
                <a:cs typeface="Arial" pitchFamily="34" charset="-120"/>
              </a:rPr>
              <a:t>Kết luận và giới hạn</a:t>
            </a:r>
            <a:endParaRPr lang="en-US" sz="1550" dirty="0"/>
          </a:p>
        </p:txBody>
      </p:sp>
      <p:sp>
        <p:nvSpPr>
          <p:cNvPr id="33" name="Text 30"/>
          <p:cNvSpPr txBox="1"/>
          <p:nvPr/>
        </p:nvSpPr>
        <p:spPr>
          <a:xfrm>
            <a:off x="1417320" y="5687568"/>
            <a:ext cx="6949440" cy="292608"/>
          </a:xfrm>
          <a:prstGeom prst="rect">
            <a:avLst/>
          </a:prstGeom>
          <a:noFill/>
          <a:ln/>
        </p:spPr>
        <p:txBody>
          <a:bodyPr wrap="square" lIns="0" tIns="0" rIns="0" bIns="0" rtlCol="0" anchor="ctr"/>
          <a:lstStyle/>
          <a:p>
            <a:pPr indent="0" marL="0">
              <a:buNone/>
            </a:pPr>
            <a:r>
              <a:rPr lang="en-US" sz="1150" dirty="0">
                <a:solidFill>
                  <a:srgbClr val="5A5A5A"/>
                </a:solidFill>
                <a:latin typeface="Arial" pitchFamily="34" charset="0"/>
                <a:ea typeface="Arial" pitchFamily="34" charset="-122"/>
                <a:cs typeface="Arial" pitchFamily="34" charset="-120"/>
              </a:rPr>
              <a:t>Nói thẳng chỗ chưa làm được</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Bài toán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3</a:t>
            </a:r>
            <a:endParaRPr lang="en-US" sz="1100" dirty="0"/>
          </a:p>
        </p:txBody>
      </p:sp>
      <p:sp>
        <p:nvSpPr>
          <p:cNvPr id="9" name="Shape 6"/>
          <p:cNvSpPr/>
          <p:nvPr/>
        </p:nvSpPr>
        <p:spPr>
          <a:xfrm>
            <a:off x="502920" y="1005840"/>
            <a:ext cx="3886200" cy="1371600"/>
          </a:xfrm>
          <a:prstGeom prst="roundRect">
            <a:avLst>
              <a:gd name="adj" fmla="val 4000"/>
            </a:avLst>
          </a:prstGeom>
          <a:solidFill>
            <a:srgbClr val="F4F8FC"/>
          </a:solidFill>
          <a:ln w="15875">
            <a:solidFill>
              <a:srgbClr val="2D75B6"/>
            </a:solidFill>
            <a:prstDash val="solid"/>
          </a:ln>
        </p:spPr>
      </p:sp>
      <p:sp>
        <p:nvSpPr>
          <p:cNvPr id="10" name="Text 7"/>
          <p:cNvSpPr txBox="1"/>
          <p:nvPr/>
        </p:nvSpPr>
        <p:spPr>
          <a:xfrm>
            <a:off x="71323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VÀO</a:t>
            </a:r>
            <a:endParaRPr lang="en-US" sz="1150" dirty="0"/>
          </a:p>
        </p:txBody>
      </p:sp>
      <p:sp>
        <p:nvSpPr>
          <p:cNvPr id="11" name="Text 8"/>
          <p:cNvSpPr txBox="1"/>
          <p:nvPr/>
        </p:nvSpPr>
        <p:spPr>
          <a:xfrm>
            <a:off x="71323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Một câu hỏi pháp luật viết bằng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tiếng Việt tự nhiên</a:t>
            </a:r>
            <a:endParaRPr lang="en-US" sz="1250" dirty="0"/>
          </a:p>
        </p:txBody>
      </p:sp>
      <p:sp>
        <p:nvSpPr>
          <p:cNvPr id="12" name="Shape 9"/>
          <p:cNvSpPr/>
          <p:nvPr/>
        </p:nvSpPr>
        <p:spPr>
          <a:xfrm>
            <a:off x="4754880" y="1005840"/>
            <a:ext cx="3886200" cy="1371600"/>
          </a:xfrm>
          <a:prstGeom prst="roundRect">
            <a:avLst>
              <a:gd name="adj" fmla="val 4000"/>
            </a:avLst>
          </a:prstGeom>
          <a:solidFill>
            <a:srgbClr val="F4F8FC"/>
          </a:solidFill>
          <a:ln w="15875">
            <a:solidFill>
              <a:srgbClr val="2D75B6"/>
            </a:solidFill>
            <a:prstDash val="solid"/>
          </a:ln>
        </p:spPr>
      </p:sp>
      <p:sp>
        <p:nvSpPr>
          <p:cNvPr id="13" name="Text 10"/>
          <p:cNvSpPr txBox="1"/>
          <p:nvPr/>
        </p:nvSpPr>
        <p:spPr>
          <a:xfrm>
            <a:off x="4965192" y="1115568"/>
            <a:ext cx="3474720" cy="274320"/>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ĐẦU RA</a:t>
            </a:r>
            <a:endParaRPr lang="en-US" sz="1150" dirty="0"/>
          </a:p>
        </p:txBody>
      </p:sp>
      <p:sp>
        <p:nvSpPr>
          <p:cNvPr id="14" name="Text 11"/>
          <p:cNvSpPr txBox="1"/>
          <p:nvPr/>
        </p:nvSpPr>
        <p:spPr>
          <a:xfrm>
            <a:off x="4965192" y="1426464"/>
            <a:ext cx="3474720" cy="822960"/>
          </a:xfrm>
          <a:prstGeom prst="rect">
            <a:avLst/>
          </a:prstGeom>
          <a:noFill/>
          <a:ln/>
        </p:spPr>
        <p:txBody>
          <a:bodyPr wrap="square" lIns="0" tIns="0" rIns="0" bIns="0" rtlCol="0" anchor="t"/>
          <a:lstStyle/>
          <a:p>
            <a:pPr indent="0" marL="0">
              <a:lnSpc>
                <a:spcPts val="1800"/>
              </a:lnSpc>
              <a:buNone/>
            </a:pPr>
            <a:r>
              <a:rPr lang="en-US" sz="1250" dirty="0">
                <a:solidFill>
                  <a:srgbClr val="1A1A1A"/>
                </a:solidFill>
                <a:latin typeface="Arial" pitchFamily="34" charset="0"/>
                <a:ea typeface="Arial" pitchFamily="34" charset="-122"/>
                <a:cs typeface="Arial" pitchFamily="34" charset="-120"/>
              </a:rPr>
              <a:t>Danh sách điều luật xếp hạng,</a:t>
            </a:r>
            <a:endParaRPr lang="en-US" sz="1250" dirty="0"/>
          </a:p>
          <a:p>
            <a:pPr indent="0" marL="0">
              <a:lnSpc>
                <a:spcPts val="1800"/>
              </a:lnSpc>
              <a:buNone/>
            </a:pPr>
            <a:r>
              <a:rPr lang="en-US" sz="1250" dirty="0">
                <a:solidFill>
                  <a:srgbClr val="1A1A1A"/>
                </a:solidFill>
                <a:latin typeface="Arial" pitchFamily="34" charset="0"/>
                <a:ea typeface="Arial" pitchFamily="34" charset="-122"/>
                <a:cs typeface="Arial" pitchFamily="34" charset="-120"/>
              </a:rPr>
              <a:t>kèm điểm và từ khóa đã khớp</a:t>
            </a:r>
            <a:endParaRPr lang="en-US" sz="1250" dirty="0"/>
          </a:p>
        </p:txBody>
      </p:sp>
      <p:sp>
        <p:nvSpPr>
          <p:cNvPr id="15" name="Shape 12"/>
          <p:cNvSpPr/>
          <p:nvPr/>
        </p:nvSpPr>
        <p:spPr>
          <a:xfrm>
            <a:off x="502920" y="2606040"/>
            <a:ext cx="8138160" cy="1417320"/>
          </a:xfrm>
          <a:prstGeom prst="roundRect">
            <a:avLst>
              <a:gd name="adj" fmla="val 3871"/>
            </a:avLst>
          </a:prstGeom>
          <a:solidFill>
            <a:srgbClr val="FFF8F0"/>
          </a:solidFill>
          <a:ln w="15875">
            <a:solidFill>
              <a:srgbClr val="D68910"/>
            </a:solidFill>
            <a:prstDash val="solid"/>
          </a:ln>
        </p:spPr>
      </p:sp>
      <p:sp>
        <p:nvSpPr>
          <p:cNvPr id="16" name="Text 13"/>
          <p:cNvSpPr txBox="1"/>
          <p:nvPr/>
        </p:nvSpPr>
        <p:spPr>
          <a:xfrm>
            <a:off x="731520" y="270662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thật, và cũng là một ca hệ trả sai</a:t>
            </a:r>
            <a:endParaRPr lang="en-US" sz="1250" dirty="0"/>
          </a:p>
        </p:txBody>
      </p:sp>
      <p:sp>
        <p:nvSpPr>
          <p:cNvPr id="17" name="Text 14"/>
          <p:cNvSpPr txBox="1"/>
          <p:nvPr/>
        </p:nvSpPr>
        <p:spPr>
          <a:xfrm>
            <a:off x="731520" y="3017520"/>
            <a:ext cx="7680960" cy="914400"/>
          </a:xfrm>
          <a:prstGeom prst="rect">
            <a:avLst/>
          </a:prstGeom>
          <a:noFill/>
          <a:ln/>
        </p:spPr>
        <p:txBody>
          <a:bodyPr wrap="square" lIns="0" tIns="0" rIns="0" bIns="0" rtlCol="0" anchor="ctr"/>
          <a:lstStyle/>
          <a:p>
            <a:pPr indent="0" marL="0">
              <a:lnSpc>
                <a:spcPts val="1700"/>
              </a:lnSpc>
              <a:buNone/>
            </a:pPr>
            <a:r>
              <a:rPr lang="en-US" sz="1200" b="1" dirty="0">
                <a:solidFill>
                  <a:srgbClr val="1A1A1A"/>
                </a:solidFill>
                <a:latin typeface="Arial" pitchFamily="34" charset="0"/>
                <a:ea typeface="Arial" pitchFamily="34" charset="-122"/>
                <a:cs typeface="Arial" pitchFamily="34" charset="-120"/>
              </a:rPr>
              <a:t>Câu hỏi:  </a:t>
            </a:r>
            <a:pPr indent="0" marL="0">
              <a:lnSpc>
                <a:spcPts val="1700"/>
              </a:lnSpc>
              <a:buNone/>
            </a:pPr>
            <a:r>
              <a:rPr lang="en-US" sz="1200" dirty="0">
                <a:solidFill>
                  <a:srgbClr val="1A1A1A"/>
                </a:solidFill>
                <a:latin typeface="Arial" pitchFamily="34" charset="0"/>
                <a:ea typeface="Arial" pitchFamily="34" charset="-122"/>
                <a:cs typeface="Arial" pitchFamily="34" charset="-120"/>
              </a:rPr>
              <a:t>Nướng bắp, ngô trên cầu phạt bao nhiêu tiền?</a:t>
            </a:r>
            <a:endParaRPr lang="en-US" sz="1200" dirty="0"/>
          </a:p>
          <a:p>
            <a:pPr indent="0" marL="0">
              <a:lnSpc>
                <a:spcPts val="1700"/>
              </a:lnSpc>
              <a:buNone/>
            </a:pPr>
            <a:r>
              <a:rPr lang="en-US" sz="1200" b="1" dirty="0">
                <a:solidFill>
                  <a:srgbClr val="1A1A1A"/>
                </a:solidFill>
                <a:latin typeface="Arial" pitchFamily="34" charset="0"/>
                <a:ea typeface="Arial" pitchFamily="34" charset="-122"/>
                <a:cs typeface="Arial" pitchFamily="34" charset="-120"/>
              </a:rPr>
              <a:t>Điều luật đúng:  </a:t>
            </a:r>
            <a:pPr indent="0" marL="0">
              <a:lnSpc>
                <a:spcPts val="1700"/>
              </a:lnSpc>
              <a:buNone/>
            </a:pPr>
            <a:r>
              <a:rPr lang="en-US" sz="1200" dirty="0">
                <a:solidFill>
                  <a:srgbClr val="1A1A1A"/>
                </a:solidFill>
                <a:latin typeface="Arial" pitchFamily="34" charset="0"/>
                <a:ea typeface="Arial" pitchFamily="34" charset="-122"/>
                <a:cs typeface="Arial" pitchFamily="34" charset="-120"/>
              </a:rPr>
              <a:t>Xử phạt hành vi vi phạm quy định về quản lý, khai thác, bảo trì công trình đường bộ</a:t>
            </a:r>
            <a:endParaRPr lang="en-US" sz="1200" dirty="0"/>
          </a:p>
          <a:p>
            <a:pPr indent="0" marL="0">
              <a:lnSpc>
                <a:spcPts val="1700"/>
              </a:lnSpc>
              <a:buNone/>
            </a:pPr>
            <a:r>
              <a:rPr lang="en-US" sz="1200" b="1" dirty="0">
                <a:solidFill>
                  <a:srgbClr val="C0392B"/>
                </a:solidFill>
                <a:latin typeface="Arial" pitchFamily="34" charset="0"/>
                <a:ea typeface="Arial" pitchFamily="34" charset="-122"/>
                <a:cs typeface="Arial" pitchFamily="34" charset="-120"/>
              </a:rPr>
              <a:t>Không một từ nào trùng nhau.</a:t>
            </a:r>
            <a:endParaRPr lang="en-US" sz="1200" dirty="0"/>
          </a:p>
        </p:txBody>
      </p:sp>
      <p:sp>
        <p:nvSpPr>
          <p:cNvPr id="18" name="Shape 15"/>
          <p:cNvSpPr/>
          <p:nvPr/>
        </p:nvSpPr>
        <p:spPr>
          <a:xfrm>
            <a:off x="502920" y="4251960"/>
            <a:ext cx="8138160" cy="1920240"/>
          </a:xfrm>
          <a:prstGeom prst="roundRect">
            <a:avLst>
              <a:gd name="adj" fmla="val 2857"/>
            </a:avLst>
          </a:prstGeom>
          <a:solidFill>
            <a:srgbClr val="FFFFFF"/>
          </a:solidFill>
          <a:ln w="15875">
            <a:solidFill>
              <a:srgbClr val="BFBFBF"/>
            </a:solidFill>
            <a:prstDash val="solid"/>
          </a:ln>
        </p:spPr>
      </p:sp>
      <p:sp>
        <p:nvSpPr>
          <p:cNvPr id="19" name="Text 16"/>
          <p:cNvSpPr txBox="1"/>
          <p:nvPr/>
        </p:nvSpPr>
        <p:spPr>
          <a:xfrm>
            <a:off x="731520" y="4352544"/>
            <a:ext cx="768096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Ba thách thức</a:t>
            </a:r>
            <a:endParaRPr lang="en-US" sz="1300" dirty="0"/>
          </a:p>
        </p:txBody>
      </p:sp>
      <p:sp>
        <p:nvSpPr>
          <p:cNvPr id="20" name="Text 17"/>
          <p:cNvSpPr txBox="1"/>
          <p:nvPr/>
        </p:nvSpPr>
        <p:spPr>
          <a:xfrm>
            <a:off x="731520" y="4663440"/>
            <a:ext cx="7680960" cy="1371600"/>
          </a:xfrm>
          <a:prstGeom prst="rect">
            <a:avLst/>
          </a:prstGeom>
          <a:noFill/>
          <a:ln/>
        </p:spPr>
        <p:txBody>
          <a:bodyPr wrap="square" lIns="0" tIns="0" rIns="0" bIns="0" rtlCol="0" anchor="ctr"/>
          <a:lstStyle/>
          <a:p>
            <a:pPr indent="0" marL="0">
              <a:lnSpc>
                <a:spcPts val="1900"/>
              </a:lnSpc>
              <a:buNone/>
            </a:pPr>
            <a:r>
              <a:rPr lang="en-US" sz="1200" b="1" dirty="0">
                <a:solidFill>
                  <a:srgbClr val="1A1A1A"/>
                </a:solidFill>
                <a:latin typeface="Arial" pitchFamily="34" charset="0"/>
                <a:ea typeface="Arial" pitchFamily="34" charset="-122"/>
                <a:cs typeface="Arial" pitchFamily="34" charset="-120"/>
              </a:rPr>
              <a:t>Khoảng cách từ vựng</a:t>
            </a:r>
            <a:pPr indent="0" marL="0">
              <a:lnSpc>
                <a:spcPts val="1900"/>
              </a:lnSpc>
              <a:buNone/>
            </a:pPr>
            <a:r>
              <a:rPr lang="en-US" sz="1200" dirty="0">
                <a:solidFill>
                  <a:srgbClr val="1A1A1A"/>
                </a:solidFill>
                <a:latin typeface="Arial" pitchFamily="34" charset="0"/>
                <a:ea typeface="Arial" pitchFamily="34" charset="-122"/>
                <a:cs typeface="Arial" pitchFamily="34" charset="-120"/>
              </a:rPr>
              <a:t>: người dân dùng lời nói thường, luật dùng thuật ngữ</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Điều luật dài</a:t>
            </a:r>
            <a:pPr indent="0" marL="0">
              <a:lnSpc>
                <a:spcPts val="1900"/>
              </a:lnSpc>
              <a:buNone/>
            </a:pPr>
            <a:r>
              <a:rPr lang="en-US" sz="1200" dirty="0">
                <a:solidFill>
                  <a:srgbClr val="1A1A1A"/>
                </a:solidFill>
                <a:latin typeface="Arial" pitchFamily="34" charset="0"/>
                <a:ea typeface="Arial" pitchFamily="34" charset="-122"/>
                <a:cs typeface="Arial" pitchFamily="34" charset="-120"/>
              </a:rPr>
              <a:t>: trung vị 183 từ, dài nhất 55.368 từ, vượt xa trần của mô hình</a:t>
            </a:r>
            <a:endParaRPr lang="en-US" sz="1200" dirty="0"/>
          </a:p>
          <a:p>
            <a:pPr indent="0" marL="0">
              <a:lnSpc>
                <a:spcPts val="1900"/>
              </a:lnSpc>
              <a:buNone/>
            </a:pPr>
            <a:r>
              <a:rPr lang="en-US" sz="1200" b="1" dirty="0">
                <a:solidFill>
                  <a:srgbClr val="1A1A1A"/>
                </a:solidFill>
                <a:latin typeface="Arial" pitchFamily="34" charset="0"/>
                <a:ea typeface="Arial" pitchFamily="34" charset="-122"/>
                <a:cs typeface="Arial" pitchFamily="34" charset="-120"/>
              </a:rPr>
              <a:t>Dữ liệu công bố vẫn còn lỗi</a:t>
            </a:r>
            <a:pPr indent="0" marL="0">
              <a:lnSpc>
                <a:spcPts val="1900"/>
              </a:lnSpc>
              <a:buNone/>
            </a:pPr>
            <a:r>
              <a:rPr lang="en-US" sz="1200" dirty="0">
                <a:solidFill>
                  <a:srgbClr val="1A1A1A"/>
                </a:solidFill>
                <a:latin typeface="Arial" pitchFamily="34" charset="0"/>
                <a:ea typeface="Arial" pitchFamily="34" charset="-122"/>
                <a:cs typeface="Arial" pitchFamily="34" charset="-120"/>
              </a:rPr>
              <a:t>: phần sau sẽ chỉ ra sáu vấn đề đo được</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Dữ liệu: Zalo AI Challenge 2021</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4</a:t>
            </a:r>
            <a:endParaRPr lang="en-US" sz="1100" dirty="0"/>
          </a:p>
        </p:txBody>
      </p:sp>
      <p:sp>
        <p:nvSpPr>
          <p:cNvPr id="9" name="Text 6"/>
          <p:cNvSpPr txBox="1"/>
          <p:nvPr/>
        </p:nvSpPr>
        <p:spPr>
          <a:xfrm>
            <a:off x="502920" y="932688"/>
            <a:ext cx="8138160" cy="274320"/>
          </a:xfrm>
          <a:prstGeom prst="rect">
            <a:avLst/>
          </a:prstGeom>
          <a:noFill/>
          <a:ln/>
        </p:spPr>
        <p:txBody>
          <a:bodyPr wrap="square" lIns="0" tIns="0" rIns="0" bIns="0" rtlCol="0" anchor="ctr"/>
          <a:lstStyle/>
          <a:p>
            <a:pPr indent="0" marL="0">
              <a:buNone/>
            </a:pPr>
            <a:r>
              <a:rPr lang="en-US" sz="1150" i="1" dirty="0">
                <a:solidFill>
                  <a:srgbClr val="5A5A5A"/>
                </a:solidFill>
                <a:latin typeface="Arial" pitchFamily="34" charset="0"/>
                <a:ea typeface="Arial" pitchFamily="34" charset="-122"/>
                <a:cs typeface="Arial" pitchFamily="34" charset="-120"/>
              </a:rPr>
              <a:t>Nguồn: GreenNode/zalo-ai-legal-text-retrieval-vn, giấy phép MIT</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3931920" cy="914400"/>
        </p:xfrm>
        <a:graphic>
          <a:graphicData uri="http://schemas.openxmlformats.org/drawingml/2006/table">
            <a:tbl>
              <a:tblPr/>
              <a:tblGrid>
                <a:gridCol w="2606040"/>
                <a:gridCol w="1325880"/>
              </a:tblGrid>
              <a:tr h="38404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Thành phần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Số lượng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Điều luật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61.425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Văn bản quy phạm pháp luật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3.271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Câu hỏi (mã duy nhất)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3.196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Số đoạn sau khi chia</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154.176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709160" y="1298448"/>
          <a:ext cx="3931920" cy="914400"/>
        </p:xfrm>
        <a:graphic>
          <a:graphicData uri="http://schemas.openxmlformats.org/drawingml/2006/table">
            <a:tbl>
              <a:tblPr/>
              <a:tblGrid>
                <a:gridCol w="2606040"/>
                <a:gridCol w="1325880"/>
              </a:tblGrid>
              <a:tr h="38404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Độ dài điều luật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Số từ</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Trung vị</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Phân vị 90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592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Dài nhất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55.368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Tỷ lệ vượt 200 từ</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46,2 %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7"/>
          <p:cNvSpPr/>
          <p:nvPr/>
        </p:nvSpPr>
        <p:spPr>
          <a:xfrm>
            <a:off x="502920" y="3429000"/>
            <a:ext cx="8138160" cy="1051560"/>
          </a:xfrm>
          <a:prstGeom prst="roundRect">
            <a:avLst>
              <a:gd name="adj" fmla="val 5217"/>
            </a:avLst>
          </a:prstGeom>
          <a:solidFill>
            <a:srgbClr val="FDEDEC"/>
          </a:solidFill>
          <a:ln w="15875">
            <a:solidFill>
              <a:srgbClr val="C0392B"/>
            </a:solidFill>
            <a:prstDash val="solid"/>
          </a:ln>
        </p:spPr>
      </p:sp>
      <p:sp>
        <p:nvSpPr>
          <p:cNvPr id="13" name="Text 8"/>
          <p:cNvSpPr txBox="1"/>
          <p:nvPr/>
        </p:nvSpPr>
        <p:spPr>
          <a:xfrm>
            <a:off x="731520" y="352958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Dấu hiệu đầu tiên cho thấy phải kiểm toán lại</a:t>
            </a:r>
            <a:endParaRPr lang="en-US" sz="1250" dirty="0"/>
          </a:p>
        </p:txBody>
      </p:sp>
      <p:sp>
        <p:nvSpPr>
          <p:cNvPr id="14" name="Text 9"/>
          <p:cNvSpPr txBox="1"/>
          <p:nvPr/>
        </p:nvSpPr>
        <p:spPr>
          <a:xfrm>
            <a:off x="731520" y="3822192"/>
            <a:ext cx="7680960" cy="56692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Tệp câu hỏi có 3.298 dòng nhưng chỉ 3.196 mã duy nhất. 93 mã bị lặp dòng, tổng 195 dòng. Không mã nào mang hai nội dung khác nhau nên khử trùng an toàn.</a:t>
            </a:r>
            <a:endParaRPr lang="en-US" sz="1150" dirty="0"/>
          </a:p>
        </p:txBody>
      </p:sp>
      <p:sp>
        <p:nvSpPr>
          <p:cNvPr id="15" name="Shape 10"/>
          <p:cNvSpPr/>
          <p:nvPr/>
        </p:nvSpPr>
        <p:spPr>
          <a:xfrm>
            <a:off x="502920" y="4709160"/>
            <a:ext cx="8138160" cy="1463040"/>
          </a:xfrm>
          <a:prstGeom prst="roundRect">
            <a:avLst>
              <a:gd name="adj" fmla="val 3750"/>
            </a:avLst>
          </a:prstGeom>
          <a:solidFill>
            <a:srgbClr val="F4F8FC"/>
          </a:solidFill>
          <a:ln w="15875">
            <a:solidFill>
              <a:srgbClr val="2D75B6"/>
            </a:solidFill>
            <a:prstDash val="solid"/>
          </a:ln>
        </p:spPr>
      </p:sp>
      <p:sp>
        <p:nvSpPr>
          <p:cNvPr id="16" name="Text 11"/>
          <p:cNvSpPr txBox="1"/>
          <p:nvPr/>
        </p:nvSpPr>
        <p:spPr>
          <a:xfrm>
            <a:off x="731520" y="480974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Bộ gốc KHÔNG có tập validation</a:t>
            </a:r>
            <a:endParaRPr lang="en-US" sz="1250" dirty="0"/>
          </a:p>
        </p:txBody>
      </p:sp>
      <p:sp>
        <p:nvSpPr>
          <p:cNvPr id="17" name="Text 12"/>
          <p:cNvSpPr txBox="1"/>
          <p:nvPr/>
        </p:nvSpPr>
        <p:spPr>
          <a:xfrm>
            <a:off x="731520" y="5102352"/>
            <a:ext cx="7680960" cy="914400"/>
          </a:xfrm>
          <a:prstGeom prst="rect">
            <a:avLst/>
          </a:prstGeom>
          <a:noFill/>
          <a:ln/>
        </p:spPr>
        <p:txBody>
          <a:bodyPr wrap="square" lIns="0" tIns="0" rIns="0" bIns="0" rtlCol="0" anchor="t"/>
          <a:lstStyle/>
          <a:p>
            <a:pPr indent="0" marL="0">
              <a:lnSpc>
                <a:spcPts val="1700"/>
              </a:lnSpc>
              <a:buNone/>
            </a:pPr>
            <a:r>
              <a:rPr lang="en-US" sz="1150" dirty="0">
                <a:solidFill>
                  <a:srgbClr val="1A1A1A"/>
                </a:solidFill>
                <a:latin typeface="Arial" pitchFamily="34" charset="0"/>
                <a:ea typeface="Arial" pitchFamily="34" charset="-122"/>
                <a:cs typeface="Arial" pitchFamily="34" charset="-120"/>
              </a:rPr>
              <a:t>Không có val thì mọi tham số phải quét trên test, và con số công bố chính là con số đã chỉnh cho vừa test. Nhóm cắt val ra từ train, seed 42, chia theo câu hỏi chứ không theo cặp nhãn.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Kiểm toán: sáu vấn đề trong bộ đã công bố</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5</a:t>
            </a:r>
            <a:endParaRPr lang="en-US" sz="1100" dirty="0"/>
          </a:p>
        </p:txBody>
      </p:sp>
      <p:pic>
        <p:nvPicPr>
          <p:cNvPr id="9" name="Image 0" descr="img/audit_findings.png">    </p:cNvPr>
          <p:cNvPicPr>
            <a:picLocks noChangeAspect="1"/>
          </p:cNvPicPr>
          <p:nvPr/>
        </p:nvPicPr>
        <p:blipFill>
          <a:blip r:embed="rId1"/>
          <a:stretch>
            <a:fillRect/>
          </a:stretch>
        </p:blipFill>
        <p:spPr>
          <a:xfrm>
            <a:off x="502920" y="960120"/>
            <a:ext cx="8138160" cy="3703320"/>
          </a:xfrm>
          <a:prstGeom prst="rect">
            <a:avLst/>
          </a:prstGeom>
        </p:spPr>
      </p:pic>
      <p:sp>
        <p:nvSpPr>
          <p:cNvPr id="10" name="Shape 6"/>
          <p:cNvSpPr/>
          <p:nvPr/>
        </p:nvSpPr>
        <p:spPr>
          <a:xfrm>
            <a:off x="502920" y="4828032"/>
            <a:ext cx="3977640" cy="1371600"/>
          </a:xfrm>
          <a:prstGeom prst="roundRect">
            <a:avLst>
              <a:gd name="adj" fmla="val 4000"/>
            </a:avLst>
          </a:prstGeom>
          <a:solidFill>
            <a:srgbClr val="FDEDEC"/>
          </a:solidFill>
          <a:ln w="15875">
            <a:solidFill>
              <a:srgbClr val="C0392B"/>
            </a:solidFill>
            <a:prstDash val="solid"/>
          </a:ln>
        </p:spPr>
      </p:sp>
      <p:sp>
        <p:nvSpPr>
          <p:cNvPr id="11" name="Text 7"/>
          <p:cNvSpPr txBox="1"/>
          <p:nvPr/>
        </p:nvSpPr>
        <p:spPr>
          <a:xfrm>
            <a:off x="713232" y="4919472"/>
            <a:ext cx="3566160" cy="274320"/>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Rò rỉ giữa train và test</a:t>
            </a:r>
            <a:endParaRPr lang="en-US" sz="1200" dirty="0"/>
          </a:p>
        </p:txBody>
      </p:sp>
      <p:sp>
        <p:nvSpPr>
          <p:cNvPr id="12" name="Text 8"/>
          <p:cNvSpPr txBox="1"/>
          <p:nvPr/>
        </p:nvSpPr>
        <p:spPr>
          <a:xfrm>
            <a:off x="71323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26 câu hỏi xuất hiện ở cả hai tập.</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Đã loại khỏi train, giữ nguyên test.</a:t>
            </a:r>
            <a:endParaRPr lang="en-US" sz="1150" dirty="0"/>
          </a:p>
        </p:txBody>
      </p:sp>
      <p:sp>
        <p:nvSpPr>
          <p:cNvPr id="13" name="Shape 9"/>
          <p:cNvSpPr/>
          <p:nvPr/>
        </p:nvSpPr>
        <p:spPr>
          <a:xfrm>
            <a:off x="4663440" y="4828032"/>
            <a:ext cx="3977640" cy="1371600"/>
          </a:xfrm>
          <a:prstGeom prst="roundRect">
            <a:avLst>
              <a:gd name="adj" fmla="val 4000"/>
            </a:avLst>
          </a:prstGeom>
          <a:solidFill>
            <a:srgbClr val="FFF8F0"/>
          </a:solidFill>
          <a:ln w="15875">
            <a:solidFill>
              <a:srgbClr val="D68910"/>
            </a:solidFill>
            <a:prstDash val="solid"/>
          </a:ln>
        </p:spPr>
      </p:sp>
      <p:sp>
        <p:nvSpPr>
          <p:cNvPr id="14" name="Text 10"/>
          <p:cNvSpPr txBox="1"/>
          <p:nvPr/>
        </p:nvSpPr>
        <p:spPr>
          <a:xfrm>
            <a:off x="4873752" y="4919472"/>
            <a:ext cx="3566160" cy="274320"/>
          </a:xfrm>
          <a:prstGeom prst="rect">
            <a:avLst/>
          </a:prstGeom>
          <a:noFill/>
          <a:ln/>
        </p:spPr>
        <p:txBody>
          <a:bodyPr wrap="square" lIns="0" tIns="0" rIns="0" bIns="0" rtlCol="0" anchor="ctr"/>
          <a:lstStyle/>
          <a:p>
            <a:pPr indent="0" marL="0">
              <a:buNone/>
            </a:pPr>
            <a:r>
              <a:rPr lang="en-US" sz="1200" b="1" dirty="0">
                <a:solidFill>
                  <a:srgbClr val="B9770E"/>
                </a:solidFill>
                <a:latin typeface="Arial" pitchFamily="34" charset="0"/>
                <a:ea typeface="Arial" pitchFamily="34" charset="-122"/>
                <a:cs typeface="Arial" pitchFamily="34" charset="-120"/>
              </a:rPr>
              <a:t>Bốn văn bản bị tách đôi vì dấu</a:t>
            </a:r>
            <a:endParaRPr lang="en-US" sz="1200" dirty="0"/>
          </a:p>
        </p:txBody>
      </p:sp>
      <p:sp>
        <p:nvSpPr>
          <p:cNvPr id="15" name="Text 11"/>
          <p:cNvSpPr txBox="1"/>
          <p:nvPr/>
        </p:nvSpPr>
        <p:spPr>
          <a:xfrm>
            <a:off x="4873752" y="5212080"/>
            <a:ext cx="3566160" cy="82296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155/2020/nd-cp và 155/2020/nđ-cp là cùng một Nghị định.</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780 điều luật bị nhân đôi.</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Vấn đề nặng nhất: nhãn mâu thuẫn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6</a:t>
            </a:r>
            <a:endParaRPr lang="en-US" sz="1100" dirty="0"/>
          </a:p>
        </p:txBody>
      </p:sp>
      <p:sp>
        <p:nvSpPr>
          <p:cNvPr id="9" name="Text 6"/>
          <p:cNvSpPr txBox="1"/>
          <p:nvPr/>
        </p:nvSpPr>
        <p:spPr>
          <a:xfrm>
            <a:off x="502920" y="932688"/>
            <a:ext cx="8138160" cy="310896"/>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Cả 24 trên 24 câu hỏi chồng lấn đều có gold ở train KHÁC gold ở test</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353312"/>
          <a:ext cx="8138160" cy="914400"/>
        </p:xfrm>
        <a:graphic>
          <a:graphicData uri="http://schemas.openxmlformats.org/drawingml/2006/table">
            <a:tbl>
              <a:tblPr/>
              <a:tblGrid>
                <a:gridCol w="3931920"/>
                <a:gridCol w="2103120"/>
                <a:gridCol w="210312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Câu hỏi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Gold ở 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Gold ở 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Bị thương tật 25%, cơ quan nhà nước có khởi tố không?</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12/2017/qh14+1</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101/2015/qh13+155</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Tiêu chí xác định thương nhân áp dụng chế độ Luồng Đỏ được q</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31/2018/nđ-cp+29</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15/2018/tt-bct+6</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57200">
                <a:tc>
                  <a:txBody>
                    <a:bodyPr/>
                    <a:lstStyle/>
                    <a:p>
                      <a:pPr indent="0" marL="0">
                        <a:buNone/>
                      </a:pPr>
                      <a:r>
                        <a:rPr lang="en-US" sz="1050" dirty="0">
                          <a:solidFill>
                            <a:srgbClr val="1A1A1A"/>
                          </a:solidFill>
                          <a:latin typeface="Arial" pitchFamily="34" charset="0"/>
                          <a:ea typeface="Arial" pitchFamily="34" charset="-122"/>
                          <a:cs typeface="Arial" pitchFamily="34" charset="-120"/>
                        </a:rPr>
                        <a:t>Đi trường giáo dưỡng được gọi điện thoại về nhà 5 phút/lần đ</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2D75B6"/>
                          </a:solidFill>
                          <a:latin typeface="Arial" pitchFamily="34" charset="0"/>
                          <a:ea typeface="Arial" pitchFamily="34" charset="-122"/>
                          <a:cs typeface="Arial" pitchFamily="34" charset="-120"/>
                        </a:rPr>
                        <a:t>43/2015/tt-bca+2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050" dirty="0">
                          <a:solidFill>
                            <a:srgbClr val="D68910"/>
                          </a:solidFill>
                          <a:latin typeface="Arial" pitchFamily="34" charset="0"/>
                          <a:ea typeface="Arial" pitchFamily="34" charset="-122"/>
                          <a:cs typeface="Arial" pitchFamily="34" charset="-120"/>
                        </a:rPr>
                        <a:t>43/2015/tt-bca+12</a:t>
                      </a:r>
                      <a:endParaRPr lang="en-US" sz="10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7"/>
          <p:cNvSpPr/>
          <p:nvPr/>
        </p:nvSpPr>
        <p:spPr>
          <a:xfrm>
            <a:off x="502920" y="3246120"/>
            <a:ext cx="8138160" cy="1234440"/>
          </a:xfrm>
          <a:prstGeom prst="roundRect">
            <a:avLst>
              <a:gd name="adj" fmla="val 4444"/>
            </a:avLst>
          </a:prstGeom>
          <a:solidFill>
            <a:srgbClr val="F4F8FC"/>
          </a:solidFill>
          <a:ln w="15875">
            <a:solidFill>
              <a:srgbClr val="2D75B6"/>
            </a:solidFill>
            <a:prstDash val="solid"/>
          </a:ln>
        </p:spPr>
      </p:sp>
      <p:sp>
        <p:nvSpPr>
          <p:cNvPr id="12" name="Text 8"/>
          <p:cNvSpPr txBox="1"/>
          <p:nvPr/>
        </p:nvSpPr>
        <p:spPr>
          <a:xfrm>
            <a:off x="731520" y="3346704"/>
            <a:ext cx="76809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Giống hệt sự cố ở đồ án trước của nhóm</a:t>
            </a:r>
            <a:endParaRPr lang="en-US" sz="1250" dirty="0"/>
          </a:p>
        </p:txBody>
      </p:sp>
      <p:sp>
        <p:nvSpPr>
          <p:cNvPr id="13" name="Text 9"/>
          <p:cNvSpPr txBox="1"/>
          <p:nvPr/>
        </p:nvSpPr>
        <p:spPr>
          <a:xfrm>
            <a:off x="731520" y="3639312"/>
            <a:ext cx="7680960" cy="749808"/>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Ba ảnh cùng một chiếc lá sầu riêng mang hai nhãn bệnh khác nhau. Khác biệt: một chiếc lá chỉ có một đáp án đúng, còn một câu hỏi pháp luật thật sự có thể được trả lời bởi nhiều điều luật.</a:t>
            </a:r>
            <a:endParaRPr lang="en-US" sz="1150" dirty="0"/>
          </a:p>
        </p:txBody>
      </p:sp>
      <p:sp>
        <p:nvSpPr>
          <p:cNvPr id="14" name="Shape 10"/>
          <p:cNvSpPr/>
          <p:nvPr/>
        </p:nvSpPr>
        <p:spPr>
          <a:xfrm>
            <a:off x="502920" y="4663440"/>
            <a:ext cx="8138160" cy="1508760"/>
          </a:xfrm>
          <a:prstGeom prst="roundRect">
            <a:avLst>
              <a:gd name="adj" fmla="val 3636"/>
            </a:avLst>
          </a:prstGeom>
          <a:solidFill>
            <a:srgbClr val="FDEDEC"/>
          </a:solidFill>
          <a:ln w="15875">
            <a:solidFill>
              <a:srgbClr val="C0392B"/>
            </a:solidFill>
            <a:prstDash val="solid"/>
          </a:ln>
        </p:spPr>
      </p:sp>
      <p:sp>
        <p:nvSpPr>
          <p:cNvPr id="15" name="Text 11"/>
          <p:cNvSpPr txBox="1"/>
          <p:nvPr/>
        </p:nvSpPr>
        <p:spPr>
          <a:xfrm>
            <a:off x="731520" y="476402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Hệ quả phải nói rõ trong báo cáo</a:t>
            </a:r>
            <a:endParaRPr lang="en-US" sz="1250" dirty="0"/>
          </a:p>
        </p:txBody>
      </p:sp>
      <p:sp>
        <p:nvSpPr>
          <p:cNvPr id="16" name="Text 12"/>
          <p:cNvSpPr txBox="1"/>
          <p:nvPr/>
        </p:nvSpPr>
        <p:spPr>
          <a:xfrm>
            <a:off x="731520" y="5056632"/>
            <a:ext cx="7680960" cy="100584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Bộ nhãn không đầy đủ. Mọi con số Recall công bố ở đây đều là </a:t>
            </a:r>
            <a:pPr indent="0" marL="0">
              <a:lnSpc>
                <a:spcPts val="1600"/>
              </a:lnSpc>
              <a:buNone/>
            </a:pPr>
            <a:r>
              <a:rPr lang="en-US" sz="1150" b="1" dirty="0">
                <a:solidFill>
                  <a:srgbClr val="1A1A1A"/>
                </a:solidFill>
                <a:latin typeface="Arial" pitchFamily="34" charset="0"/>
                <a:ea typeface="Arial" pitchFamily="34" charset="-122"/>
                <a:cs typeface="Arial" pitchFamily="34" charset="-120"/>
              </a:rPr>
              <a:t>cận dưới</a:t>
            </a:r>
            <a:pPr indent="0" marL="0">
              <a:lnSpc>
                <a:spcPts val="1600"/>
              </a:lnSpc>
              <a:buNone/>
            </a:pPr>
            <a:r>
              <a:rPr lang="en-US" sz="1150" dirty="0">
                <a:solidFill>
                  <a:srgbClr val="1A1A1A"/>
                </a:solidFill>
                <a:latin typeface="Arial" pitchFamily="34" charset="0"/>
                <a:ea typeface="Arial" pitchFamily="34" charset="-122"/>
                <a:cs typeface="Arial" pitchFamily="34" charset="-120"/>
              </a:rPr>
              <a:t>.</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Hệ có thể trả về một điều luật đúng mà vẫn bị chấm sai, chỉ vì người gán nhãn không liệt kê điều đó.</a:t>
            </a:r>
            <a:endParaRPr lang="en-US" sz="1150" dirty="0"/>
          </a:p>
          <a:p>
            <a:pPr indent="0" marL="0">
              <a:lnSpc>
                <a:spcPts val="1600"/>
              </a:lnSpc>
              <a:buNone/>
            </a:pPr>
            <a:r>
              <a:rPr lang="en-US" sz="1150" dirty="0">
                <a:solidFill>
                  <a:srgbClr val="1A1A1A"/>
                </a:solidFill>
                <a:latin typeface="Arial" pitchFamily="34" charset="0"/>
                <a:ea typeface="Arial" pitchFamily="34" charset="-122"/>
                <a:cs typeface="Arial" pitchFamily="34" charset="-120"/>
              </a:rPr>
              <a:t>Cách xử lý: tập test giữ NGUYÊN VẸN 793 cặp của ban tổ chức, không tự sửa nhãn.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Chia lại tập và mô hình đã thấy trước dữ liệu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7</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8138160" cy="914400"/>
        </p:xfrm>
        <a:graphic>
          <a:graphicData uri="http://schemas.openxmlformats.org/drawingml/2006/table">
            <a:tbl>
              <a:tblPr/>
              <a:tblGrid>
                <a:gridCol w="1188720"/>
                <a:gridCol w="1371600"/>
                <a:gridCol w="1371600"/>
                <a:gridCol w="4206240"/>
              </a:tblGrid>
              <a:tr h="38404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Tập</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Câu hỏi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Cặp nhãn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Ghi chú</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train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1.925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1.986</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đã loại 26 câu rò rỉ</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dirty="0">
                          <a:solidFill>
                            <a:srgbClr val="1A1A1A"/>
                          </a:solidFill>
                          <a:latin typeface="Arial" pitchFamily="34" charset="0"/>
                          <a:ea typeface="Arial" pitchFamily="34" charset="-122"/>
                          <a:cs typeface="Arial" pitchFamily="34" charset="-120"/>
                        </a:rPr>
                        <a:t>val</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481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cắt từ train, seed 42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1A1A1A"/>
                          </a:solidFill>
                          <a:latin typeface="Arial" pitchFamily="34" charset="0"/>
                          <a:ea typeface="Arial" pitchFamily="34" charset="-122"/>
                          <a:cs typeface="Arial" pitchFamily="34" charset="-120"/>
                        </a:rPr>
                        <a:t>test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788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A1A1A"/>
                          </a:solidFill>
                          <a:latin typeface="Arial" pitchFamily="34" charset="0"/>
                          <a:ea typeface="Arial" pitchFamily="34" charset="-122"/>
                          <a:cs typeface="Arial" pitchFamily="34" charset="-120"/>
                        </a:rPr>
                        <a:t>793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1E7A4B"/>
                          </a:solidFill>
                          <a:latin typeface="Arial" pitchFamily="34" charset="0"/>
                          <a:ea typeface="Arial" pitchFamily="34" charset="-122"/>
                          <a:cs typeface="Arial" pitchFamily="34" charset="-120"/>
                        </a:rPr>
                        <a:t>nguyên vẹn của ban tổ chức</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697480"/>
            <a:ext cx="8138160" cy="2148840"/>
          </a:xfrm>
          <a:prstGeom prst="roundRect">
            <a:avLst>
              <a:gd name="adj" fmla="val 2553"/>
            </a:avLst>
          </a:prstGeom>
          <a:solidFill>
            <a:srgbClr val="FDEDEC"/>
          </a:solidFill>
          <a:ln w="15875">
            <a:solidFill>
              <a:srgbClr val="C0392B"/>
            </a:solidFill>
            <a:prstDash val="solid"/>
          </a:ln>
        </p:spPr>
      </p:sp>
      <p:sp>
        <p:nvSpPr>
          <p:cNvPr id="11" name="Text 7"/>
          <p:cNvSpPr txBox="1"/>
          <p:nvPr/>
        </p:nvSpPr>
        <p:spPr>
          <a:xfrm>
            <a:off x="731520" y="2798064"/>
            <a:ext cx="7680960" cy="292608"/>
          </a:xfrm>
          <a:prstGeom prst="rect">
            <a:avLst/>
          </a:prstGeom>
          <a:noFill/>
          <a:ln/>
        </p:spPr>
        <p:txBody>
          <a:bodyPr wrap="square" lIns="0" tIns="0" rIns="0" bIns="0" rtlCol="0" anchor="ctr"/>
          <a:lstStyle/>
          <a:p>
            <a:pPr indent="0" marL="0">
              <a:buNone/>
            </a:pPr>
            <a:r>
              <a:rPr lang="en-US" sz="1350" b="1" dirty="0">
                <a:solidFill>
                  <a:srgbClr val="C0392B"/>
                </a:solidFill>
                <a:latin typeface="Arial" pitchFamily="34" charset="0"/>
                <a:ea typeface="Arial" pitchFamily="34" charset="-122"/>
                <a:cs typeface="Arial" pitchFamily="34" charset="-120"/>
              </a:rPr>
              <a:t>Rò rỉ không chỉ nằm trong dữ liệu, mà nằm trong cả mô hình</a:t>
            </a:r>
            <a:endParaRPr lang="en-US" sz="1350" dirty="0"/>
          </a:p>
        </p:txBody>
      </p:sp>
      <p:sp>
        <p:nvSpPr>
          <p:cNvPr id="12" name="Text 8"/>
          <p:cNvSpPr txBox="1"/>
          <p:nvPr/>
        </p:nvSpPr>
        <p:spPr>
          <a:xfrm>
            <a:off x="731520" y="3145536"/>
            <a:ext cx="7680960" cy="160020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Consolas" pitchFamily="34" charset="0"/>
                <a:ea typeface="Consolas" pitchFamily="34" charset="-122"/>
                <a:cs typeface="Consolas" pitchFamily="34" charset="-120"/>
              </a:rPr>
              <a:t>bkai-foundation-models/vietnamese-bi-encoder</a:t>
            </a:r>
            <a:pPr indent="0" marL="0">
              <a:lnSpc>
                <a:spcPts val="1700"/>
              </a:lnSpc>
              <a:buNone/>
            </a:pPr>
            <a:r>
              <a:rPr lang="en-US" sz="1150" dirty="0">
                <a:solidFill>
                  <a:srgbClr val="1A1A1A"/>
                </a:solidFill>
                <a:latin typeface="Arial" pitchFamily="34" charset="0"/>
                <a:ea typeface="Arial" pitchFamily="34" charset="-122"/>
                <a:cs typeface="Arial" pitchFamily="34" charset="-120"/>
              </a:rPr>
              <a:t>, model card ghi rõ:</a:t>
            </a:r>
            <a:endParaRPr lang="en-US" sz="1150" dirty="0"/>
          </a:p>
          <a:p>
            <a:pPr indent="0" marL="0">
              <a:lnSpc>
                <a:spcPts val="1700"/>
              </a:lnSpc>
              <a:buNone/>
            </a:pPr>
            <a:r>
              <a:rPr lang="en-US" sz="1150" i="1" dirty="0">
                <a:solidFill>
                  <a:srgbClr val="C0392B"/>
                </a:solidFill>
                <a:latin typeface="Arial" pitchFamily="34" charset="0"/>
                <a:ea typeface="Arial" pitchFamily="34" charset="-122"/>
                <a:cs typeface="Arial" pitchFamily="34" charset="-120"/>
              </a:rPr>
              <a:t>  “80% of the training set from the Legal Text Retrieval Zalo 2021 challenge”</a:t>
            </a:r>
            <a:endParaRPr lang="en-US" sz="1150" dirty="0"/>
          </a:p>
          <a:p>
            <a:pPr indent="0" marL="0">
              <a:lnSpc>
                <a:spcPts val="1700"/>
              </a:lnSpc>
              <a:buNone/>
            </a:pPr>
            <a:r>
              <a:rPr lang="en-US" sz="1150" dirty="0">
                <a:solidFill>
                  <a:srgbClr val="1A1A1A"/>
                </a:solidFill>
                <a:latin typeface="Arial" pitchFamily="34" charset="0"/>
                <a:ea typeface="Arial" pitchFamily="34" charset="-122"/>
                <a:cs typeface="Arial" pitchFamily="34" charset="-120"/>
              </a:rPr>
              <a:t>Tập test của đồ án lại cắt ra từ đúng tập train đó, nên mô hình đã nhìn thấy phần lớn câu hỏi test </a:t>
            </a:r>
            <a:pPr indent="0" marL="0">
              <a:lnSpc>
                <a:spcPts val="1700"/>
              </a:lnSpc>
              <a:buNone/>
            </a:pPr>
            <a:r>
              <a:rPr lang="en-US" sz="1150" b="1" dirty="0">
                <a:solidFill>
                  <a:srgbClr val="1A1A1A"/>
                </a:solidFill>
                <a:latin typeface="Arial" pitchFamily="34" charset="0"/>
                <a:ea typeface="Arial" pitchFamily="34" charset="-122"/>
                <a:cs typeface="Arial" pitchFamily="34" charset="-120"/>
              </a:rPr>
              <a:t>kèm nhãn đúng</a:t>
            </a:r>
            <a:pPr indent="0" marL="0">
              <a:lnSpc>
                <a:spcPts val="1700"/>
              </a:lnSpc>
              <a:buNone/>
            </a:pPr>
            <a:r>
              <a:rPr lang="en-US" sz="1150" dirty="0">
                <a:solidFill>
                  <a:srgbClr val="1A1A1A"/>
                </a:solidFill>
                <a:latin typeface="Arial" pitchFamily="34" charset="0"/>
                <a:ea typeface="Arial" pitchFamily="34" charset="-122"/>
                <a:cs typeface="Arial" pitchFamily="34" charset="-120"/>
              </a:rPr>
              <a:t>. Gọi nó là zero-shot là sai.</a:t>
            </a:r>
            <a:endParaRPr lang="en-US" sz="1150" dirty="0"/>
          </a:p>
        </p:txBody>
      </p:sp>
      <p:sp>
        <p:nvSpPr>
          <p:cNvPr id="13" name="Shape 9"/>
          <p:cNvSpPr/>
          <p:nvPr/>
        </p:nvSpPr>
        <p:spPr>
          <a:xfrm>
            <a:off x="502920" y="4983480"/>
            <a:ext cx="8138160" cy="1188720"/>
          </a:xfrm>
          <a:prstGeom prst="roundRect">
            <a:avLst>
              <a:gd name="adj" fmla="val 4615"/>
            </a:avLst>
          </a:prstGeom>
          <a:solidFill>
            <a:srgbClr val="EAF6EE"/>
          </a:solidFill>
          <a:ln w="15875">
            <a:solidFill>
              <a:srgbClr val="1E7A4B"/>
            </a:solidFill>
            <a:prstDash val="solid"/>
          </a:ln>
        </p:spPr>
      </p:sp>
      <p:sp>
        <p:nvSpPr>
          <p:cNvPr id="14" name="Text 10"/>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Cách xử lý</a:t>
            </a:r>
            <a:endParaRPr lang="en-US" sz="1250" dirty="0"/>
          </a:p>
        </p:txBody>
      </p:sp>
      <p:sp>
        <p:nvSpPr>
          <p:cNvPr id="15" name="Text 11"/>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Dùng AITeamVN/Vietnamese_Embedding làm mô hình SẠCH cho con số chính thức, vì model card ghi “Our model was not trained on this dataset”. bkai vẫn công bố nhưng gắn nhãn nhiễm bẩn.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Kiến trúc ba tầng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8</a:t>
            </a:r>
            <a:endParaRPr lang="en-US" sz="1100" dirty="0"/>
          </a:p>
        </p:txBody>
      </p:sp>
      <p:pic>
        <p:nvPicPr>
          <p:cNvPr id="9" name="Image 0" descr="img/architecture.png">    </p:cNvPr>
          <p:cNvPicPr>
            <a:picLocks noChangeAspect="1"/>
          </p:cNvPicPr>
          <p:nvPr/>
        </p:nvPicPr>
        <p:blipFill>
          <a:blip r:embed="rId1"/>
          <a:stretch>
            <a:fillRect/>
          </a:stretch>
        </p:blipFill>
        <p:spPr>
          <a:xfrm>
            <a:off x="320040" y="1051560"/>
            <a:ext cx="8503920" cy="3657600"/>
          </a:xfrm>
          <a:prstGeom prst="rect">
            <a:avLst/>
          </a:prstGeom>
        </p:spPr>
      </p:pic>
      <p:sp>
        <p:nvSpPr>
          <p:cNvPr id="10" name="Shape 6"/>
          <p:cNvSpPr/>
          <p:nvPr/>
        </p:nvSpPr>
        <p:spPr>
          <a:xfrm>
            <a:off x="502920" y="4846320"/>
            <a:ext cx="2606040" cy="1325880"/>
          </a:xfrm>
          <a:prstGeom prst="roundRect">
            <a:avLst>
              <a:gd name="adj" fmla="val 4138"/>
            </a:avLst>
          </a:prstGeom>
          <a:solidFill>
            <a:srgbClr val="F4F8FC"/>
          </a:solidFill>
          <a:ln w="15875">
            <a:solidFill>
              <a:srgbClr val="2D75B6"/>
            </a:solidFill>
            <a:prstDash val="solid"/>
          </a:ln>
        </p:spPr>
      </p:sp>
      <p:sp>
        <p:nvSpPr>
          <p:cNvPr id="11" name="Text 7"/>
          <p:cNvSpPr txBox="1"/>
          <p:nvPr/>
        </p:nvSpPr>
        <p:spPr>
          <a:xfrm>
            <a:off x="685800" y="4937760"/>
            <a:ext cx="2286000" cy="256032"/>
          </a:xfrm>
          <a:prstGeom prst="rect">
            <a:avLst/>
          </a:prstGeom>
          <a:noFill/>
          <a:ln/>
        </p:spPr>
        <p:txBody>
          <a:bodyPr wrap="square" lIns="0" tIns="0" rIns="0" bIns="0" rtlCol="0" anchor="ctr"/>
          <a:lstStyle/>
          <a:p>
            <a:pPr indent="0" marL="0">
              <a:buNone/>
            </a:pPr>
            <a:r>
              <a:rPr lang="en-US" sz="1150" b="1" dirty="0">
                <a:solidFill>
                  <a:srgbClr val="2D75B6"/>
                </a:solidFill>
                <a:latin typeface="Arial" pitchFamily="34" charset="0"/>
                <a:ea typeface="Arial" pitchFamily="34" charset="-122"/>
                <a:cs typeface="Arial" pitchFamily="34" charset="-120"/>
              </a:rPr>
              <a:t>Tách từ tiếng Việt</a:t>
            </a:r>
            <a:endParaRPr lang="en-US" sz="1150" dirty="0"/>
          </a:p>
        </p:txBody>
      </p:sp>
      <p:sp>
        <p:nvSpPr>
          <p:cNvPr id="12" name="Text 8"/>
          <p:cNvSpPr txBox="1"/>
          <p:nvPr/>
        </p:nvSpPr>
        <p:spPr>
          <a:xfrm>
            <a:off x="685800"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“bằng lái xe” là một khái niệm, không phải ba từ rời</a:t>
            </a:r>
            <a:endParaRPr lang="en-US" sz="1050" dirty="0"/>
          </a:p>
        </p:txBody>
      </p:sp>
      <p:sp>
        <p:nvSpPr>
          <p:cNvPr id="13" name="Shape 9"/>
          <p:cNvSpPr/>
          <p:nvPr/>
        </p:nvSpPr>
        <p:spPr>
          <a:xfrm>
            <a:off x="3273552" y="4846320"/>
            <a:ext cx="2606040" cy="1325880"/>
          </a:xfrm>
          <a:prstGeom prst="roundRect">
            <a:avLst>
              <a:gd name="adj" fmla="val 4138"/>
            </a:avLst>
          </a:prstGeom>
          <a:solidFill>
            <a:srgbClr val="FFF8F0"/>
          </a:solidFill>
          <a:ln w="15875">
            <a:solidFill>
              <a:srgbClr val="D68910"/>
            </a:solidFill>
            <a:prstDash val="solid"/>
          </a:ln>
        </p:spPr>
      </p:sp>
      <p:sp>
        <p:nvSpPr>
          <p:cNvPr id="14" name="Text 10"/>
          <p:cNvSpPr txBox="1"/>
          <p:nvPr/>
        </p:nvSpPr>
        <p:spPr>
          <a:xfrm>
            <a:off x="3456432" y="4937760"/>
            <a:ext cx="2286000" cy="256032"/>
          </a:xfrm>
          <a:prstGeom prst="rect">
            <a:avLst/>
          </a:prstGeom>
          <a:noFill/>
          <a:ln/>
        </p:spPr>
        <p:txBody>
          <a:bodyPr wrap="square" lIns="0" tIns="0" rIns="0" bIns="0" rtlCol="0" anchor="ctr"/>
          <a:lstStyle/>
          <a:p>
            <a:pPr indent="0" marL="0">
              <a:buNone/>
            </a:pPr>
            <a:r>
              <a:rPr lang="en-US" sz="1150" b="1" dirty="0">
                <a:solidFill>
                  <a:srgbClr val="B9770E"/>
                </a:solidFill>
                <a:latin typeface="Arial" pitchFamily="34" charset="0"/>
                <a:ea typeface="Arial" pitchFamily="34" charset="-122"/>
                <a:cs typeface="Arial" pitchFamily="34" charset="-120"/>
              </a:rPr>
              <a:t>Gộp đoạn bằng max</a:t>
            </a:r>
            <a:endParaRPr lang="en-US" sz="1150" dirty="0"/>
          </a:p>
        </p:txBody>
      </p:sp>
      <p:sp>
        <p:nvSpPr>
          <p:cNvPr id="15" name="Text 11"/>
          <p:cNvSpPr txBox="1"/>
          <p:nvPr/>
        </p:nvSpPr>
        <p:spPr>
          <a:xfrm>
            <a:off x="3456432"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Đo trên val: max 0,9563 so với mean 0,9127</a:t>
            </a:r>
            <a:endParaRPr lang="en-US" sz="1050" dirty="0"/>
          </a:p>
        </p:txBody>
      </p:sp>
      <p:sp>
        <p:nvSpPr>
          <p:cNvPr id="16" name="Shape 12"/>
          <p:cNvSpPr/>
          <p:nvPr/>
        </p:nvSpPr>
        <p:spPr>
          <a:xfrm>
            <a:off x="6044184" y="4846320"/>
            <a:ext cx="2606040" cy="1325880"/>
          </a:xfrm>
          <a:prstGeom prst="roundRect">
            <a:avLst>
              <a:gd name="adj" fmla="val 4138"/>
            </a:avLst>
          </a:prstGeom>
          <a:solidFill>
            <a:srgbClr val="EAF6EE"/>
          </a:solidFill>
          <a:ln w="15875">
            <a:solidFill>
              <a:srgbClr val="1E7A4B"/>
            </a:solidFill>
            <a:prstDash val="solid"/>
          </a:ln>
        </p:spPr>
      </p:sp>
      <p:sp>
        <p:nvSpPr>
          <p:cNvPr id="17" name="Text 13"/>
          <p:cNvSpPr txBox="1"/>
          <p:nvPr/>
        </p:nvSpPr>
        <p:spPr>
          <a:xfrm>
            <a:off x="6227064" y="4937760"/>
            <a:ext cx="2286000" cy="256032"/>
          </a:xfrm>
          <a:prstGeom prst="rect">
            <a:avLst/>
          </a:prstGeom>
          <a:noFill/>
          <a:ln/>
        </p:spPr>
        <p:txBody>
          <a:bodyPr wrap="square" lIns="0" tIns="0" rIns="0" bIns="0" rtlCol="0" anchor="ctr"/>
          <a:lstStyle/>
          <a:p>
            <a:pPr indent="0" marL="0">
              <a:buNone/>
            </a:pPr>
            <a:r>
              <a:rPr lang="en-US" sz="1150" b="1" dirty="0">
                <a:solidFill>
                  <a:srgbClr val="1E7A4B"/>
                </a:solidFill>
                <a:latin typeface="Arial" pitchFamily="34" charset="0"/>
                <a:ea typeface="Arial" pitchFamily="34" charset="-122"/>
                <a:cs typeface="Arial" pitchFamily="34" charset="-120"/>
              </a:rPr>
              <a:t>Tham số chốt trên val</a:t>
            </a:r>
            <a:endParaRPr lang="en-US" sz="1150" dirty="0"/>
          </a:p>
        </p:txBody>
      </p:sp>
      <p:sp>
        <p:nvSpPr>
          <p:cNvPr id="18" name="Text 14"/>
          <p:cNvSpPr txBox="1"/>
          <p:nvPr/>
        </p:nvSpPr>
        <p:spPr>
          <a:xfrm>
            <a:off x="6227064" y="5212080"/>
            <a:ext cx="2286000" cy="822960"/>
          </a:xfrm>
          <a:prstGeom prst="rect">
            <a:avLst/>
          </a:prstGeom>
          <a:noFill/>
          <a:ln/>
        </p:spPr>
        <p:txBody>
          <a:bodyPr wrap="square" lIns="0" tIns="0" rIns="0" bIns="0" rtlCol="0" anchor="t"/>
          <a:lstStyle/>
          <a:p>
            <a:pPr indent="0" marL="0">
              <a:lnSpc>
                <a:spcPts val="1400"/>
              </a:lnSpc>
              <a:buNone/>
            </a:pPr>
            <a:r>
              <a:rPr lang="en-US" sz="1050" dirty="0">
                <a:solidFill>
                  <a:srgbClr val="1A1A1A"/>
                </a:solidFill>
                <a:latin typeface="Arial" pitchFamily="34" charset="0"/>
                <a:ea typeface="Arial" pitchFamily="34" charset="-122"/>
                <a:cs typeface="Arial" pitchFamily="34" charset="-120"/>
              </a:rPr>
              <a:t>k1 = 0,6, b = 0,90, alpha = 0,75. Test chỉ chạy một lần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Vì sao bắt buộc phải chia đoạn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9</a:t>
            </a:r>
            <a:endParaRPr lang="en-US" sz="1100" dirty="0"/>
          </a:p>
        </p:txBody>
      </p:sp>
      <p:pic>
        <p:nvPicPr>
          <p:cNvPr id="9" name="Image 0" descr="img/chunk_need.png">    </p:cNvPr>
          <p:cNvPicPr>
            <a:picLocks noChangeAspect="1"/>
          </p:cNvPicPr>
          <p:nvPr/>
        </p:nvPicPr>
        <p:blipFill>
          <a:blip r:embed="rId1"/>
          <a:stretch>
            <a:fillRect/>
          </a:stretch>
        </p:blipFill>
        <p:spPr>
          <a:xfrm>
            <a:off x="502920" y="960120"/>
            <a:ext cx="8138160" cy="3886200"/>
          </a:xfrm>
          <a:prstGeom prst="rect">
            <a:avLst/>
          </a:prstGeom>
        </p:spPr>
      </p:pic>
      <p:sp>
        <p:nvSpPr>
          <p:cNvPr id="10" name="Shape 6"/>
          <p:cNvSpPr/>
          <p:nvPr/>
        </p:nvSpPr>
        <p:spPr>
          <a:xfrm>
            <a:off x="502920" y="4983480"/>
            <a:ext cx="8138160" cy="1188720"/>
          </a:xfrm>
          <a:prstGeom prst="roundRect">
            <a:avLst>
              <a:gd name="adj" fmla="val 4615"/>
            </a:avLst>
          </a:prstGeom>
          <a:solidFill>
            <a:srgbClr val="FFF8F0"/>
          </a:solidFill>
          <a:ln w="15875">
            <a:solidFill>
              <a:srgbClr val="D68910"/>
            </a:solidFill>
            <a:prstDash val="solid"/>
          </a:ln>
        </p:spPr>
      </p:sp>
      <p:sp>
        <p:nvSpPr>
          <p:cNvPr id="11" name="Text 7"/>
          <p:cNvSpPr txBox="1"/>
          <p:nvPr/>
        </p:nvSpPr>
        <p:spPr>
          <a:xfrm>
            <a:off x="731520" y="5074920"/>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Cách cắt</a:t>
            </a:r>
            <a:endParaRPr lang="en-US" sz="1250" dirty="0"/>
          </a:p>
        </p:txBody>
      </p:sp>
      <p:sp>
        <p:nvSpPr>
          <p:cNvPr id="12" name="Text 8"/>
          <p:cNvSpPr txBox="1"/>
          <p:nvPr/>
        </p:nvSpPr>
        <p:spPr>
          <a:xfrm>
            <a:off x="731520" y="5358384"/>
            <a:ext cx="7680960" cy="731520"/>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Cắt theo ranh giới khoản trước, chỉ trượt cửa sổ khi một khoản tự nó quá dài. Mỗi đoạn đều mang tiêu đề điều. Kết quả: 61.425 điều thành 154.176 đoạn, trung bình 2,51 đoạn mỗi điều.</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quả trên tập test</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10</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84048" y="987552"/>
          <a:ext cx="8375904" cy="914400"/>
        </p:xfrm>
        <a:graphic>
          <a:graphicData uri="http://schemas.openxmlformats.org/drawingml/2006/table">
            <a:tbl>
              <a:tblPr/>
              <a:tblGrid>
                <a:gridCol w="2889504"/>
                <a:gridCol w="1005840"/>
                <a:gridCol w="1005840"/>
                <a:gridCol w="1097280"/>
                <a:gridCol w="1097280"/>
                <a:gridCol w="1280160"/>
              </a:tblGrid>
              <a:tr h="438912">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Hệ thống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R@1</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MRR@10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nDCG@10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Độ trễ</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0,4740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0,8522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0,6025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0,6625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0,7811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0,9721</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0,8595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0,8869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351,5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b="1" dirty="0">
                          <a:solidFill>
                            <a:srgbClr val="1A1A1A"/>
                          </a:solidFill>
                          <a:latin typeface="Arial" pitchFamily="34" charset="0"/>
                          <a:ea typeface="Arial" pitchFamily="34" charset="-122"/>
                          <a:cs typeface="Arial" pitchFamily="34" charset="-120"/>
                        </a:rPr>
                        <a:t>Trọng số (BM25 +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0,7824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A1A1A"/>
                          </a:solidFill>
                          <a:latin typeface="Arial" pitchFamily="34" charset="0"/>
                          <a:ea typeface="Arial" pitchFamily="34" charset="-122"/>
                          <a:cs typeface="Arial" pitchFamily="34" charset="-120"/>
                        </a:rPr>
                        <a:t>0,9772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0,8619</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0,8900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A1A1A"/>
                          </a:solidFill>
                          <a:latin typeface="Arial" pitchFamily="34" charset="0"/>
                          <a:ea typeface="Arial" pitchFamily="34" charset="-122"/>
                          <a:cs typeface="Arial" pitchFamily="34" charset="-120"/>
                        </a:rPr>
                        <a:t>352,0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Ngữ nghĩa bkai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0,8204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0,9746</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0,8865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0,9082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265,4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438912">
                <a:tc>
                  <a:txBody>
                    <a:bodyPr/>
                    <a:lstStyle/>
                    <a:p>
                      <a:pPr indent="0" marL="0">
                        <a:buNone/>
                      </a:pPr>
                      <a:r>
                        <a:rPr lang="en-US" sz="1100" dirty="0">
                          <a:solidFill>
                            <a:srgbClr val="5A5A5A"/>
                          </a:solidFill>
                          <a:latin typeface="Arial" pitchFamily="34" charset="0"/>
                          <a:ea typeface="Arial" pitchFamily="34" charset="-122"/>
                          <a:cs typeface="Arial" pitchFamily="34" charset="-120"/>
                        </a:rPr>
                        <a:t>Trọng số (BM25 + bkai_ft)  (nhiễm bẩn)</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0,8452</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0,9860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0,9070</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0,9264</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100" dirty="0">
                          <a:solidFill>
                            <a:srgbClr val="5A5A5A"/>
                          </a:solidFill>
                          <a:latin typeface="Arial" pitchFamily="34" charset="0"/>
                          <a:ea typeface="Arial" pitchFamily="34" charset="-122"/>
                          <a:cs typeface="Arial" pitchFamily="34" charset="-120"/>
                        </a:rPr>
                        <a:t>261,3 ms</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bl>
          </a:graphicData>
        </a:graphic>
      </p:graphicFrame>
      <p:sp>
        <p:nvSpPr>
          <p:cNvPr id="10" name="Shape 6"/>
          <p:cNvSpPr/>
          <p:nvPr/>
        </p:nvSpPr>
        <p:spPr>
          <a:xfrm>
            <a:off x="384048" y="3977640"/>
            <a:ext cx="4114800" cy="2194560"/>
          </a:xfrm>
          <a:prstGeom prst="roundRect">
            <a:avLst>
              <a:gd name="adj" fmla="val 2500"/>
            </a:avLst>
          </a:prstGeom>
          <a:solidFill>
            <a:srgbClr val="EAF6EE"/>
          </a:solidFill>
          <a:ln w="15875">
            <a:solidFill>
              <a:srgbClr val="1E7A4B"/>
            </a:solidFill>
            <a:prstDash val="solid"/>
          </a:ln>
        </p:spPr>
      </p:sp>
      <p:sp>
        <p:nvSpPr>
          <p:cNvPr id="11" name="Text 7"/>
          <p:cNvSpPr txBox="1"/>
          <p:nvPr/>
        </p:nvSpPr>
        <p:spPr>
          <a:xfrm>
            <a:off x="594360" y="4078224"/>
            <a:ext cx="370332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Hệ sạch tốt nhất</a:t>
            </a:r>
            <a:endParaRPr lang="en-US" sz="1250" dirty="0"/>
          </a:p>
        </p:txBody>
      </p:sp>
      <p:sp>
        <p:nvSpPr>
          <p:cNvPr id="12" name="Text 8"/>
          <p:cNvSpPr txBox="1"/>
          <p:nvPr/>
        </p:nvSpPr>
        <p:spPr>
          <a:xfrm>
            <a:off x="594360" y="4389120"/>
            <a:ext cx="3703320" cy="1554480"/>
          </a:xfrm>
          <a:prstGeom prst="rect">
            <a:avLst/>
          </a:prstGeom>
          <a:noFill/>
          <a:ln/>
        </p:spPr>
        <p:txBody>
          <a:bodyPr wrap="square" lIns="0" tIns="0" rIns="0" bIns="0" rtlCol="0" anchor="t"/>
          <a:lstStyle/>
          <a:p>
            <a:pPr indent="0" marL="0">
              <a:lnSpc>
                <a:spcPts val="1900"/>
              </a:lnSpc>
              <a:buNone/>
            </a:pPr>
            <a:r>
              <a:rPr lang="en-US" sz="1150" b="1" dirty="0">
                <a:solidFill>
                  <a:srgbClr val="1A1A1A"/>
                </a:solidFill>
                <a:latin typeface="Arial" pitchFamily="34" charset="0"/>
                <a:ea typeface="Arial" pitchFamily="34" charset="-122"/>
                <a:cs typeface="Arial" pitchFamily="34" charset="-120"/>
              </a:rPr>
              <a:t>Trọng số (BM25 + aiteam)</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Recall@10 = 0,9772</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MRR@10 = 0,8619</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alpha = 0,75, chốt trên val</a:t>
            </a:r>
            <a:endParaRPr lang="en-US" sz="1150" dirty="0"/>
          </a:p>
        </p:txBody>
      </p:sp>
      <p:sp>
        <p:nvSpPr>
          <p:cNvPr id="13" name="Shape 9"/>
          <p:cNvSpPr/>
          <p:nvPr/>
        </p:nvSpPr>
        <p:spPr>
          <a:xfrm>
            <a:off x="4645152" y="3977640"/>
            <a:ext cx="4114800" cy="2194560"/>
          </a:xfrm>
          <a:prstGeom prst="roundRect">
            <a:avLst>
              <a:gd name="adj" fmla="val 2500"/>
            </a:avLst>
          </a:prstGeom>
          <a:solidFill>
            <a:srgbClr val="F4F8FC"/>
          </a:solidFill>
          <a:ln w="15875">
            <a:solidFill>
              <a:srgbClr val="2D75B6"/>
            </a:solidFill>
            <a:prstDash val="solid"/>
          </a:ln>
        </p:spPr>
      </p:sp>
      <p:sp>
        <p:nvSpPr>
          <p:cNvPr id="14" name="Text 10"/>
          <p:cNvSpPr txBox="1"/>
          <p:nvPr/>
        </p:nvSpPr>
        <p:spPr>
          <a:xfrm>
            <a:off x="4855464" y="4078224"/>
            <a:ext cx="370332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Chi phí, đo trên cùng một máy</a:t>
            </a:r>
            <a:endParaRPr lang="en-US" sz="1250" dirty="0"/>
          </a:p>
        </p:txBody>
      </p:sp>
      <p:sp>
        <p:nvSpPr>
          <p:cNvPr id="15" name="Text 11"/>
          <p:cNvSpPr txBox="1"/>
          <p:nvPr/>
        </p:nvSpPr>
        <p:spPr>
          <a:xfrm>
            <a:off x="4855464" y="4389120"/>
            <a:ext cx="3703320" cy="1554480"/>
          </a:xfrm>
          <a:prstGeom prst="rect">
            <a:avLst/>
          </a:prstGeom>
          <a:noFill/>
          <a:ln/>
        </p:spPr>
        <p:txBody>
          <a:bodyPr wrap="square" lIns="0" tIns="0" rIns="0" bIns="0" rtlCol="0" anchor="t"/>
          <a:lstStyle/>
          <a:p>
            <a:pPr indent="0" marL="0">
              <a:lnSpc>
                <a:spcPts val="1900"/>
              </a:lnSpc>
              <a:buNone/>
            </a:pPr>
            <a:r>
              <a:rPr lang="en-US" sz="1150" dirty="0">
                <a:solidFill>
                  <a:srgbClr val="1A1A1A"/>
                </a:solidFill>
                <a:latin typeface="Arial" pitchFamily="34" charset="0"/>
                <a:ea typeface="Arial" pitchFamily="34" charset="-122"/>
                <a:cs typeface="Arial" pitchFamily="34" charset="-120"/>
              </a:rPr>
              <a:t>BM25: 0,5 ms, chỉ mục 35,1 MB</a:t>
            </a:r>
            <a:endParaRPr lang="en-US" sz="1150" dirty="0"/>
          </a:p>
          <a:p>
            <a:pPr indent="0" marL="0">
              <a:lnSpc>
                <a:spcPts val="1900"/>
              </a:lnSpc>
              <a:buNone/>
            </a:pPr>
            <a:r>
              <a:rPr lang="en-US" sz="1150" dirty="0">
                <a:solidFill>
                  <a:srgbClr val="1A1A1A"/>
                </a:solidFill>
                <a:latin typeface="Arial" pitchFamily="34" charset="0"/>
                <a:ea typeface="Arial" pitchFamily="34" charset="-122"/>
                <a:cs typeface="Arial" pitchFamily="34" charset="-120"/>
              </a:rPr>
              <a:t>Ngữ nghĩa: 352 ms, chỉ mục 319 MB</a:t>
            </a:r>
            <a:endParaRPr lang="en-US" sz="1150" dirty="0"/>
          </a:p>
          <a:p>
            <a:pPr indent="0" marL="0">
              <a:lnSpc>
                <a:spcPts val="1900"/>
              </a:lnSpc>
              <a:buNone/>
            </a:pPr>
            <a:r>
              <a:rPr lang="en-US" sz="1150" b="1" dirty="0">
                <a:solidFill>
                  <a:srgbClr val="2D75B6"/>
                </a:solidFill>
                <a:latin typeface="Arial" pitchFamily="34" charset="0"/>
                <a:ea typeface="Arial" pitchFamily="34" charset="-122"/>
                <a:cs typeface="Arial" pitchFamily="34" charset="-120"/>
              </a:rPr>
              <a:t>BM25 nhanh hơn khoảng 703 lần</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Hợp nhất có thật sự giúp không</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11</a:t>
            </a:r>
            <a:endParaRPr lang="en-US" sz="1100" dirty="0"/>
          </a:p>
        </p:txBody>
      </p:sp>
      <p:pic>
        <p:nvPicPr>
          <p:cNvPr id="9" name="Image 0" descr="img/venn_bm25_dense.png">    </p:cNvPr>
          <p:cNvPicPr>
            <a:picLocks noChangeAspect="1"/>
          </p:cNvPicPr>
          <p:nvPr/>
        </p:nvPicPr>
        <p:blipFill>
          <a:blip r:embed="rId1"/>
          <a:stretch>
            <a:fillRect/>
          </a:stretch>
        </p:blipFill>
        <p:spPr>
          <a:xfrm>
            <a:off x="384048" y="932688"/>
            <a:ext cx="5029200" cy="331012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577840" y="1097280"/>
          <a:ext cx="3182112" cy="914400"/>
        </p:xfrm>
        <a:graphic>
          <a:graphicData uri="http://schemas.openxmlformats.org/drawingml/2006/table">
            <a:tbl>
              <a:tblPr/>
              <a:tblGrid>
                <a:gridCol w="2084832"/>
                <a:gridCol w="1097280"/>
              </a:tblGrid>
              <a:tr h="36576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Ô</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Câu hỏi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669</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C0392B"/>
                          </a:solidFill>
                          <a:latin typeface="Arial" pitchFamily="34" charset="0"/>
                          <a:ea typeface="Arial" pitchFamily="34" charset="-122"/>
                          <a:cs typeface="Arial" pitchFamily="34" charset="-120"/>
                        </a:rPr>
                        <a:t>Chỉ BM25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b="1" dirty="0">
                          <a:solidFill>
                            <a:srgbClr val="C0392B"/>
                          </a:solidFill>
                          <a:latin typeface="Arial" pitchFamily="34" charset="0"/>
                          <a:ea typeface="Arial" pitchFamily="34" charset="-122"/>
                          <a:cs typeface="Arial" pitchFamily="34" charset="-120"/>
                        </a:rPr>
                        <a:t>3</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Chỉ ngữ nghĩa đúng</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98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A1A1A"/>
                          </a:solidFill>
                          <a:latin typeface="Arial" pitchFamily="34" charset="0"/>
                          <a:ea typeface="Arial" pitchFamily="34" charset="-122"/>
                          <a:cs typeface="Arial" pitchFamily="34" charset="-120"/>
                        </a:rPr>
                        <a:t>Cả hai sai</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50" dirty="0">
                          <a:solidFill>
                            <a:srgbClr val="1A1A1A"/>
                          </a:solidFill>
                          <a:latin typeface="Arial" pitchFamily="34" charset="0"/>
                          <a:ea typeface="Arial" pitchFamily="34" charset="-122"/>
                          <a:cs typeface="Arial" pitchFamily="34" charset="-120"/>
                        </a:rPr>
                        <a:t>18</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5577840" y="3127248"/>
            <a:ext cx="3182112" cy="237744"/>
          </a:xfrm>
          <a:prstGeom prst="rect">
            <a:avLst/>
          </a:prstGeom>
          <a:noFill/>
          <a:ln/>
        </p:spPr>
        <p:txBody>
          <a:bodyPr wrap="square" lIns="0" tIns="0" rIns="0" bIns="0" rtlCol="0" anchor="ctr"/>
          <a:lstStyle/>
          <a:p>
            <a:pPr indent="0" marL="0">
              <a:buNone/>
            </a:pPr>
            <a:r>
              <a:rPr lang="en-US" sz="1000" i="1" dirty="0">
                <a:solidFill>
                  <a:srgbClr val="5A5A5A"/>
                </a:solidFill>
                <a:latin typeface="Arial" pitchFamily="34" charset="0"/>
                <a:ea typeface="Arial" pitchFamily="34" charset="-122"/>
                <a:cs typeface="Arial" pitchFamily="34" charset="-120"/>
              </a:rPr>
              <a:t>Tỷ lệ câu hỏi có ít nhất một điều gold trong top-10</a:t>
            </a:r>
            <a:endParaRPr lang="en-US" sz="100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577840" y="3383280"/>
          <a:ext cx="3182112" cy="914400"/>
        </p:xfrm>
        <a:graphic>
          <a:graphicData uri="http://schemas.openxmlformats.org/drawingml/2006/table">
            <a:tbl>
              <a:tblPr/>
              <a:tblGrid>
                <a:gridCol w="2084832"/>
                <a:gridCol w="1097280"/>
              </a:tblGrid>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BM25</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85,28 %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A1A1A"/>
                          </a:solidFill>
                          <a:latin typeface="Arial" pitchFamily="34" charset="0"/>
                          <a:ea typeface="Arial" pitchFamily="34" charset="-122"/>
                          <a:cs typeface="Arial" pitchFamily="34" charset="-120"/>
                        </a:rPr>
                        <a:t>Ngữ nghĩa aiteam</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97,34 %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1E7A4B"/>
                          </a:solidFill>
                          <a:latin typeface="Arial" pitchFamily="34" charset="0"/>
                          <a:ea typeface="Arial" pitchFamily="34" charset="-122"/>
                          <a:cs typeface="Arial" pitchFamily="34" charset="-120"/>
                        </a:rPr>
                        <a:t>Hợp nhất</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1100" b="1" dirty="0">
                          <a:solidFill>
                            <a:srgbClr val="1E7A4B"/>
                          </a:solidFill>
                          <a:latin typeface="Arial" pitchFamily="34" charset="0"/>
                          <a:ea typeface="Arial" pitchFamily="34" charset="-122"/>
                          <a:cs typeface="Arial" pitchFamily="34" charset="-120"/>
                        </a:rPr>
                        <a:t>97,84 %</a:t>
                      </a:r>
                      <a:endParaRPr lang="en-US" sz="110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7"/>
          <p:cNvSpPr/>
          <p:nvPr/>
        </p:nvSpPr>
        <p:spPr>
          <a:xfrm>
            <a:off x="384048" y="4389120"/>
            <a:ext cx="8375904" cy="960120"/>
          </a:xfrm>
          <a:prstGeom prst="roundRect">
            <a:avLst>
              <a:gd name="adj" fmla="val 5714"/>
            </a:avLst>
          </a:prstGeom>
          <a:solidFill>
            <a:srgbClr val="F4F8FC"/>
          </a:solidFill>
          <a:ln w="15875">
            <a:solidFill>
              <a:srgbClr val="2D75B6"/>
            </a:solidFill>
            <a:prstDash val="solid"/>
          </a:ln>
        </p:spPr>
      </p:sp>
      <p:sp>
        <p:nvSpPr>
          <p:cNvPr id="14" name="Text 8"/>
          <p:cNvSpPr txBox="1"/>
          <p:nvPr/>
        </p:nvSpPr>
        <p:spPr>
          <a:xfrm>
            <a:off x="594360" y="4498848"/>
            <a:ext cx="7955280" cy="73152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Hợp nhất hơn ngữ nghĩa thuần 0,50 điểm phần trăm, </a:t>
            </a:r>
            <a:pPr indent="0" marL="0">
              <a:buNone/>
            </a:pPr>
            <a:r>
              <a:rPr lang="en-US" sz="1250" b="1" dirty="0">
                <a:solidFill>
                  <a:srgbClr val="1A1A1A"/>
                </a:solidFill>
                <a:latin typeface="Arial" pitchFamily="34" charset="0"/>
                <a:ea typeface="Arial" pitchFamily="34" charset="-122"/>
                <a:cs typeface="Arial" pitchFamily="34" charset="-120"/>
              </a:rPr>
              <a:t>tức 4 câu hỏi trên 788. </a:t>
            </a:r>
            <a:pPr indent="0" marL="0">
              <a:buNone/>
            </a:pPr>
            <a:r>
              <a:rPr lang="en-US" sz="1250" dirty="0">
                <a:solidFill>
                  <a:srgbClr val="1A1A1A"/>
                </a:solidFill>
                <a:latin typeface="Arial" pitchFamily="34" charset="0"/>
                <a:ea typeface="Arial" pitchFamily="34" charset="-122"/>
                <a:cs typeface="Arial" pitchFamily="34" charset="-120"/>
              </a:rPr>
              <a:t>Riêng BM25 cứu được 3 câu mà ngữ nghĩa bỏ lỡ.</a:t>
            </a:r>
            <a:endParaRPr lang="en-US" sz="1250" dirty="0"/>
          </a:p>
        </p:txBody>
      </p:sp>
      <p:sp>
        <p:nvSpPr>
          <p:cNvPr id="15" name="Shape 9"/>
          <p:cNvSpPr/>
          <p:nvPr/>
        </p:nvSpPr>
        <p:spPr>
          <a:xfrm>
            <a:off x="384048" y="5468112"/>
            <a:ext cx="8375904" cy="749808"/>
          </a:xfrm>
          <a:prstGeom prst="roundRect">
            <a:avLst>
              <a:gd name="adj" fmla="val 7317"/>
            </a:avLst>
          </a:prstGeom>
          <a:solidFill>
            <a:srgbClr val="FDEDEC"/>
          </a:solidFill>
          <a:ln w="15875">
            <a:solidFill>
              <a:srgbClr val="C0392B"/>
            </a:solidFill>
            <a:prstDash val="solid"/>
          </a:ln>
        </p:spPr>
      </p:sp>
      <p:sp>
        <p:nvSpPr>
          <p:cNvPr id="16" name="Text 10"/>
          <p:cNvSpPr txBox="1"/>
          <p:nvPr/>
        </p:nvSpPr>
        <p:spPr>
          <a:xfrm>
            <a:off x="594360" y="5541264"/>
            <a:ext cx="7955280" cy="603504"/>
          </a:xfrm>
          <a:prstGeom prst="rect">
            <a:avLst/>
          </a:prstGeom>
          <a:noFill/>
          <a:ln/>
        </p:spPr>
        <p:txBody>
          <a:bodyPr wrap="square" lIns="0" tIns="0" rIns="0" bIns="0" rtlCol="0" anchor="ctr"/>
          <a:lstStyle/>
          <a:p>
            <a:pPr indent="0" marL="0">
              <a:buNone/>
            </a:pPr>
            <a:r>
              <a:rPr lang="en-US" sz="1200" b="1" dirty="0">
                <a:solidFill>
                  <a:srgbClr val="C0392B"/>
                </a:solidFill>
                <a:latin typeface="Arial" pitchFamily="34" charset="0"/>
                <a:ea typeface="Arial" pitchFamily="34" charset="-122"/>
                <a:cs typeface="Arial" pitchFamily="34" charset="-120"/>
              </a:rPr>
              <a:t>Kết luận trung thực: có cải thiện nhưng rất nhỏ. Mỗi cấu hình chỉ chạy một seed nên nhóm không có cơ sở nói về biên độ nhiễu, và không gọi 0,50 điểm là đáng kể.</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Phân tích lỗi: hệ sai ở đâu</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12</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987552"/>
          <a:ext cx="8138160" cy="914400"/>
        </p:xfrm>
        <a:graphic>
          <a:graphicData uri="http://schemas.openxmlformats.org/drawingml/2006/table">
            <a:tbl>
              <a:tblPr/>
              <a:tblGrid>
                <a:gridCol w="4846320"/>
                <a:gridCol w="1645920"/>
                <a:gridCol w="1645920"/>
              </a:tblGrid>
              <a:tr h="420624">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Nguyên nhân</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Số ca</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Tỷ lệ</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471C4"/>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Thiếu ngữ cảnh pháp lý</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10</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58,8 %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Nhiều điều cùng đúng, nhãn ghi một</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5</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29,4 %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9EBF5"/>
                    </a:solidFill>
                  </a:tcPr>
                </a:tc>
              </a:tr>
              <a:tr h="420624">
                <a:tc>
                  <a:txBody>
                    <a:bodyPr/>
                    <a:lstStyle/>
                    <a:p>
                      <a:pPr indent="0" marL="0">
                        <a:buNone/>
                      </a:pPr>
                      <a:r>
                        <a:rPr lang="en-US" sz="1150" dirty="0">
                          <a:solidFill>
                            <a:srgbClr val="1A1A1A"/>
                          </a:solidFill>
                          <a:latin typeface="Arial" pitchFamily="34" charset="0"/>
                          <a:ea typeface="Arial" pitchFamily="34" charset="-122"/>
                          <a:cs typeface="Arial" pitchFamily="34" charset="-120"/>
                        </a:rPr>
                        <a:t>Nhãn gold đáng ngờ</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2</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A1A1A"/>
                          </a:solidFill>
                          <a:latin typeface="Arial" pitchFamily="34" charset="0"/>
                          <a:ea typeface="Arial" pitchFamily="34" charset="-122"/>
                          <a:cs typeface="Arial" pitchFamily="34" charset="-120"/>
                        </a:rPr>
                        <a:t>11,8 %</a:t>
                      </a:r>
                      <a:endParaRPr lang="en-US" sz="1150" dirty="0">
                        <a:latin typeface="Arial" charset="0"/>
                        <a:ea typeface="Arial" charset="0"/>
                        <a:cs typeface="Arial"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6"/>
          <p:cNvSpPr/>
          <p:nvPr/>
        </p:nvSpPr>
        <p:spPr>
          <a:xfrm>
            <a:off x="502920" y="2788920"/>
            <a:ext cx="8138160" cy="1572768"/>
          </a:xfrm>
          <a:prstGeom prst="roundRect">
            <a:avLst>
              <a:gd name="adj" fmla="val 3488"/>
            </a:avLst>
          </a:prstGeom>
          <a:solidFill>
            <a:srgbClr val="FFF8F0"/>
          </a:solidFill>
          <a:ln w="15875">
            <a:solidFill>
              <a:srgbClr val="D68910"/>
            </a:solidFill>
            <a:prstDash val="solid"/>
          </a:ln>
        </p:spPr>
      </p:sp>
      <p:sp>
        <p:nvSpPr>
          <p:cNvPr id="11" name="Text 7"/>
          <p:cNvSpPr txBox="1"/>
          <p:nvPr/>
        </p:nvSpPr>
        <p:spPr>
          <a:xfrm>
            <a:off x="731520" y="2889504"/>
            <a:ext cx="7680960" cy="274320"/>
          </a:xfrm>
          <a:prstGeom prst="rect">
            <a:avLst/>
          </a:prstGeom>
          <a:noFill/>
          <a:ln/>
        </p:spPr>
        <p:txBody>
          <a:bodyPr wrap="square" lIns="0" tIns="0" rIns="0" bIns="0" rtlCol="0" anchor="ctr"/>
          <a:lstStyle/>
          <a:p>
            <a:pPr indent="0" marL="0">
              <a:buNone/>
            </a:pPr>
            <a:r>
              <a:rPr lang="en-US" sz="1250" b="1" dirty="0">
                <a:solidFill>
                  <a:srgbClr val="B9770E"/>
                </a:solidFill>
                <a:latin typeface="Arial" pitchFamily="34" charset="0"/>
                <a:ea typeface="Arial" pitchFamily="34" charset="-122"/>
                <a:cs typeface="Arial" pitchFamily="34" charset="-120"/>
              </a:rPr>
              <a:t>Ví dụ nhóm lớn nhất: thiếu ngữ cảnh pháp lý</a:t>
            </a:r>
            <a:endParaRPr lang="en-US" sz="1250" dirty="0"/>
          </a:p>
        </p:txBody>
      </p:sp>
      <p:sp>
        <p:nvSpPr>
          <p:cNvPr id="12" name="Text 8"/>
          <p:cNvSpPr txBox="1"/>
          <p:nvPr/>
        </p:nvSpPr>
        <p:spPr>
          <a:xfrm>
            <a:off x="731520" y="3182112"/>
            <a:ext cx="7680960" cy="109728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Nướng bắp, ngô trên cầu phạt bao nhiêu tiền?</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Điều đúng:  </a:t>
            </a:r>
            <a:pPr indent="0" marL="0">
              <a:lnSpc>
                <a:spcPts val="1700"/>
              </a:lnSpc>
              <a:buNone/>
            </a:pPr>
            <a:r>
              <a:rPr lang="en-US" sz="1150" dirty="0">
                <a:solidFill>
                  <a:srgbClr val="1A1A1A"/>
                </a:solidFill>
                <a:latin typeface="Arial" pitchFamily="34" charset="0"/>
                <a:ea typeface="Arial" pitchFamily="34" charset="-122"/>
                <a:cs typeface="Arial" pitchFamily="34" charset="-120"/>
              </a:rPr>
              <a:t>Xử phạt vi phạm quy định về quản lý, khai thác, bảo trì công trình đường bộ</a:t>
            </a:r>
            <a:endParaRPr lang="en-US" sz="1150" dirty="0"/>
          </a:p>
          <a:p>
            <a:pPr indent="0" marL="0">
              <a:lnSpc>
                <a:spcPts val="1700"/>
              </a:lnSpc>
              <a:buNone/>
            </a:pPr>
            <a:r>
              <a:rPr lang="en-US" sz="1150" i="1" dirty="0">
                <a:solidFill>
                  <a:srgbClr val="1A1A1A"/>
                </a:solidFill>
                <a:latin typeface="Arial" pitchFamily="34" charset="0"/>
                <a:ea typeface="Arial" pitchFamily="34" charset="-122"/>
                <a:cs typeface="Arial" pitchFamily="34" charset="-120"/>
              </a:rPr>
              <a:t>Phải biết luật gọi hành vi đó là gì mới tìm ra. Không tầng nào bắc được cầu này.</a:t>
            </a:r>
            <a:endParaRPr lang="en-US" sz="1150" dirty="0"/>
          </a:p>
        </p:txBody>
      </p:sp>
      <p:sp>
        <p:nvSpPr>
          <p:cNvPr id="13" name="Shape 9"/>
          <p:cNvSpPr/>
          <p:nvPr/>
        </p:nvSpPr>
        <p:spPr>
          <a:xfrm>
            <a:off x="502920" y="4526280"/>
            <a:ext cx="8138160" cy="1645920"/>
          </a:xfrm>
          <a:prstGeom prst="roundRect">
            <a:avLst>
              <a:gd name="adj" fmla="val 3333"/>
            </a:avLst>
          </a:prstGeom>
          <a:solidFill>
            <a:srgbClr val="FDEDEC"/>
          </a:solidFill>
          <a:ln w="15875">
            <a:solidFill>
              <a:srgbClr val="C0392B"/>
            </a:solidFill>
            <a:prstDash val="solid"/>
          </a:ln>
        </p:spPr>
      </p:sp>
      <p:sp>
        <p:nvSpPr>
          <p:cNvPr id="14" name="Text 10"/>
          <p:cNvSpPr txBox="1"/>
          <p:nvPr/>
        </p:nvSpPr>
        <p:spPr>
          <a:xfrm>
            <a:off x="731520" y="4626864"/>
            <a:ext cx="7680960" cy="274320"/>
          </a:xfrm>
          <a:prstGeom prst="rect">
            <a:avLst/>
          </a:prstGeom>
          <a:noFill/>
          <a:ln/>
        </p:spPr>
        <p:txBody>
          <a:bodyPr wrap="square" lIns="0" tIns="0" rIns="0" bIns="0" rtlCol="0" anchor="ctr"/>
          <a:lstStyle/>
          <a:p>
            <a:pPr indent="0" marL="0">
              <a:buNone/>
            </a:pPr>
            <a:r>
              <a:rPr lang="en-US" sz="1250" b="1" dirty="0">
                <a:solidFill>
                  <a:srgbClr val="C0392B"/>
                </a:solidFill>
                <a:latin typeface="Arial" pitchFamily="34" charset="0"/>
                <a:ea typeface="Arial" pitchFamily="34" charset="-122"/>
                <a:cs typeface="Arial" pitchFamily="34" charset="-120"/>
              </a:rPr>
              <a:t>Ví dụ nhóm nhãn gold đáng ngờ</a:t>
            </a:r>
            <a:endParaRPr lang="en-US" sz="1250" dirty="0"/>
          </a:p>
        </p:txBody>
      </p:sp>
      <p:sp>
        <p:nvSpPr>
          <p:cNvPr id="15" name="Text 11"/>
          <p:cNvSpPr txBox="1"/>
          <p:nvPr/>
        </p:nvSpPr>
        <p:spPr>
          <a:xfrm>
            <a:off x="731520" y="4919472"/>
            <a:ext cx="7680960" cy="1188720"/>
          </a:xfrm>
          <a:prstGeom prst="rect">
            <a:avLst/>
          </a:prstGeom>
          <a:noFill/>
          <a:ln/>
        </p:spPr>
        <p:txBody>
          <a:bodyPr wrap="square" lIns="0" tIns="0" rIns="0" bIns="0" rtlCol="0" anchor="t"/>
          <a:lstStyle/>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Hỏi:  </a:t>
            </a:r>
            <a:pPr indent="0" marL="0">
              <a:lnSpc>
                <a:spcPts val="1700"/>
              </a:lnSpc>
              <a:buNone/>
            </a:pPr>
            <a:r>
              <a:rPr lang="en-US" sz="1150" dirty="0">
                <a:solidFill>
                  <a:srgbClr val="1A1A1A"/>
                </a:solidFill>
                <a:latin typeface="Arial" pitchFamily="34" charset="0"/>
                <a:ea typeface="Arial" pitchFamily="34" charset="-122"/>
                <a:cs typeface="Arial" pitchFamily="34" charset="-120"/>
              </a:rPr>
              <a:t>Người chấp hành biện pháp bắt buộc chữa bệnh sẽ chữa bệnh ở đâu?</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Hệ trả về:  </a:t>
            </a:r>
            <a:pPr indent="0" marL="0">
              <a:lnSpc>
                <a:spcPts val="1700"/>
              </a:lnSpc>
              <a:buNone/>
            </a:pPr>
            <a:r>
              <a:rPr lang="en-US" sz="1150" dirty="0">
                <a:solidFill>
                  <a:srgbClr val="1E7A4B"/>
                </a:solidFill>
                <a:latin typeface="Arial" pitchFamily="34" charset="0"/>
                <a:ea typeface="Arial" pitchFamily="34" charset="-122"/>
                <a:cs typeface="Arial" pitchFamily="34" charset="-120"/>
              </a:rPr>
              <a:t>Điều 138. Tổ chức điều trị cho người bị bắt buộc chữa bệnh</a:t>
            </a:r>
            <a:endParaRPr lang="en-US" sz="1150" dirty="0"/>
          </a:p>
          <a:p>
            <a:pPr indent="0" marL="0">
              <a:lnSpc>
                <a:spcPts val="1700"/>
              </a:lnSpc>
              <a:buNone/>
            </a:pPr>
            <a:r>
              <a:rPr lang="en-US" sz="1150" b="1" dirty="0">
                <a:solidFill>
                  <a:srgbClr val="1A1A1A"/>
                </a:solidFill>
                <a:latin typeface="Arial" pitchFamily="34" charset="0"/>
                <a:ea typeface="Arial" pitchFamily="34" charset="-122"/>
                <a:cs typeface="Arial" pitchFamily="34" charset="-120"/>
              </a:rPr>
              <a:t>Nhãn ghi:  </a:t>
            </a:r>
            <a:pPr indent="0" marL="0">
              <a:lnSpc>
                <a:spcPts val="1700"/>
              </a:lnSpc>
              <a:buNone/>
            </a:pPr>
            <a:r>
              <a:rPr lang="en-US" sz="1150" dirty="0">
                <a:solidFill>
                  <a:srgbClr val="C0392B"/>
                </a:solidFill>
                <a:latin typeface="Arial" pitchFamily="34" charset="0"/>
                <a:ea typeface="Arial" pitchFamily="34" charset="-122"/>
                <a:cs typeface="Arial" pitchFamily="34" charset="-120"/>
              </a:rPr>
              <a:t>Điều 133. Cơ quan được giao nhiệm vụ thi hành biện pháp tư pháp</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384048" y="146304"/>
            <a:ext cx="8229600" cy="603504"/>
          </a:xfrm>
          <a:prstGeom prst="rect">
            <a:avLst/>
          </a:prstGeom>
          <a:noFill/>
          <a:ln/>
        </p:spPr>
        <p:txBody>
          <a:bodyPr wrap="square" lIns="0" tIns="0" rIns="0" bIns="0" rtlCol="0" anchor="ctr"/>
          <a:lstStyle/>
          <a:p>
            <a:pPr indent="0" marL="0">
              <a:buNone/>
            </a:pPr>
            <a:r>
              <a:rPr lang="en-US" sz="2800" b="1" dirty="0">
                <a:solidFill>
                  <a:srgbClr val="2D75B6"/>
                </a:solidFill>
                <a:latin typeface="Arial" pitchFamily="34" charset="0"/>
                <a:ea typeface="Arial" pitchFamily="34" charset="-122"/>
                <a:cs typeface="Arial" pitchFamily="34" charset="-120"/>
              </a:rPr>
              <a:t>Kết luận</a:t>
            </a:r>
            <a:endParaRPr lang="en-US" sz="2800" dirty="0"/>
          </a:p>
        </p:txBody>
      </p:sp>
      <p:sp>
        <p:nvSpPr>
          <p:cNvPr id="3" name="Shape 1"/>
          <p:cNvSpPr/>
          <p:nvPr/>
        </p:nvSpPr>
        <p:spPr>
          <a:xfrm>
            <a:off x="384048" y="841248"/>
            <a:ext cx="8375904" cy="0"/>
          </a:xfrm>
          <a:prstGeom prst="line">
            <a:avLst/>
          </a:prstGeom>
          <a:noFill/>
          <a:ln w="25400">
            <a:solidFill>
              <a:srgbClr val="2D75B6"/>
            </a:solidFill>
            <a:prstDash val="solid"/>
          </a:ln>
        </p:spPr>
      </p:sp>
      <p:sp>
        <p:nvSpPr>
          <p:cNvPr id="4" name="Shape 2"/>
          <p:cNvSpPr/>
          <p:nvPr/>
        </p:nvSpPr>
        <p:spPr>
          <a:xfrm>
            <a:off x="0" y="6446520"/>
            <a:ext cx="9144000" cy="411480"/>
          </a:xfrm>
          <a:prstGeom prst="rect">
            <a:avLst/>
          </a:prstGeom>
          <a:solidFill>
            <a:srgbClr val="303030"/>
          </a:solidFill>
          <a:ln/>
        </p:spPr>
      </p:sp>
      <p:sp>
        <p:nvSpPr>
          <p:cNvPr id="5" name="Text 3"/>
          <p:cNvSpPr txBox="1"/>
          <p:nvPr/>
        </p:nvSpPr>
        <p:spPr>
          <a:xfrm>
            <a:off x="2011680" y="6446520"/>
            <a:ext cx="5120640" cy="411480"/>
          </a:xfrm>
          <a:prstGeom prst="rect">
            <a:avLst/>
          </a:prstGeom>
          <a:noFill/>
          <a:ln/>
        </p:spPr>
        <p:txBody>
          <a:bodyPr wrap="square" lIns="0" tIns="0" rIns="0" bIns="0" rtlCol="0" anchor="ctr"/>
          <a:lstStyle/>
          <a:p>
            <a:pPr algn="ctr" indent="0" marL="0">
              <a:buNone/>
            </a:pPr>
            <a:r>
              <a:rPr lang="en-US" sz="900" dirty="0">
                <a:solidFill>
                  <a:srgbClr val="E8E8E8"/>
                </a:solidFill>
                <a:latin typeface="Arial" pitchFamily="34" charset="0"/>
                <a:ea typeface="Arial" pitchFamily="34" charset="-122"/>
                <a:cs typeface="Arial" pitchFamily="34" charset="-120"/>
              </a:rPr>
              <a:t>Trường Đại học Công nghệ Thông tin (UIT) – ĐHQG-HCM</a:t>
            </a:r>
            <a:endParaRPr lang="en-US" sz="900" dirty="0"/>
          </a:p>
        </p:txBody>
      </p:sp>
      <p:sp>
        <p:nvSpPr>
          <p:cNvPr id="6" name="Shape 4"/>
          <p:cNvSpPr/>
          <p:nvPr/>
        </p:nvSpPr>
        <p:spPr>
          <a:xfrm>
            <a:off x="384048" y="6446520"/>
            <a:ext cx="502920" cy="411480"/>
          </a:xfrm>
          <a:prstGeom prst="rect">
            <a:avLst/>
          </a:prstGeom>
          <a:solidFill>
            <a:srgbClr val="FFFFFF"/>
          </a:solidFill>
          <a:ln w="12700">
            <a:solidFill>
              <a:srgbClr val="303030"/>
            </a:solidFill>
            <a:prstDash val="solid"/>
          </a:ln>
        </p:spPr>
      </p:sp>
      <p:sp>
        <p:nvSpPr>
          <p:cNvPr id="7" name="Text 5"/>
          <p:cNvSpPr txBox="1"/>
          <p:nvPr/>
        </p:nvSpPr>
        <p:spPr>
          <a:xfrm>
            <a:off x="384048" y="6446520"/>
            <a:ext cx="502920" cy="411480"/>
          </a:xfrm>
          <a:prstGeom prst="rect">
            <a:avLst/>
          </a:prstGeom>
          <a:noFill/>
          <a:ln/>
        </p:spPr>
        <p:txBody>
          <a:bodyPr wrap="square" lIns="0" tIns="0" rIns="0" bIns="0" rtlCol="0" anchor="ctr"/>
          <a:lstStyle/>
          <a:p>
            <a:pPr algn="ctr" indent="0" marL="0">
              <a:buNone/>
            </a:pPr>
            <a:r>
              <a:rPr lang="en-US" sz="1100" dirty="0">
                <a:solidFill>
                  <a:srgbClr val="1A1A1A"/>
                </a:solidFill>
                <a:latin typeface="Arial" pitchFamily="34" charset="0"/>
                <a:ea typeface="Arial" pitchFamily="34" charset="-122"/>
                <a:cs typeface="Arial" pitchFamily="34" charset="-120"/>
              </a:rPr>
              <a:t>13</a:t>
            </a:r>
            <a:endParaRPr lang="en-US" sz="1100" dirty="0"/>
          </a:p>
        </p:txBody>
      </p:sp>
      <p:sp>
        <p:nvSpPr>
          <p:cNvPr id="9" name="Shape 6"/>
          <p:cNvSpPr/>
          <p:nvPr/>
        </p:nvSpPr>
        <p:spPr>
          <a:xfrm>
            <a:off x="502920" y="960120"/>
            <a:ext cx="8138160" cy="1051560"/>
          </a:xfrm>
          <a:prstGeom prst="roundRect">
            <a:avLst>
              <a:gd name="adj" fmla="val 5217"/>
            </a:avLst>
          </a:prstGeom>
          <a:solidFill>
            <a:srgbClr val="FFFFFF"/>
          </a:solidFill>
          <a:ln w="15875">
            <a:solidFill>
              <a:srgbClr val="1E7A4B"/>
            </a:solidFill>
            <a:prstDash val="solid"/>
          </a:ln>
        </p:spPr>
      </p:sp>
      <p:sp>
        <p:nvSpPr>
          <p:cNvPr id="10" name="Shape 7"/>
          <p:cNvSpPr/>
          <p:nvPr/>
        </p:nvSpPr>
        <p:spPr>
          <a:xfrm>
            <a:off x="502920" y="960120"/>
            <a:ext cx="82296" cy="1051560"/>
          </a:xfrm>
          <a:prstGeom prst="rect">
            <a:avLst/>
          </a:prstGeom>
          <a:solidFill>
            <a:srgbClr val="1E7A4B"/>
          </a:solidFill>
          <a:ln/>
        </p:spPr>
      </p:sp>
      <p:sp>
        <p:nvSpPr>
          <p:cNvPr id="11" name="Text 8"/>
          <p:cNvSpPr txBox="1"/>
          <p:nvPr/>
        </p:nvSpPr>
        <p:spPr>
          <a:xfrm>
            <a:off x="749808" y="1033272"/>
            <a:ext cx="7680960" cy="292608"/>
          </a:xfrm>
          <a:prstGeom prst="rect">
            <a:avLst/>
          </a:prstGeom>
          <a:noFill/>
          <a:ln/>
        </p:spPr>
        <p:txBody>
          <a:bodyPr wrap="square" lIns="0" tIns="0" rIns="0" bIns="0" rtlCol="0" anchor="ctr"/>
          <a:lstStyle/>
          <a:p>
            <a:pPr indent="0" marL="0">
              <a:buNone/>
            </a:pPr>
            <a:r>
              <a:rPr lang="en-US" sz="1300" b="1" dirty="0">
                <a:solidFill>
                  <a:srgbClr val="1E7A4B"/>
                </a:solidFill>
                <a:latin typeface="Arial" pitchFamily="34" charset="0"/>
                <a:ea typeface="Arial" pitchFamily="34" charset="-122"/>
                <a:cs typeface="Arial" pitchFamily="34" charset="-120"/>
              </a:rPr>
              <a:t>Hợp nhất có cải thiện, nhưng rất nhỏ</a:t>
            </a:r>
            <a:endParaRPr lang="en-US" sz="1300" dirty="0"/>
          </a:p>
        </p:txBody>
      </p:sp>
      <p:sp>
        <p:nvSpPr>
          <p:cNvPr id="12" name="Text 9"/>
          <p:cNvSpPr txBox="1"/>
          <p:nvPr/>
        </p:nvSpPr>
        <p:spPr>
          <a:xfrm>
            <a:off x="749808" y="134416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Recall@10 = 0,9772, MRR@10 = 0,8619. Hơn ngữ nghĩa thuần 0,50 điểm phần trăm, tức 4 câu hỏi trên 788. Riêng BM25 cứu được 3 câu.</a:t>
            </a:r>
            <a:endParaRPr lang="en-US" sz="1150" dirty="0"/>
          </a:p>
        </p:txBody>
      </p:sp>
      <p:sp>
        <p:nvSpPr>
          <p:cNvPr id="13" name="Shape 10"/>
          <p:cNvSpPr/>
          <p:nvPr/>
        </p:nvSpPr>
        <p:spPr>
          <a:xfrm>
            <a:off x="502920" y="2148840"/>
            <a:ext cx="8138160" cy="1051560"/>
          </a:xfrm>
          <a:prstGeom prst="roundRect">
            <a:avLst>
              <a:gd name="adj" fmla="val 5217"/>
            </a:avLst>
          </a:prstGeom>
          <a:solidFill>
            <a:srgbClr val="FFFFFF"/>
          </a:solidFill>
          <a:ln w="15875">
            <a:solidFill>
              <a:srgbClr val="2D75B6"/>
            </a:solidFill>
            <a:prstDash val="solid"/>
          </a:ln>
        </p:spPr>
      </p:sp>
      <p:sp>
        <p:nvSpPr>
          <p:cNvPr id="14" name="Shape 11"/>
          <p:cNvSpPr/>
          <p:nvPr/>
        </p:nvSpPr>
        <p:spPr>
          <a:xfrm>
            <a:off x="502920" y="2148840"/>
            <a:ext cx="82296" cy="1051560"/>
          </a:xfrm>
          <a:prstGeom prst="rect">
            <a:avLst/>
          </a:prstGeom>
          <a:solidFill>
            <a:srgbClr val="2D75B6"/>
          </a:solidFill>
          <a:ln/>
        </p:spPr>
      </p:sp>
      <p:sp>
        <p:nvSpPr>
          <p:cNvPr id="15" name="Text 12"/>
          <p:cNvSpPr txBox="1"/>
          <p:nvPr/>
        </p:nvSpPr>
        <p:spPr>
          <a:xfrm>
            <a:off x="749808" y="2221992"/>
            <a:ext cx="7680960" cy="292608"/>
          </a:xfrm>
          <a:prstGeom prst="rect">
            <a:avLst/>
          </a:prstGeom>
          <a:noFill/>
          <a:ln/>
        </p:spPr>
        <p:txBody>
          <a:bodyPr wrap="square" lIns="0" tIns="0" rIns="0" bIns="0" rtlCol="0" anchor="ctr"/>
          <a:lstStyle/>
          <a:p>
            <a:pPr indent="0" marL="0">
              <a:buNone/>
            </a:pPr>
            <a:r>
              <a:rPr lang="en-US" sz="1300" b="1" dirty="0">
                <a:solidFill>
                  <a:srgbClr val="2D75B6"/>
                </a:solidFill>
                <a:latin typeface="Arial" pitchFamily="34" charset="0"/>
                <a:ea typeface="Arial" pitchFamily="34" charset="-122"/>
                <a:cs typeface="Arial" pitchFamily="34" charset="-120"/>
              </a:rPr>
              <a:t>BM25 đáng giữ, nhưng không phải vì điểm số</a:t>
            </a:r>
            <a:endParaRPr lang="en-US" sz="1300" dirty="0"/>
          </a:p>
        </p:txBody>
      </p:sp>
      <p:sp>
        <p:nvSpPr>
          <p:cNvPr id="16" name="Text 13"/>
          <p:cNvSpPr txBox="1"/>
          <p:nvPr/>
        </p:nvSpPr>
        <p:spPr>
          <a:xfrm>
            <a:off x="749808" y="253288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Nhanh hơn khoảng 703 lần (0,5 ms so với 352 ms), và giải thích được kết quả bằng đúng những từ đã khớp.</a:t>
            </a:r>
            <a:endParaRPr lang="en-US" sz="1150" dirty="0"/>
          </a:p>
        </p:txBody>
      </p:sp>
      <p:sp>
        <p:nvSpPr>
          <p:cNvPr id="17" name="Shape 14"/>
          <p:cNvSpPr/>
          <p:nvPr/>
        </p:nvSpPr>
        <p:spPr>
          <a:xfrm>
            <a:off x="502920" y="3337560"/>
            <a:ext cx="8138160" cy="1051560"/>
          </a:xfrm>
          <a:prstGeom prst="roundRect">
            <a:avLst>
              <a:gd name="adj" fmla="val 5217"/>
            </a:avLst>
          </a:prstGeom>
          <a:solidFill>
            <a:srgbClr val="FFFFFF"/>
          </a:solidFill>
          <a:ln w="15875">
            <a:solidFill>
              <a:srgbClr val="C0392B"/>
            </a:solidFill>
            <a:prstDash val="solid"/>
          </a:ln>
        </p:spPr>
      </p:sp>
      <p:sp>
        <p:nvSpPr>
          <p:cNvPr id="18" name="Shape 15"/>
          <p:cNvSpPr/>
          <p:nvPr/>
        </p:nvSpPr>
        <p:spPr>
          <a:xfrm>
            <a:off x="502920" y="3337560"/>
            <a:ext cx="82296" cy="1051560"/>
          </a:xfrm>
          <a:prstGeom prst="rect">
            <a:avLst/>
          </a:prstGeom>
          <a:solidFill>
            <a:srgbClr val="C0392B"/>
          </a:solidFill>
          <a:ln/>
        </p:spPr>
      </p:sp>
      <p:sp>
        <p:nvSpPr>
          <p:cNvPr id="19" name="Text 16"/>
          <p:cNvSpPr txBox="1"/>
          <p:nvPr/>
        </p:nvSpPr>
        <p:spPr>
          <a:xfrm>
            <a:off x="749808" y="3410712"/>
            <a:ext cx="7680960" cy="292608"/>
          </a:xfrm>
          <a:prstGeom prst="rect">
            <a:avLst/>
          </a:prstGeom>
          <a:noFill/>
          <a:ln/>
        </p:spPr>
        <p:txBody>
          <a:bodyPr wrap="square" lIns="0" tIns="0" rIns="0" bIns="0" rtlCol="0" anchor="ctr"/>
          <a:lstStyle/>
          <a:p>
            <a:pPr indent="0" marL="0">
              <a:buNone/>
            </a:pPr>
            <a:r>
              <a:rPr lang="en-US" sz="1300" b="1" dirty="0">
                <a:solidFill>
                  <a:srgbClr val="C0392B"/>
                </a:solidFill>
                <a:latin typeface="Arial" pitchFamily="34" charset="0"/>
                <a:ea typeface="Arial" pitchFamily="34" charset="-122"/>
                <a:cs typeface="Arial" pitchFamily="34" charset="-120"/>
              </a:rPr>
              <a:t>Chống rò rỉ không dừng ở việc chia lại tập</a:t>
            </a:r>
            <a:endParaRPr lang="en-US" sz="1300" dirty="0"/>
          </a:p>
        </p:txBody>
      </p:sp>
      <p:sp>
        <p:nvSpPr>
          <p:cNvPr id="20" name="Text 17"/>
          <p:cNvSpPr txBox="1"/>
          <p:nvPr/>
        </p:nvSpPr>
        <p:spPr>
          <a:xfrm>
            <a:off x="749808" y="3721608"/>
            <a:ext cx="7680960" cy="603504"/>
          </a:xfrm>
          <a:prstGeom prst="rect">
            <a:avLst/>
          </a:prstGeom>
          <a:noFill/>
          <a:ln/>
        </p:spPr>
        <p:txBody>
          <a:bodyPr wrap="square" lIns="0" tIns="0" rIns="0" bIns="0" rtlCol="0" anchor="t"/>
          <a:lstStyle/>
          <a:p>
            <a:pPr indent="0" marL="0">
              <a:lnSpc>
                <a:spcPts val="1600"/>
              </a:lnSpc>
              <a:buNone/>
            </a:pPr>
            <a:r>
              <a:rPr lang="en-US" sz="1150" dirty="0">
                <a:solidFill>
                  <a:srgbClr val="1A1A1A"/>
                </a:solidFill>
                <a:latin typeface="Arial" pitchFamily="34" charset="0"/>
                <a:ea typeface="Arial" pitchFamily="34" charset="-122"/>
                <a:cs typeface="Arial" pitchFamily="34" charset="-120"/>
              </a:rPr>
              <a:t>Mô hình tiền huấn luyện phổ biến nhất cho tiếng Việt đã được huấn luyện trên chính bộ dữ liệu này. Phải đọc model card trước khi tin một con số benchmark.</a:t>
            </a:r>
            <a:endParaRPr lang="en-US" sz="1150" dirty="0"/>
          </a:p>
        </p:txBody>
      </p:sp>
      <p:sp>
        <p:nvSpPr>
          <p:cNvPr id="21" name="Shape 18"/>
          <p:cNvSpPr/>
          <p:nvPr/>
        </p:nvSpPr>
        <p:spPr>
          <a:xfrm>
            <a:off x="502920" y="4617720"/>
            <a:ext cx="3977640" cy="1554480"/>
          </a:xfrm>
          <a:prstGeom prst="roundRect">
            <a:avLst>
              <a:gd name="adj" fmla="val 3529"/>
            </a:avLst>
          </a:prstGeom>
          <a:solidFill>
            <a:srgbClr val="F4F8FC"/>
          </a:solidFill>
          <a:ln w="15875">
            <a:solidFill>
              <a:srgbClr val="2D75B6"/>
            </a:solidFill>
            <a:prstDash val="solid"/>
          </a:ln>
        </p:spPr>
      </p:sp>
      <p:sp>
        <p:nvSpPr>
          <p:cNvPr id="22" name="Text 19"/>
          <p:cNvSpPr txBox="1"/>
          <p:nvPr/>
        </p:nvSpPr>
        <p:spPr>
          <a:xfrm>
            <a:off x="713232" y="4709160"/>
            <a:ext cx="3566160" cy="274320"/>
          </a:xfrm>
          <a:prstGeom prst="rect">
            <a:avLst/>
          </a:prstGeom>
          <a:noFill/>
          <a:ln/>
        </p:spPr>
        <p:txBody>
          <a:bodyPr wrap="square" lIns="0" tIns="0" rIns="0" bIns="0" rtlCol="0" anchor="ctr"/>
          <a:lstStyle/>
          <a:p>
            <a:pPr indent="0" marL="0">
              <a:buNone/>
            </a:pPr>
            <a:r>
              <a:rPr lang="en-US" sz="1250" b="1" dirty="0">
                <a:solidFill>
                  <a:srgbClr val="2D75B6"/>
                </a:solidFill>
                <a:latin typeface="Arial" pitchFamily="34" charset="0"/>
                <a:ea typeface="Arial" pitchFamily="34" charset="-122"/>
                <a:cs typeface="Arial" pitchFamily="34" charset="-120"/>
              </a:rPr>
              <a:t>Giới hạn</a:t>
            </a:r>
            <a:endParaRPr lang="en-US" sz="1250" dirty="0"/>
          </a:p>
        </p:txBody>
      </p:sp>
      <p:sp>
        <p:nvSpPr>
          <p:cNvPr id="23" name="Text 20"/>
          <p:cNvSpPr txBox="1"/>
          <p:nvPr/>
        </p:nvSpPr>
        <p:spPr>
          <a:xfrm>
            <a:off x="713232" y="4992624"/>
            <a:ext cx="3566160" cy="1097280"/>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Nhãn không đầy đủ, mọi Recall là cận dưới.</a:t>
            </a:r>
            <a:endParaRPr lang="en-US" sz="1100" dirty="0"/>
          </a:p>
          <a:p>
            <a:pPr indent="0" marL="0">
              <a:lnSpc>
                <a:spcPts val="1500"/>
              </a:lnSpc>
              <a:buNone/>
            </a:pPr>
            <a:r>
              <a:rPr lang="en-US" sz="1100" dirty="0">
                <a:solidFill>
                  <a:srgbClr val="1A1A1A"/>
                </a:solidFill>
                <a:latin typeface="Arial" pitchFamily="34" charset="0"/>
                <a:ea typeface="Arial" pitchFamily="34" charset="-122"/>
                <a:cs typeface="Arial" pitchFamily="34" charset="-120"/>
              </a:rPr>
              <a:t>Mỗi cấu hình chỉ chạy một seed.</a:t>
            </a:r>
            <a:endParaRPr lang="en-US" sz="1100" dirty="0"/>
          </a:p>
          <a:p>
            <a:pPr indent="0" marL="0">
              <a:lnSpc>
                <a:spcPts val="1500"/>
              </a:lnSpc>
              <a:buNone/>
            </a:pPr>
            <a:r>
              <a:rPr lang="en-US" sz="1100" dirty="0">
                <a:solidFill>
                  <a:srgbClr val="1A1A1A"/>
                </a:solidFill>
                <a:latin typeface="Arial" pitchFamily="34" charset="0"/>
                <a:ea typeface="Arial" pitchFamily="34" charset="-122"/>
                <a:cs typeface="Arial" pitchFamily="34" charset="-120"/>
              </a:rPr>
              <a:t>F2 không so trực tiếp được với bảng xếp hạng Zalo.</a:t>
            </a:r>
            <a:endParaRPr lang="en-US" sz="1100" dirty="0"/>
          </a:p>
        </p:txBody>
      </p:sp>
      <p:sp>
        <p:nvSpPr>
          <p:cNvPr id="24" name="Shape 21"/>
          <p:cNvSpPr/>
          <p:nvPr/>
        </p:nvSpPr>
        <p:spPr>
          <a:xfrm>
            <a:off x="4663440" y="4617720"/>
            <a:ext cx="3977640" cy="1554480"/>
          </a:xfrm>
          <a:prstGeom prst="roundRect">
            <a:avLst>
              <a:gd name="adj" fmla="val 3529"/>
            </a:avLst>
          </a:prstGeom>
          <a:solidFill>
            <a:srgbClr val="EAF6EE"/>
          </a:solidFill>
          <a:ln w="15875">
            <a:solidFill>
              <a:srgbClr val="1E7A4B"/>
            </a:solidFill>
            <a:prstDash val="solid"/>
          </a:ln>
        </p:spPr>
      </p:sp>
      <p:sp>
        <p:nvSpPr>
          <p:cNvPr id="25" name="Text 22"/>
          <p:cNvSpPr txBox="1"/>
          <p:nvPr/>
        </p:nvSpPr>
        <p:spPr>
          <a:xfrm>
            <a:off x="4873752" y="4709160"/>
            <a:ext cx="3566160" cy="274320"/>
          </a:xfrm>
          <a:prstGeom prst="rect">
            <a:avLst/>
          </a:prstGeom>
          <a:noFill/>
          <a:ln/>
        </p:spPr>
        <p:txBody>
          <a:bodyPr wrap="square" lIns="0" tIns="0" rIns="0" bIns="0" rtlCol="0" anchor="ctr"/>
          <a:lstStyle/>
          <a:p>
            <a:pPr indent="0" marL="0">
              <a:buNone/>
            </a:pPr>
            <a:r>
              <a:rPr lang="en-US" sz="1250" b="1" dirty="0">
                <a:solidFill>
                  <a:srgbClr val="1E7A4B"/>
                </a:solidFill>
                <a:latin typeface="Arial" pitchFamily="34" charset="0"/>
                <a:ea typeface="Arial" pitchFamily="34" charset="-122"/>
                <a:cs typeface="Arial" pitchFamily="34" charset="-120"/>
              </a:rPr>
              <a:t>Hướng phát triển</a:t>
            </a:r>
            <a:endParaRPr lang="en-US" sz="1250" dirty="0"/>
          </a:p>
        </p:txBody>
      </p:sp>
      <p:sp>
        <p:nvSpPr>
          <p:cNvPr id="26" name="Text 23"/>
          <p:cNvSpPr txBox="1"/>
          <p:nvPr/>
        </p:nvSpPr>
        <p:spPr>
          <a:xfrm>
            <a:off x="4873752" y="4992624"/>
            <a:ext cx="3566160" cy="1097280"/>
          </a:xfrm>
          <a:prstGeom prst="rect">
            <a:avLst/>
          </a:prstGeom>
          <a:noFill/>
          <a:ln/>
        </p:spPr>
        <p:txBody>
          <a:bodyPr wrap="square" lIns="0" tIns="0" rIns="0" bIns="0" rtlCol="0" anchor="t"/>
          <a:lstStyle/>
          <a:p>
            <a:pPr indent="0" marL="0">
              <a:lnSpc>
                <a:spcPts val="1500"/>
              </a:lnSpc>
              <a:buNone/>
            </a:pPr>
            <a:r>
              <a:rPr lang="en-US" sz="1100" dirty="0">
                <a:solidFill>
                  <a:srgbClr val="1A1A1A"/>
                </a:solidFill>
                <a:latin typeface="Arial" pitchFamily="34" charset="0"/>
                <a:ea typeface="Arial" pitchFamily="34" charset="-122"/>
                <a:cs typeface="Arial" pitchFamily="34" charset="-120"/>
              </a:rPr>
              <a:t>Cross-encoder xếp hạng lại top-20.</a:t>
            </a:r>
            <a:endParaRPr lang="en-US" sz="1100" dirty="0"/>
          </a:p>
          <a:p>
            <a:pPr indent="0" marL="0">
              <a:lnSpc>
                <a:spcPts val="1500"/>
              </a:lnSpc>
              <a:buNone/>
            </a:pPr>
            <a:r>
              <a:rPr lang="en-US" sz="1100" dirty="0">
                <a:solidFill>
                  <a:srgbClr val="1A1A1A"/>
                </a:solidFill>
                <a:latin typeface="Arial" pitchFamily="34" charset="0"/>
                <a:ea typeface="Arial" pitchFamily="34" charset="-122"/>
                <a:cs typeface="Arial" pitchFamily="34" charset="-120"/>
              </a:rPr>
              <a:t>Bổ sung nhãn cho câu hỏi có nhiều điều cùng đúng.</a:t>
            </a:r>
            <a:endParaRPr lang="en-US" sz="1100" dirty="0"/>
          </a:p>
          <a:p>
            <a:pPr indent="0" marL="0">
              <a:lnSpc>
                <a:spcPts val="1500"/>
              </a:lnSpc>
              <a:buNone/>
            </a:pPr>
            <a:r>
              <a:rPr lang="en-US" sz="1100" dirty="0">
                <a:solidFill>
                  <a:srgbClr val="1A1A1A"/>
                </a:solidFill>
                <a:latin typeface="Arial" pitchFamily="34" charset="0"/>
                <a:ea typeface="Arial" pitchFamily="34" charset="-122"/>
                <a:cs typeface="Arial" pitchFamily="34" charset="-120"/>
              </a:rPr>
              <a:t>Đo trên bộ dữ liệu mà mô hình chắc chắn chưa thấy.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kiem dieu luat cho cau hoi phap luat tieng Viet</dc:title>
  <dc:subject>PptxGenJS Presentation</dc:subject>
  <dc:creator>Nhom 09</dc:creator>
  <cp:lastModifiedBy>Nhom 09</cp:lastModifiedBy>
  <cp:revision>1</cp:revision>
  <dcterms:created xsi:type="dcterms:W3CDTF">2026-09-06T00:06:49Z</dcterms:created>
  <dcterms:modified xsi:type="dcterms:W3CDTF">2026-09-06T00:06:49Z</dcterms:modified>
</cp:coreProperties>
</file>
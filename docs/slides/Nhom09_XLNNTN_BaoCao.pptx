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Truy hồi điều luật tiếng Việt cho câu hỏi gõ không dấu."
Nếu cần nói đề tài bằng một câu: "Mô hình ngữ nghĩa sạch tốt nhất tụt từ 97 xuống 12 phần trăm khi người dân gõ không dấu. Nhóm đo điều đó cho sạch, rồi sửa nó bằng một mô hình ngôn ngữ nhỏ học từ chính kho luật."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6 mục, KHÔNG giải thích gì ở đây. Khoảng 15 giây.
"Bài báo cáo gồm 6 phần. Phần nhóm muốn thầy chú ý nhất là phần 5: khi người dân gõ không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Chỉ vào dòng đỏ: "Và khó hơn nữa, rất nhiều người gõ đúng câu đó mà không có dấu. Đây là thách thức nhóm tập trung vào."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Không đọc hết bảng, chỉ đọc cột bên phải.
Dòng 1: "Ghép BM25 với mô hình ngữ nghĩa cho văn bản tiếng Việt thì từ các đội Zalo 2021 tới EACL 2026 đều đã làm, và đều kết luận ghép thì tốt hơn. Bài EACL 2026 còn so đúng ba cách này trên 10 bộ dữ liệu. Nếu nhóm chỉ lặp lại phép so đó thì không có gì mới."
Dòng 2 và 3, nói nhanh: "Có hướng làm mô hình ngữ nghĩa mạnh hơn, trong đó có bài của nhóm tác giả UIT năm 2025. Và có bài phân tích cách hợp nhất của Bruch và cộng sự."
Dòng 4, nói chậm: "Phục hồi dấu tiếng Việt thì đã được nghiên cứu kỹ, đạt khoảng 97 phần trăm. Nhưng nó được đo như một bài toán riêng, chưa ai đo nó ảnh hưởng thế nào tới tìm luật."
NẾU THẦY HỎI "đọc hết chưa": nhóm đối chiếu theo phần tóm tắt, mã nguồn và model card. Danh sách đầy đủ ở slide cuối và trong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Đây là slide trả lời "vì sao chọn hướng này". Nói chậm ở ô số 1.
"Từ các nghiên cứu đó, nhóm thấy bốn điều chưa ai báo cáo."
Ô 1, quan trọng nhất: "Mọi bài tìm luật đều chấm trên câu hỏi có dấu đầy đủ. Còn các bài phục hồi dấu thì không đo tìm luật. Không ai biết hệ đứng vững thế nào khi người dân gõ không dấu."
Ô 2 tới 4, nói nhanh: "Mô hình đã thấy dữ liệu chưa, split gốc có sạch không, và cách ghép thì chọn theo thói quen."
Đọc hai câu hỏi nghiên cứu. Nối: "Câu hỏi 1 là điều kiện để trả lời câu hỏi 2: muốn biết không dấu làm hỏng bao nhiêu thì phải có một mốc có dấu đo sạch trước."
NẾU THẦY HỎI "chắc chưa ai làm không": nhóm chỉ khẳng định trong những bài đã xem, theo phần tóm tắt và mã nguồn công bố.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"Bộ dữ liệu Zalo AI Challenge 2021, bản trên HuggingFace, giấy phép MIT, đã được đưa vào MTEB. 61.425 điều luật, 3.196 câu hỏi. Nhóm vẫn kiểm toán lại từ đầu và tìm ra sáu vấn đề, mỗi vấn đề để lại một tệp bằng chứng trong reports/audit."
Chỉ vào cột đỏ: "26 câu hỏi nằm ở cả train lẫn test. Đây là rò rỉ, slide sau em nói kỹ."
Chỉ vào ô cam: "Và có bốn văn bản bị tách đôi chỉ vì dấu: nd-cp và nđ-cp. Chuyện dấu tiếng Việt đã gây lỗi ngay trong dữ liệu gốc."
NẾU THẦY HỎI "sao không xóa điều trùng đi": kho luật thật thì có điều trùng thật, xóa đi làm bài toán dễ đi một cách giả tạo.
NẾU THẦY HỎI về tập val: bộ gốc không có val, nhóm cắt val ra từ train theo câu hỏi, seed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Slide này là điểm nhấn của phần kiểm toán.
"Trong 26 câu chồng lấn ở slide trước, 24 câu trùng đúng mã câu hỏi, 2 câu còn lại chỉ diễn đạt gần giống nên không so nhãn trực tiếp được. Nói về 24 câu trùng mã: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Phát hiện lớn nhất của phần kiểm toán,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Chỉ nói hộp đỏ và hai nhánh, phần tách từ và gộp max chỉ nói khi bị hỏi.
Hộp đỏ: "Mọi câu hỏi đều đi qua khâu phục hồi dấu, không phân biệt câu có dấu hay không. Âm tiết người dùng đã gõ dấu thì giữ nguyên, chỉ phần thiếu mới được sửa, nên câu gõ dấu một nửa cũng dùng được. Phần 5 sẽ nói vì sao cần khâu này."
"Sau đó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Slide này trả lời câu hỏi nghiên cứu 1.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khung xanh lá, trả lời thẳng câu hỏi 1: "Hợp nhất chỉ hơn ngữ nghĩa thuần 0,50 điểm ở tỷ lệ câu có gold trong top-10, tức 4 câu trên 788; tính theo Recall@10 thì chênh 0,51 điểm. Có cải thiện nhưng rất nhỏ. Và cách ghép có trọng số thắng RRF, đúng như Bruch và cộng sự."
Chỉ vào hai dòng xám: "Hai dòng dưới trông đẹp hơn, nhưng dùng mô hình đã thấy dữ liệu test. Nhóm để đây để thấy một con số benchmark bị thổi lên dễ thế nào."
Chuyển slide: "Vậy BM25 có vô dụng không? Câu trả lời nằm ở phần sau, khi người dân gõ không dấu."
NẾU THẦY HỎI "F2 sao thấp": F2 ở đây cố định k = 10 nên precision tối đa chỉ 0,1. Ban tổ chức Zalo cho phép trả về số kết quả thay đổi được nên con số của họ không so trực tiếp được.
NẾU THẦY HỎI về bảng bốn ô BM25 và ngữ nghĩa: mở phụ lục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Đây là kết quả chính của đồ án. Nói chậm, chỉ tay vào biểu đồ.
"Nhóm lấy đúng 788 câu hỏi test, bỏ hết dấu, giữ nguyên nhãn. Rồi chạy lại đúng hệ vừa rồi."
Chỉ vào ba thanh đỏ: "Mô hình ngữ nghĩa sạch tốt nhất tụt từ 97,21 xuống 12,44 phần trăm. BM25 còn 6,22. Hợp nhất cũng chỉ 14,47. Cả hệ gần như không dùng được."
Chỉ vào thanh cam: "Chỉ cần lập chỉ mục BM25 trên văn bản đã bỏ dấu, không cần mô hình nào, BM25 lên lại 74,30, gấp 6 lần mô hình ngữ nghĩa. Ở câu có dấu BM25 gần như vô dụng, ở đây nó lại là tầng đứng vững nhất."
Chỉ vào thanh xanh lá: "Và cách tốt nhất là phục hồi dấu trước khi tìm. Slide sau."
NẾU THẦY HỎI "vì sao mô hình ngữ nghĩa sụp": giả thuyết của nhóm là mô hình học chủ yếu trên văn bản có dấu, nên 'phat' và 'phạt' bị tách thành những token khác hẳn nhau. Nhóm chưa kiểm chứng trực tiếp giả thuyết này.
NẾU THẦY HỎI "câu không dấu này có thật không": là câu gốc bị bỏ dấu bằng máy, nên nhãn giữ nguyên được. Chưa có câu gõ tay thật, ghi rõ ở phần giới hạn.
NẾU THẦY HỎI "thanh BM25 bỏ dấu giảm là do bỏ dấu hay do đổi cách tách từ": chỉ mục đó đổi cả hai. Nhóm đo tách riêng trên val: pyvi tách từ còn dấu 0,8399, âm tiết còn dấu 0,7931, âm tiết bỏ dấu 0,6559. Đổi cách tách từ mất 0,047, bỏ dấu mất thêm 0,137.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Trả lời câu hỏi nghiên cứu 2.
Khung trái: "Cách làm rất đơn giản. Đếm cặp âm tiết liền nhau trên 18,6 triệu âm tiết của chính kho luật. Một âm tiết không dấu như 'phat' có nhiều ứng viên: phát, phạt, phắt. Thuật toán Viterbi chọn chuỗi ứng viên có xác suất cao nhất. Không cần tải mô hình nào, đếm xong trong 15 giây."
Khung phải: "Kết quả: 98,45 phần trăm âm tiết đúng, khoảng 0,9 mili giây mỗi câu. Hệ lai lên lại 96,70 phần trăm, chỉ kém câu có dấu 1,02 điểm."
Khung đỏ, nói thẳng chỗ sai: "Phục hồi sai rơi vào từ nói thường mà văn bản luật không dùng. Tài xế thành tải xe, máu thành mẫu. Đây lại chính là khoảng cách từ vựng ở slide 3."
Khung xanh lá: "Không cần hỏi câu này có dấu hay chưa. Cho mọi câu đi qua khâu phục hồi dấu: câu vốn đủ dấu vẫn giữ 97,72, còn câu gõ dấu một nửa thì từ 74,81 lên 97,21."
NẾU THẦY HỎI "sao không dùng mô hình phục hồi dấu có sẵn": các mô hình dịch máy đạt khoảng 97 phần trăm, cùng mức với bigram này, nhưng phải tải và chạy thêm một mô hình lớn. Nhóm chưa so trên cùng bộ dữ liệu nên không nói hơn kém.
NẾU THẦY HỎI "sao không mã hóa lại cả kho ở dạng không dấu": chưa đo, nên không trả lời bằng số được. Phục hồi dấu có lợi thế là giữ nguyên toàn bộ hệ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Nói chậm, đây là ấn tượng cuối cùng.
"Một, câu hỏi nghiên cứu 1: với câu có dấu, hợp nhất chỉ hơn ngữ nghĩa thuần 0,51 điểm Recall@10, tức 4 câu trên 788. Có cải thiện nhưng rất nhỏ."
"Hai, câu hỏi nghiên cứu 2, và đây là điều nhóm muốn thầy nhớ: khi người dân gõ không dấu, mô hình ngữ nghĩa tốt nhất chỉ còn 12,44 phần trăm. Một mô hình bigram nhỏ học từ chính kho luật kéo hệ về 96,70. Và BM25, tầng tưởng như vô dụng, lại là tầng đứng vững nhất khi không có dấu."
"Ba, chống rò rỉ dữ liệu không dừng ở chia lại tập. Mô hình tiền huấn luyện mình đem dùng cũng có thể đã thấy tập test rồi."
Kết: "Em xin hết. Nhóm xin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slide này khi thầy hỏi về chia đoạn.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chi tiết về câu hỏi nghiên cứu 1.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
Đối chiếu nghiên cứu trước, một câu: "Kết quả này khớp với Bruch và cộng sự năm 2023: tổng có trọng số hơn RRF khi được chỉnh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hệ sai ở đâu. Nếu phải nói thì 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7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Danh sách đọc thẳng từ docs/NGHIEN_CUU_LIEN_QUAN.md, không gõ lại trong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Truy hồi điều luật tiếng Việt</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cho câu hỏi gõ không dấu</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500" i="1" dirty="0">
                <a:solidFill>
                  <a:srgbClr val="CFE2F5"/>
                </a:solidFill>
                <a:latin typeface="Arial" pitchFamily="34" charset="0"/>
                <a:ea typeface="Arial" pitchFamily="34" charset="-122"/>
                <a:cs typeface="Arial" pitchFamily="34" charset="-120"/>
              </a:rPr>
              <a:t>Phục hồi dấu, truy hồi lai và kiểm toán rò rỉ dữ liệu</a:t>
            </a:r>
            <a:endParaRPr lang="en-US" sz="15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078992"/>
            <a:ext cx="8138160" cy="749808"/>
          </a:xfrm>
          <a:prstGeom prst="roundRect">
            <a:avLst>
              <a:gd name="adj" fmla="val 7317"/>
            </a:avLst>
          </a:prstGeom>
          <a:solidFill>
            <a:srgbClr val="F4F8FC"/>
          </a:solidFill>
          <a:ln w="15875">
            <a:solidFill>
              <a:srgbClr val="2D75B6"/>
            </a:solidFill>
            <a:prstDash val="solid"/>
          </a:ln>
        </p:spPr>
      </p:sp>
      <p:sp>
        <p:nvSpPr>
          <p:cNvPr id="10" name="Shape 7"/>
          <p:cNvSpPr/>
          <p:nvPr/>
        </p:nvSpPr>
        <p:spPr>
          <a:xfrm>
            <a:off x="731520" y="1234440"/>
            <a:ext cx="438912" cy="438912"/>
          </a:xfrm>
          <a:prstGeom prst="ellipse">
            <a:avLst/>
          </a:prstGeom>
          <a:solidFill>
            <a:srgbClr val="2D75B6"/>
          </a:solidFill>
          <a:ln/>
        </p:spPr>
      </p:sp>
      <p:sp>
        <p:nvSpPr>
          <p:cNvPr id="11" name="Text 8"/>
          <p:cNvSpPr txBox="1"/>
          <p:nvPr/>
        </p:nvSpPr>
        <p:spPr>
          <a:xfrm>
            <a:off x="731520" y="1234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17320" y="11612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Bài toán và nghiên cứu trước</a:t>
            </a:r>
            <a:endParaRPr lang="en-US" sz="1500" dirty="0"/>
          </a:p>
        </p:txBody>
      </p:sp>
      <p:sp>
        <p:nvSpPr>
          <p:cNvPr id="13" name="Text 10"/>
          <p:cNvSpPr txBox="1"/>
          <p:nvPr/>
        </p:nvSpPr>
        <p:spPr>
          <a:xfrm>
            <a:off x="1417320" y="14721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Lai BM25 và ngữ nghĩa đã là công thức mặc định. Chỗ còn trống ở đâu</a:t>
            </a:r>
            <a:endParaRPr lang="en-US" sz="1150" dirty="0"/>
          </a:p>
        </p:txBody>
      </p:sp>
      <p:sp>
        <p:nvSpPr>
          <p:cNvPr id="14" name="Shape 11"/>
          <p:cNvSpPr/>
          <p:nvPr/>
        </p:nvSpPr>
        <p:spPr>
          <a:xfrm>
            <a:off x="502920" y="1947672"/>
            <a:ext cx="8138160" cy="749808"/>
          </a:xfrm>
          <a:prstGeom prst="roundRect">
            <a:avLst>
              <a:gd name="adj" fmla="val 7317"/>
            </a:avLst>
          </a:prstGeom>
          <a:solidFill>
            <a:srgbClr val="F4F8FC"/>
          </a:solidFill>
          <a:ln w="15875">
            <a:solidFill>
              <a:srgbClr val="2D75B6"/>
            </a:solidFill>
            <a:prstDash val="solid"/>
          </a:ln>
        </p:spPr>
      </p:sp>
      <p:sp>
        <p:nvSpPr>
          <p:cNvPr id="15" name="Shape 12"/>
          <p:cNvSpPr/>
          <p:nvPr/>
        </p:nvSpPr>
        <p:spPr>
          <a:xfrm>
            <a:off x="731520" y="2103120"/>
            <a:ext cx="438912" cy="438912"/>
          </a:xfrm>
          <a:prstGeom prst="ellipse">
            <a:avLst/>
          </a:prstGeom>
          <a:solidFill>
            <a:srgbClr val="2D75B6"/>
          </a:solidFill>
          <a:ln/>
        </p:spPr>
      </p:sp>
      <p:sp>
        <p:nvSpPr>
          <p:cNvPr id="16" name="Text 13"/>
          <p:cNvSpPr txBox="1"/>
          <p:nvPr/>
        </p:nvSpPr>
        <p:spPr>
          <a:xfrm>
            <a:off x="73152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txBox="1"/>
          <p:nvPr/>
        </p:nvSpPr>
        <p:spPr>
          <a:xfrm>
            <a:off x="1417320" y="202996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Dữ liệu và kiểm toán rò rỉ</a:t>
            </a:r>
            <a:endParaRPr lang="en-US" sz="1500" dirty="0"/>
          </a:p>
        </p:txBody>
      </p:sp>
      <p:sp>
        <p:nvSpPr>
          <p:cNvPr id="18" name="Text 15"/>
          <p:cNvSpPr txBox="1"/>
          <p:nvPr/>
        </p:nvSpPr>
        <p:spPr>
          <a:xfrm>
            <a:off x="1417320" y="234086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 và một mô hình đã thấy trước đề</a:t>
            </a:r>
            <a:endParaRPr lang="en-US" sz="1150" dirty="0"/>
          </a:p>
        </p:txBody>
      </p:sp>
      <p:sp>
        <p:nvSpPr>
          <p:cNvPr id="19" name="Shape 16"/>
          <p:cNvSpPr/>
          <p:nvPr/>
        </p:nvSpPr>
        <p:spPr>
          <a:xfrm>
            <a:off x="502920" y="2816352"/>
            <a:ext cx="8138160" cy="749808"/>
          </a:xfrm>
          <a:prstGeom prst="roundRect">
            <a:avLst>
              <a:gd name="adj" fmla="val 7317"/>
            </a:avLst>
          </a:prstGeom>
          <a:solidFill>
            <a:srgbClr val="F4F8FC"/>
          </a:solidFill>
          <a:ln w="15875">
            <a:solidFill>
              <a:srgbClr val="2D75B6"/>
            </a:solidFill>
            <a:prstDash val="solid"/>
          </a:ln>
        </p:spPr>
      </p:sp>
      <p:sp>
        <p:nvSpPr>
          <p:cNvPr id="20" name="Shape 17"/>
          <p:cNvSpPr/>
          <p:nvPr/>
        </p:nvSpPr>
        <p:spPr>
          <a:xfrm>
            <a:off x="731520" y="2971800"/>
            <a:ext cx="438912" cy="438912"/>
          </a:xfrm>
          <a:prstGeom prst="ellipse">
            <a:avLst/>
          </a:prstGeom>
          <a:solidFill>
            <a:srgbClr val="2D75B6"/>
          </a:solidFill>
          <a:ln/>
        </p:spPr>
      </p:sp>
      <p:sp>
        <p:nvSpPr>
          <p:cNvPr id="21" name="Text 18"/>
          <p:cNvSpPr txBox="1"/>
          <p:nvPr/>
        </p:nvSpPr>
        <p:spPr>
          <a:xfrm>
            <a:off x="731520" y="29718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19"/>
          <p:cNvSpPr txBox="1"/>
          <p:nvPr/>
        </p:nvSpPr>
        <p:spPr>
          <a:xfrm>
            <a:off x="1417320" y="289864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Kiến trúc</a:t>
            </a:r>
            <a:endParaRPr lang="en-US" sz="1500" dirty="0"/>
          </a:p>
        </p:txBody>
      </p:sp>
      <p:sp>
        <p:nvSpPr>
          <p:cNvPr id="23" name="Text 20"/>
          <p:cNvSpPr txBox="1"/>
          <p:nvPr/>
        </p:nvSpPr>
        <p:spPr>
          <a:xfrm>
            <a:off x="1417320" y="320954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Phục hồi dấu, BM25, mô hình nhúng, hợp nhất</a:t>
            </a:r>
            <a:endParaRPr lang="en-US" sz="1150" dirty="0"/>
          </a:p>
        </p:txBody>
      </p:sp>
      <p:sp>
        <p:nvSpPr>
          <p:cNvPr id="24" name="Shape 21"/>
          <p:cNvSpPr/>
          <p:nvPr/>
        </p:nvSpPr>
        <p:spPr>
          <a:xfrm>
            <a:off x="502920" y="3685032"/>
            <a:ext cx="8138160" cy="749808"/>
          </a:xfrm>
          <a:prstGeom prst="roundRect">
            <a:avLst>
              <a:gd name="adj" fmla="val 7317"/>
            </a:avLst>
          </a:prstGeom>
          <a:solidFill>
            <a:srgbClr val="F4F8FC"/>
          </a:solidFill>
          <a:ln w="15875">
            <a:solidFill>
              <a:srgbClr val="2D75B6"/>
            </a:solidFill>
            <a:prstDash val="solid"/>
          </a:ln>
        </p:spPr>
      </p:sp>
      <p:sp>
        <p:nvSpPr>
          <p:cNvPr id="25" name="Shape 22"/>
          <p:cNvSpPr/>
          <p:nvPr/>
        </p:nvSpPr>
        <p:spPr>
          <a:xfrm>
            <a:off x="731520" y="3840480"/>
            <a:ext cx="438912" cy="438912"/>
          </a:xfrm>
          <a:prstGeom prst="ellipse">
            <a:avLst/>
          </a:prstGeom>
          <a:solidFill>
            <a:srgbClr val="2D75B6"/>
          </a:solidFill>
          <a:ln/>
        </p:spPr>
      </p:sp>
      <p:sp>
        <p:nvSpPr>
          <p:cNvPr id="26" name="Text 23"/>
          <p:cNvSpPr txBox="1"/>
          <p:nvPr/>
        </p:nvSpPr>
        <p:spPr>
          <a:xfrm>
            <a:off x="731520" y="3840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7" name="Text 24"/>
          <p:cNvSpPr txBox="1"/>
          <p:nvPr/>
        </p:nvSpPr>
        <p:spPr>
          <a:xfrm>
            <a:off x="1417320" y="376732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có dấu</a:t>
            </a:r>
            <a:endParaRPr lang="en-US" sz="1500" dirty="0"/>
          </a:p>
        </p:txBody>
      </p:sp>
      <p:sp>
        <p:nvSpPr>
          <p:cNvPr id="28" name="Text 25"/>
          <p:cNvSpPr txBox="1"/>
          <p:nvPr/>
        </p:nvSpPr>
        <p:spPr>
          <a:xfrm>
            <a:off x="1417320" y="407822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còn giúp được bao nhiêu</a:t>
            </a:r>
            <a:endParaRPr lang="en-US" sz="1150" dirty="0"/>
          </a:p>
        </p:txBody>
      </p:sp>
      <p:sp>
        <p:nvSpPr>
          <p:cNvPr id="29" name="Shape 26"/>
          <p:cNvSpPr/>
          <p:nvPr/>
        </p:nvSpPr>
        <p:spPr>
          <a:xfrm>
            <a:off x="502920" y="4553712"/>
            <a:ext cx="8138160" cy="749808"/>
          </a:xfrm>
          <a:prstGeom prst="roundRect">
            <a:avLst>
              <a:gd name="adj" fmla="val 7317"/>
            </a:avLst>
          </a:prstGeom>
          <a:solidFill>
            <a:srgbClr val="FDF2E9"/>
          </a:solidFill>
          <a:ln w="15875">
            <a:solidFill>
              <a:srgbClr val="D68910"/>
            </a:solidFill>
            <a:prstDash val="solid"/>
          </a:ln>
        </p:spPr>
      </p:sp>
      <p:sp>
        <p:nvSpPr>
          <p:cNvPr id="30" name="Shape 27"/>
          <p:cNvSpPr/>
          <p:nvPr/>
        </p:nvSpPr>
        <p:spPr>
          <a:xfrm>
            <a:off x="731520" y="4709160"/>
            <a:ext cx="438912" cy="438912"/>
          </a:xfrm>
          <a:prstGeom prst="ellipse">
            <a:avLst/>
          </a:prstGeom>
          <a:solidFill>
            <a:srgbClr val="D68910"/>
          </a:solidFill>
          <a:ln/>
        </p:spPr>
      </p:sp>
      <p:sp>
        <p:nvSpPr>
          <p:cNvPr id="31" name="Text 28"/>
          <p:cNvSpPr txBox="1"/>
          <p:nvPr/>
        </p:nvSpPr>
        <p:spPr>
          <a:xfrm>
            <a:off x="731520" y="4709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2" name="Text 29"/>
          <p:cNvSpPr txBox="1"/>
          <p:nvPr/>
        </p:nvSpPr>
        <p:spPr>
          <a:xfrm>
            <a:off x="1417320" y="463600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gõ không dấu</a:t>
            </a:r>
            <a:endParaRPr lang="en-US" sz="1500" dirty="0"/>
          </a:p>
        </p:txBody>
      </p:sp>
      <p:sp>
        <p:nvSpPr>
          <p:cNvPr id="33" name="Text 30"/>
          <p:cNvSpPr txBox="1"/>
          <p:nvPr/>
        </p:nvSpPr>
        <p:spPr>
          <a:xfrm>
            <a:off x="1417320" y="494690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Mô hình mạnh nhất sụp đổ, và cách sửa rẻ nhất</a:t>
            </a:r>
            <a:endParaRPr lang="en-US" sz="1150" dirty="0"/>
          </a:p>
        </p:txBody>
      </p:sp>
      <p:sp>
        <p:nvSpPr>
          <p:cNvPr id="34" name="Shape 31"/>
          <p:cNvSpPr/>
          <p:nvPr/>
        </p:nvSpPr>
        <p:spPr>
          <a:xfrm>
            <a:off x="502920" y="5422392"/>
            <a:ext cx="8138160" cy="749808"/>
          </a:xfrm>
          <a:prstGeom prst="roundRect">
            <a:avLst>
              <a:gd name="adj" fmla="val 7317"/>
            </a:avLst>
          </a:prstGeom>
          <a:solidFill>
            <a:srgbClr val="F4F8FC"/>
          </a:solidFill>
          <a:ln w="15875">
            <a:solidFill>
              <a:srgbClr val="2D75B6"/>
            </a:solidFill>
            <a:prstDash val="solid"/>
          </a:ln>
        </p:spPr>
      </p:sp>
      <p:sp>
        <p:nvSpPr>
          <p:cNvPr id="35" name="Shape 32"/>
          <p:cNvSpPr/>
          <p:nvPr/>
        </p:nvSpPr>
        <p:spPr>
          <a:xfrm>
            <a:off x="731520" y="5577840"/>
            <a:ext cx="438912" cy="438912"/>
          </a:xfrm>
          <a:prstGeom prst="ellipse">
            <a:avLst/>
          </a:prstGeom>
          <a:solidFill>
            <a:srgbClr val="2D75B6"/>
          </a:solidFill>
          <a:ln/>
        </p:spPr>
      </p:sp>
      <p:sp>
        <p:nvSpPr>
          <p:cNvPr id="36" name="Text 33"/>
          <p:cNvSpPr txBox="1"/>
          <p:nvPr/>
        </p:nvSpPr>
        <p:spPr>
          <a:xfrm>
            <a:off x="731520" y="5577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7" name="Text 34"/>
          <p:cNvSpPr txBox="1"/>
          <p:nvPr/>
        </p:nvSpPr>
        <p:spPr>
          <a:xfrm>
            <a:off x="1417320" y="55046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Kết luận và giới hạn</a:t>
            </a:r>
            <a:endParaRPr lang="en-US" sz="1500" dirty="0"/>
          </a:p>
        </p:txBody>
      </p:sp>
      <p:sp>
        <p:nvSpPr>
          <p:cNvPr id="38" name="Text 35"/>
          <p:cNvSpPr txBox="1"/>
          <p:nvPr/>
        </p:nvSpPr>
        <p:spPr>
          <a:xfrm>
            <a:off x="1417320" y="58155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160520"/>
            <a:ext cx="8138160" cy="2057400"/>
          </a:xfrm>
          <a:prstGeom prst="roundRect">
            <a:avLst>
              <a:gd name="adj" fmla="val 2667"/>
            </a:avLst>
          </a:prstGeom>
          <a:solidFill>
            <a:srgbClr val="FFFFFF"/>
          </a:solidFill>
          <a:ln w="15875">
            <a:solidFill>
              <a:srgbClr val="BFBFBF"/>
            </a:solidFill>
            <a:prstDash val="solid"/>
          </a:ln>
        </p:spPr>
      </p:sp>
      <p:sp>
        <p:nvSpPr>
          <p:cNvPr id="19" name="Text 16"/>
          <p:cNvSpPr txBox="1"/>
          <p:nvPr/>
        </p:nvSpPr>
        <p:spPr>
          <a:xfrm>
            <a:off x="731520" y="4242816"/>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Bốn thách thức</a:t>
            </a:r>
            <a:endParaRPr lang="en-US" sz="1300" dirty="0"/>
          </a:p>
        </p:txBody>
      </p:sp>
      <p:sp>
        <p:nvSpPr>
          <p:cNvPr id="20" name="Text 17"/>
          <p:cNvSpPr txBox="1"/>
          <p:nvPr/>
        </p:nvSpPr>
        <p:spPr>
          <a:xfrm>
            <a:off x="731520" y="4590288"/>
            <a:ext cx="7680960" cy="1536192"/>
          </a:xfrm>
          <a:prstGeom prst="rect">
            <a:avLst/>
          </a:prstGeom>
          <a:noFill/>
          <a:ln/>
        </p:spPr>
        <p:txBody>
          <a:bodyPr wrap="square" lIns="0" tIns="0" rIns="0" bIns="0" rtlCol="0" anchor="t"/>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C0392B"/>
                </a:solidFill>
                <a:latin typeface="Arial" pitchFamily="34" charset="0"/>
                <a:ea typeface="Arial" pitchFamily="34" charset="-122"/>
                <a:cs typeface="Arial" pitchFamily="34" charset="-120"/>
              </a:rPr>
              <a:t>Người dân gõ không dấu</a:t>
            </a:r>
            <a:pPr indent="0" marL="0">
              <a:lnSpc>
                <a:spcPts val="1900"/>
              </a:lnSpc>
              <a:buNone/>
            </a:pPr>
            <a:r>
              <a:rPr lang="en-US" sz="1200" dirty="0">
                <a:solidFill>
                  <a:srgbClr val="1A1A1A"/>
                </a:solidFill>
                <a:latin typeface="Arial" pitchFamily="34" charset="0"/>
                <a:ea typeface="Arial" pitchFamily="34" charset="-122"/>
                <a:cs typeface="Arial" pitchFamily="34" charset="-120"/>
              </a:rPr>
              <a:t>: “nuong bap tren cau phat bao nhieu”, khi nhắn trên điện thoại hay gõ vội</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Nghiên cứu trước: năm hướng đã có</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960120"/>
          <a:ext cx="8375904" cy="914400"/>
        </p:xfrm>
        <a:graphic>
          <a:graphicData uri="http://schemas.openxmlformats.org/drawingml/2006/table">
            <a:tbl>
              <a:tblPr/>
              <a:tblGrid>
                <a:gridCol w="1920240"/>
                <a:gridCol w="3986784"/>
                <a:gridCol w="2468880"/>
              </a:tblGrid>
              <a:tr h="32918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Hướng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Công trình tiêu biểu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Họ kết luận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82296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Lai BM25 và ngữ nghĩa, văn bản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Hai đội Zalo AI 2021 (mã công khai); Khang và cs. 2024; Giang và cs. 2025; ViDRILL, VLSP 2025; Nguyen và Quan, EACL 2026 (10 bộ dữ liệu)</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Lai tốt hơn từng tầng. Không bài nào kết luận ngược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Làm mạnh tầng ngữ nghĩa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và cs. 2022; Pham Tien và cs. 2024; Le và cs. 2025, UIT; ALQAC 2021-2023</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Cải tiến mô hình, không hỏi BM25 còn góp bao nhiêu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Cách 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Cormack và cs. 2009 (RRF); Bruch và cs. 2023, ACM TOIS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Tổng trọng số hơn RRF khi chỉnh được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585216">
                <a:tc>
                  <a:txBody>
                    <a:bodyPr/>
                    <a:lstStyle/>
                    <a:p>
                      <a:pPr indent="0" marL="0">
                        <a:buNone/>
                      </a:pPr>
                      <a:r>
                        <a:rPr lang="en-US" sz="1100" b="1" dirty="0">
                          <a:solidFill>
                            <a:srgbClr val="1A1A1A"/>
                          </a:solidFill>
                          <a:latin typeface="Arial" pitchFamily="34" charset="0"/>
                          <a:ea typeface="Arial" pitchFamily="34" charset="-122"/>
                          <a:cs typeface="Arial" pitchFamily="34" charset="-120"/>
                        </a:rPr>
                        <a:t>Phục hồi dấu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Pham, Le-Hong 2017 (IALP); Le-Hong 2021 (Knowledge-Based Systems)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Khoảng 97%, nhưng chưa đo cho truy hồi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Đánh giá mô hình nhúng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MMTEB, ICLR 2025; Chung và cs. 2025</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Phải đánh dấu mô hình đã học dữ liệu tác vụ</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384048" y="4572000"/>
            <a:ext cx="4096512" cy="1600200"/>
          </a:xfrm>
          <a:prstGeom prst="roundRect">
            <a:avLst>
              <a:gd name="adj" fmla="val 3429"/>
            </a:avLst>
          </a:prstGeom>
          <a:solidFill>
            <a:srgbClr val="F4F8FC"/>
          </a:solidFill>
          <a:ln w="15875">
            <a:solidFill>
              <a:srgbClr val="2D75B6"/>
            </a:solidFill>
            <a:prstDash val="solid"/>
          </a:ln>
        </p:spPr>
      </p:sp>
      <p:sp>
        <p:nvSpPr>
          <p:cNvPr id="11" name="Text 7"/>
          <p:cNvSpPr txBox="1"/>
          <p:nvPr/>
        </p:nvSpPr>
        <p:spPr>
          <a:xfrm>
            <a:off x="585216" y="4663440"/>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BM25 vẫn là mốc mạnh</a:t>
            </a:r>
            <a:endParaRPr lang="en-US" sz="1250" dirty="0"/>
          </a:p>
        </p:txBody>
      </p:sp>
      <p:sp>
        <p:nvSpPr>
          <p:cNvPr id="12" name="Text 8"/>
          <p:cNvSpPr txBox="1"/>
          <p:nvPr/>
        </p:nvSpPr>
        <p:spPr>
          <a:xfrm>
            <a:off x="585216" y="4956048"/>
            <a:ext cx="3749040" cy="1170432"/>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Rosa và cs. 2021: chỉ dùng BM25 vẫn đứng hạng 2 ở COLIEE 2021, cuộc thi truy hồi văn bản pháp lý. Vì vậy BM25 là đối chứng bắt buộc, không phải để cho có.</a:t>
            </a:r>
            <a:endParaRPr lang="en-US" sz="1100" dirty="0"/>
          </a:p>
        </p:txBody>
      </p:sp>
      <p:sp>
        <p:nvSpPr>
          <p:cNvPr id="13" name="Shape 9"/>
          <p:cNvSpPr/>
          <p:nvPr/>
        </p:nvSpPr>
        <p:spPr>
          <a:xfrm>
            <a:off x="4663440" y="4572000"/>
            <a:ext cx="4096512" cy="1600200"/>
          </a:xfrm>
          <a:prstGeom prst="roundRect">
            <a:avLst>
              <a:gd name="adj" fmla="val 3429"/>
            </a:avLst>
          </a:prstGeom>
          <a:solidFill>
            <a:srgbClr val="FFF8F0"/>
          </a:solidFill>
          <a:ln w="15875">
            <a:solidFill>
              <a:srgbClr val="D68910"/>
            </a:solidFill>
            <a:prstDash val="solid"/>
          </a:ln>
        </p:spPr>
      </p:sp>
      <p:sp>
        <p:nvSpPr>
          <p:cNvPr id="14" name="Text 10"/>
          <p:cNvSpPr txBox="1"/>
          <p:nvPr/>
        </p:nvSpPr>
        <p:spPr>
          <a:xfrm>
            <a:off x="4864608" y="4663440"/>
            <a:ext cx="374904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Hai model card trên đúng bộ Zalo</a:t>
            </a:r>
            <a:endParaRPr lang="en-US" sz="1250" dirty="0"/>
          </a:p>
        </p:txBody>
      </p:sp>
      <p:sp>
        <p:nvSpPr>
          <p:cNvPr id="15" name="Text 11"/>
          <p:cNvSpPr txBox="1"/>
          <p:nvPr/>
        </p:nvSpPr>
        <p:spPr>
          <a:xfrm>
            <a:off x="4864608" y="4956048"/>
            <a:ext cx="3749040" cy="1170432"/>
          </a:xfrm>
          <a:prstGeom prst="rect">
            <a:avLst/>
          </a:prstGeom>
          <a:noFill/>
          <a:ln/>
        </p:spPr>
        <p:txBody>
          <a:bodyPr wrap="square" lIns="0" tIns="0" rIns="0" bIns="0" rtlCol="0" anchor="t"/>
          <a:lstStyle/>
          <a:p>
            <a:pPr indent="0" marL="0">
              <a:lnSpc>
                <a:spcPts val="1500"/>
              </a:lnSpc>
              <a:buNone/>
            </a:pPr>
            <a:r>
              <a:rPr lang="en-US" sz="1100" b="1" dirty="0">
                <a:solidFill>
                  <a:srgbClr val="1A1A1A"/>
                </a:solidFill>
                <a:latin typeface="Arial" pitchFamily="34" charset="0"/>
                <a:ea typeface="Arial" pitchFamily="34" charset="-122"/>
                <a:cs typeface="Arial" pitchFamily="34" charset="-120"/>
              </a:rPr>
              <a:t>bkai</a:t>
            </a:r>
            <a:pPr indent="0" marL="0">
              <a:lnSpc>
                <a:spcPts val="1500"/>
              </a:lnSpc>
              <a:buNone/>
            </a:pPr>
            <a:r>
              <a:rPr lang="en-US" sz="1100" dirty="0">
                <a:solidFill>
                  <a:srgbClr val="1A1A1A"/>
                </a:solidFill>
                <a:latin typeface="Arial" pitchFamily="34" charset="0"/>
                <a:ea typeface="Arial" pitchFamily="34" charset="-122"/>
                <a:cs typeface="Arial" pitchFamily="34" charset="-120"/>
              </a:rPr>
              <a:t>, phổ biến nhất: học 80% tập train Zalo 2021.</a:t>
            </a:r>
            <a:endParaRPr lang="en-US" sz="1100" dirty="0"/>
          </a:p>
          <a:p>
            <a:pPr indent="0" marL="0">
              <a:lnSpc>
                <a:spcPts val="1500"/>
              </a:lnSpc>
              <a:buNone/>
            </a:pPr>
            <a:r>
              <a:rPr lang="en-US" sz="1100" b="1" dirty="0">
                <a:solidFill>
                  <a:srgbClr val="1A1A1A"/>
                </a:solidFill>
                <a:latin typeface="Arial" pitchFamily="34" charset="0"/>
                <a:ea typeface="Arial" pitchFamily="34" charset="-122"/>
                <a:cs typeface="Arial" pitchFamily="34" charset="-120"/>
              </a:rPr>
              <a:t>vnlegal-lal</a:t>
            </a:r>
            <a:pPr indent="0" marL="0">
              <a:lnSpc>
                <a:spcPts val="1500"/>
              </a:lnSpc>
              <a:buNone/>
            </a:pPr>
            <a:r>
              <a:rPr lang="en-US" sz="1100" dirty="0">
                <a:solidFill>
                  <a:srgbClr val="1A1A1A"/>
                </a:solidFill>
                <a:latin typeface="Arial" pitchFamily="34" charset="0"/>
                <a:ea typeface="Arial" pitchFamily="34" charset="-122"/>
                <a:cs typeface="Arial" pitchFamily="34" charset="-120"/>
              </a:rPr>
              <a:t>, tự nhận tốt nhất trên bộ này: cũng học trên chính bộ này, và được xếp cạnh các mô hình chưa học mà không đánh dấu.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Khoảng trống và hai câu hỏi nghiên cứu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sp>
        <p:nvSpPr>
          <p:cNvPr id="9" name="Shape 6"/>
          <p:cNvSpPr/>
          <p:nvPr/>
        </p:nvSpPr>
        <p:spPr>
          <a:xfrm>
            <a:off x="384048" y="960120"/>
            <a:ext cx="4133088" cy="1280160"/>
          </a:xfrm>
          <a:prstGeom prst="roundRect">
            <a:avLst>
              <a:gd name="adj" fmla="val 4286"/>
            </a:avLst>
          </a:prstGeom>
          <a:solidFill>
            <a:srgbClr val="FDEDEC"/>
          </a:solidFill>
          <a:ln w="15875">
            <a:solidFill>
              <a:srgbClr val="C0392B"/>
            </a:solidFill>
            <a:prstDash val="solid"/>
          </a:ln>
        </p:spPr>
      </p:sp>
      <p:sp>
        <p:nvSpPr>
          <p:cNvPr id="10" name="Shape 7"/>
          <p:cNvSpPr/>
          <p:nvPr/>
        </p:nvSpPr>
        <p:spPr>
          <a:xfrm>
            <a:off x="521208" y="1088136"/>
            <a:ext cx="365760" cy="365760"/>
          </a:xfrm>
          <a:prstGeom prst="ellipse">
            <a:avLst/>
          </a:prstGeom>
          <a:solidFill>
            <a:srgbClr val="C0392B"/>
          </a:solidFill>
          <a:ln/>
        </p:spPr>
      </p:sp>
      <p:sp>
        <p:nvSpPr>
          <p:cNvPr id="11" name="Text 8"/>
          <p:cNvSpPr txBox="1"/>
          <p:nvPr/>
        </p:nvSpPr>
        <p:spPr>
          <a:xfrm>
            <a:off x="521208"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txBox="1"/>
          <p:nvPr/>
        </p:nvSpPr>
        <p:spPr>
          <a:xfrm>
            <a:off x="1005840" y="1088136"/>
            <a:ext cx="3383280" cy="36576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Câu hỏi gõ không dấu</a:t>
            </a:r>
            <a:endParaRPr lang="en-US" sz="1250" dirty="0"/>
          </a:p>
        </p:txBody>
      </p:sp>
      <p:sp>
        <p:nvSpPr>
          <p:cNvPr id="13" name="Text 10"/>
          <p:cNvSpPr txBox="1"/>
          <p:nvPr/>
        </p:nvSpPr>
        <p:spPr>
          <a:xfrm>
            <a:off x="566928"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Bài tìm luật chỉ chấm câu có dấu. Bài phục hồi dấu không đo truy hồi.</a:t>
            </a:r>
            <a:endParaRPr lang="en-US" sz="1150" dirty="0"/>
          </a:p>
        </p:txBody>
      </p:sp>
      <p:sp>
        <p:nvSpPr>
          <p:cNvPr id="14" name="Shape 11"/>
          <p:cNvSpPr/>
          <p:nvPr/>
        </p:nvSpPr>
        <p:spPr>
          <a:xfrm>
            <a:off x="4626864" y="960120"/>
            <a:ext cx="4133088" cy="1280160"/>
          </a:xfrm>
          <a:prstGeom prst="roundRect">
            <a:avLst>
              <a:gd name="adj" fmla="val 4286"/>
            </a:avLst>
          </a:prstGeom>
          <a:solidFill>
            <a:srgbClr val="FFFFFF"/>
          </a:solidFill>
          <a:ln w="15875">
            <a:solidFill>
              <a:srgbClr val="D68910"/>
            </a:solidFill>
            <a:prstDash val="solid"/>
          </a:ln>
        </p:spPr>
      </p:sp>
      <p:sp>
        <p:nvSpPr>
          <p:cNvPr id="15" name="Shape 12"/>
          <p:cNvSpPr/>
          <p:nvPr/>
        </p:nvSpPr>
        <p:spPr>
          <a:xfrm>
            <a:off x="4764024" y="1088136"/>
            <a:ext cx="365760" cy="365760"/>
          </a:xfrm>
          <a:prstGeom prst="ellipse">
            <a:avLst/>
          </a:prstGeom>
          <a:solidFill>
            <a:srgbClr val="D68910"/>
          </a:solidFill>
          <a:ln/>
        </p:spPr>
      </p:sp>
      <p:sp>
        <p:nvSpPr>
          <p:cNvPr id="16" name="Text 13"/>
          <p:cNvSpPr txBox="1"/>
          <p:nvPr/>
        </p:nvSpPr>
        <p:spPr>
          <a:xfrm>
            <a:off x="4764024"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7" name="Text 14"/>
          <p:cNvSpPr txBox="1"/>
          <p:nvPr/>
        </p:nvSpPr>
        <p:spPr>
          <a:xfrm>
            <a:off x="5248656" y="1088136"/>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Mô hình đã thấy dữ liệu chưa?</a:t>
            </a:r>
            <a:endParaRPr lang="en-US" sz="1250" dirty="0"/>
          </a:p>
        </p:txBody>
      </p:sp>
      <p:sp>
        <p:nvSpPr>
          <p:cNvPr id="18" name="Text 15"/>
          <p:cNvSpPr txBox="1"/>
          <p:nvPr/>
        </p:nvSpPr>
        <p:spPr>
          <a:xfrm>
            <a:off x="4809744"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Mô hình phổ biến nhất và mô hình tự nhận tốt nhất trên bộ Zalo đều đã học chính bộ này.</a:t>
            </a:r>
            <a:endParaRPr lang="en-US" sz="1150" dirty="0"/>
          </a:p>
        </p:txBody>
      </p:sp>
      <p:sp>
        <p:nvSpPr>
          <p:cNvPr id="19" name="Shape 16"/>
          <p:cNvSpPr/>
          <p:nvPr/>
        </p:nvSpPr>
        <p:spPr>
          <a:xfrm>
            <a:off x="384048" y="2350008"/>
            <a:ext cx="4133088" cy="1280160"/>
          </a:xfrm>
          <a:prstGeom prst="roundRect">
            <a:avLst>
              <a:gd name="adj" fmla="val 4286"/>
            </a:avLst>
          </a:prstGeom>
          <a:solidFill>
            <a:srgbClr val="FFFFFF"/>
          </a:solidFill>
          <a:ln w="15875">
            <a:solidFill>
              <a:srgbClr val="D68910"/>
            </a:solidFill>
            <a:prstDash val="solid"/>
          </a:ln>
        </p:spPr>
      </p:sp>
      <p:sp>
        <p:nvSpPr>
          <p:cNvPr id="20" name="Shape 17"/>
          <p:cNvSpPr/>
          <p:nvPr/>
        </p:nvSpPr>
        <p:spPr>
          <a:xfrm>
            <a:off x="521208" y="2478024"/>
            <a:ext cx="365760" cy="365760"/>
          </a:xfrm>
          <a:prstGeom prst="ellipse">
            <a:avLst/>
          </a:prstGeom>
          <a:solidFill>
            <a:srgbClr val="D68910"/>
          </a:solidFill>
          <a:ln/>
        </p:spPr>
      </p:sp>
      <p:sp>
        <p:nvSpPr>
          <p:cNvPr id="21" name="Text 18"/>
          <p:cNvSpPr txBox="1"/>
          <p:nvPr/>
        </p:nvSpPr>
        <p:spPr>
          <a:xfrm>
            <a:off x="52120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1005840"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Split gốc có sạch không?</a:t>
            </a:r>
            <a:endParaRPr lang="en-US" sz="1250" dirty="0"/>
          </a:p>
        </p:txBody>
      </p:sp>
      <p:sp>
        <p:nvSpPr>
          <p:cNvPr id="23" name="Text 20"/>
          <p:cNvSpPr txBox="1"/>
          <p:nvPr/>
        </p:nvSpPr>
        <p:spPr>
          <a:xfrm>
            <a:off x="566928"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Các bài dùng nguyên split của ban tổ chức, không ai kiểm câu hỏi trùng.</a:t>
            </a:r>
            <a:endParaRPr lang="en-US" sz="1150" dirty="0"/>
          </a:p>
        </p:txBody>
      </p:sp>
      <p:sp>
        <p:nvSpPr>
          <p:cNvPr id="24" name="Shape 21"/>
          <p:cNvSpPr/>
          <p:nvPr/>
        </p:nvSpPr>
        <p:spPr>
          <a:xfrm>
            <a:off x="4626864" y="2350008"/>
            <a:ext cx="4133088" cy="1280160"/>
          </a:xfrm>
          <a:prstGeom prst="roundRect">
            <a:avLst>
              <a:gd name="adj" fmla="val 4286"/>
            </a:avLst>
          </a:prstGeom>
          <a:solidFill>
            <a:srgbClr val="FFFFFF"/>
          </a:solidFill>
          <a:ln w="15875">
            <a:solidFill>
              <a:srgbClr val="D68910"/>
            </a:solidFill>
            <a:prstDash val="solid"/>
          </a:ln>
        </p:spPr>
      </p:sp>
      <p:sp>
        <p:nvSpPr>
          <p:cNvPr id="25" name="Shape 22"/>
          <p:cNvSpPr/>
          <p:nvPr/>
        </p:nvSpPr>
        <p:spPr>
          <a:xfrm>
            <a:off x="4764024" y="2478024"/>
            <a:ext cx="365760" cy="365760"/>
          </a:xfrm>
          <a:prstGeom prst="ellipse">
            <a:avLst/>
          </a:prstGeom>
          <a:solidFill>
            <a:srgbClr val="D68910"/>
          </a:solidFill>
          <a:ln/>
        </p:spPr>
      </p:sp>
      <p:sp>
        <p:nvSpPr>
          <p:cNvPr id="26" name="Text 23"/>
          <p:cNvSpPr txBox="1"/>
          <p:nvPr/>
        </p:nvSpPr>
        <p:spPr>
          <a:xfrm>
            <a:off x="476402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5248656"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Ghép bằng cách nào?</a:t>
            </a:r>
            <a:endParaRPr lang="en-US" sz="1250" dirty="0"/>
          </a:p>
        </p:txBody>
      </p:sp>
      <p:sp>
        <p:nvSpPr>
          <p:cNvPr id="28" name="Text 25"/>
          <p:cNvSpPr txBox="1"/>
          <p:nvPr/>
        </p:nvSpPr>
        <p:spPr>
          <a:xfrm>
            <a:off x="4809744"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Nhân điểm (Zalo 2021), RRF (Nguyen Ba và cs. 2024), ít khi so trên val.</a:t>
            </a:r>
            <a:endParaRPr lang="en-US" sz="1150" dirty="0"/>
          </a:p>
        </p:txBody>
      </p:sp>
      <p:sp>
        <p:nvSpPr>
          <p:cNvPr id="29" name="Shape 26"/>
          <p:cNvSpPr/>
          <p:nvPr/>
        </p:nvSpPr>
        <p:spPr>
          <a:xfrm>
            <a:off x="384048" y="3858768"/>
            <a:ext cx="8375904" cy="1920240"/>
          </a:xfrm>
          <a:prstGeom prst="roundRect">
            <a:avLst>
              <a:gd name="adj" fmla="val 2857"/>
            </a:avLst>
          </a:prstGeom>
          <a:solidFill>
            <a:srgbClr val="EAF6EE"/>
          </a:solidFill>
          <a:ln w="15875">
            <a:solidFill>
              <a:srgbClr val="1E7A4B"/>
            </a:solidFill>
            <a:prstDash val="solid"/>
          </a:ln>
        </p:spPr>
      </p:sp>
      <p:sp>
        <p:nvSpPr>
          <p:cNvPr id="30" name="Text 27"/>
          <p:cNvSpPr txBox="1"/>
          <p:nvPr/>
        </p:nvSpPr>
        <p:spPr>
          <a:xfrm>
            <a:off x="594360" y="3950208"/>
            <a:ext cx="795528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Hai câu hỏi nghiên cứu</a:t>
            </a:r>
            <a:endParaRPr lang="en-US" sz="1250" dirty="0"/>
          </a:p>
        </p:txBody>
      </p:sp>
      <p:sp>
        <p:nvSpPr>
          <p:cNvPr id="31" name="Text 28"/>
          <p:cNvSpPr txBox="1"/>
          <p:nvPr/>
        </p:nvSpPr>
        <p:spPr>
          <a:xfrm>
            <a:off x="594360" y="4279392"/>
            <a:ext cx="7955280" cy="1444752"/>
          </a:xfrm>
          <a:prstGeom prst="rect">
            <a:avLst/>
          </a:prstGeom>
          <a:noFill/>
          <a:ln/>
        </p:spPr>
        <p:txBody>
          <a:bodyPr wrap="square" lIns="0" tIns="0" rIns="0" bIns="0" rtlCol="0" anchor="t"/>
          <a:lstStyle/>
          <a:p>
            <a:pPr indent="0" marL="0">
              <a:lnSpc>
                <a:spcPts val="1900"/>
              </a:lnSpc>
              <a:buNone/>
            </a:pPr>
            <a:r>
              <a:rPr lang="en-US" sz="1400" b="1" dirty="0">
                <a:solidFill>
                  <a:srgbClr val="1E7A4B"/>
                </a:solidFill>
                <a:latin typeface="Arial" pitchFamily="34" charset="0"/>
                <a:ea typeface="Arial" pitchFamily="34" charset="-122"/>
                <a:cs typeface="Arial" pitchFamily="34" charset="-120"/>
              </a:rPr>
              <a:t>CH1. </a:t>
            </a:r>
            <a:pPr indent="0" marL="0">
              <a:lnSpc>
                <a:spcPts val="1900"/>
              </a:lnSpc>
              <a:buNone/>
            </a:pPr>
            <a:r>
              <a:rPr lang="en-US" sz="1400" dirty="0">
                <a:solidFill>
                  <a:srgbClr val="1A1A1A"/>
                </a:solidFill>
                <a:latin typeface="Arial" pitchFamily="34" charset="0"/>
                <a:ea typeface="Arial" pitchFamily="34" charset="-122"/>
                <a:cs typeface="Arial" pitchFamily="34" charset="-120"/>
              </a:rPr>
              <a:t>Trên dữ liệu đã kiểm toán, với mô hình ngữ nghĩa chưa thấy dữ liệu, ghép thêm BM25 còn cải thiện được bao nhiêu?</a:t>
            </a:r>
            <a:endParaRPr lang="en-US" sz="1400" dirty="0"/>
          </a:p>
          <a:p>
            <a:pPr indent="0" marL="0">
              <a:lnSpc>
                <a:spcPts val="1900"/>
              </a:lnSpc>
              <a:buNone/>
            </a:pPr>
            <a:r>
              <a:rPr lang="en-US" sz="600" dirty="0">
                <a:solidFill>
                  <a:srgbClr val="1A1A1A"/>
                </a:solidFill>
                <a:latin typeface="Arial" pitchFamily="34" charset="0"/>
                <a:ea typeface="Arial" pitchFamily="34" charset="-122"/>
                <a:cs typeface="Arial" pitchFamily="34" charset="-120"/>
              </a:rPr>
              <a:t> </a:t>
            </a:r>
            <a:endParaRPr lang="en-US" sz="1400" dirty="0"/>
          </a:p>
          <a:p>
            <a:pPr indent="0" marL="0">
              <a:lnSpc>
                <a:spcPts val="1900"/>
              </a:lnSpc>
              <a:buNone/>
            </a:pPr>
            <a:r>
              <a:rPr lang="en-US" sz="1400" b="1" dirty="0">
                <a:solidFill>
                  <a:srgbClr val="C0392B"/>
                </a:solidFill>
                <a:latin typeface="Arial" pitchFamily="34" charset="0"/>
                <a:ea typeface="Arial" pitchFamily="34" charset="-122"/>
                <a:cs typeface="Arial" pitchFamily="34" charset="-120"/>
              </a:rPr>
              <a:t>CH2. </a:t>
            </a:r>
            <a:pPr indent="0" marL="0">
              <a:lnSpc>
                <a:spcPts val="1900"/>
              </a:lnSpc>
              <a:buNone/>
            </a:pPr>
            <a:r>
              <a:rPr lang="en-US" sz="1400" b="1" dirty="0">
                <a:solidFill>
                  <a:srgbClr val="1A1A1A"/>
                </a:solidFill>
                <a:latin typeface="Arial" pitchFamily="34" charset="0"/>
                <a:ea typeface="Arial" pitchFamily="34" charset="-122"/>
                <a:cs typeface="Arial" pitchFamily="34" charset="-120"/>
              </a:rPr>
              <a:t>Khi người dùng gõ không dấu, hệ còn đứng vững không, và cách sửa rẻ nhất là gì?</a:t>
            </a:r>
            <a:endParaRPr lang="en-US" sz="1400" dirty="0"/>
          </a:p>
        </p:txBody>
      </p:sp>
      <p:sp>
        <p:nvSpPr>
          <p:cNvPr id="32" name="Text 29"/>
          <p:cNvSpPr txBox="1"/>
          <p:nvPr/>
        </p:nvSpPr>
        <p:spPr>
          <a:xfrm>
            <a:off x="384048" y="5870448"/>
            <a:ext cx="8375904" cy="365760"/>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“Chưa ai báo cáo”: theo phần tóm tắt, mã nguồn và model card nhóm đã đối chiếu. Danh sách nguồn ở slide cuối.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2021 và sáu vấn đề kiểm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14400"/>
            <a:ext cx="8138160" cy="274320"/>
          </a:xfrm>
          <a:prstGeom prst="rect">
            <a:avLst/>
          </a:prstGeom>
          <a:noFill/>
          <a:ln/>
        </p:spPr>
        <p:txBody>
          <a:bodyPr wrap="square" lIns="0" tIns="0" rIns="0" bIns="0" rtlCol="0" anchor="ctr"/>
          <a:lstStyle/>
          <a:p>
            <a:pPr indent="0" marL="0">
              <a:buNone/>
            </a:pPr>
            <a:r>
              <a:rPr lang="en-US" sz="1100" i="1" dirty="0">
                <a:solidFill>
                  <a:srgbClr val="5A5A5A"/>
                </a:solidFill>
                <a:latin typeface="Arial" pitchFamily="34" charset="0"/>
                <a:ea typeface="Arial" pitchFamily="34" charset="-122"/>
                <a:cs typeface="Arial" pitchFamily="34" charset="-120"/>
              </a:rPr>
              <a:t>GreenNode/zalo-ai-legal-text-retrieval-vn, MIT  |  61.425 điều luật, 3.271 văn bản, 3.196 câu hỏi  |  bộ gốc không có val</a:t>
            </a:r>
            <a:endParaRPr lang="en-US" sz="1100" dirty="0"/>
          </a:p>
        </p:txBody>
      </p:sp>
      <p:pic>
        <p:nvPicPr>
          <p:cNvPr id="10" name="Image 0" descr="img/audit_findings.png">    </p:cNvPr>
          <p:cNvPicPr>
            <a:picLocks noChangeAspect="1"/>
          </p:cNvPicPr>
          <p:nvPr/>
        </p:nvPicPr>
        <p:blipFill>
          <a:blip r:embed="rId1"/>
          <a:stretch>
            <a:fillRect/>
          </a:stretch>
        </p:blipFill>
        <p:spPr>
          <a:xfrm>
            <a:off x="685800" y="1243584"/>
            <a:ext cx="7772400" cy="3520440"/>
          </a:xfrm>
          <a:prstGeom prst="rect">
            <a:avLst/>
          </a:prstGeom>
        </p:spPr>
      </p:pic>
      <p:sp>
        <p:nvSpPr>
          <p:cNvPr id="11" name="Shape 7"/>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2" name="Text 8"/>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3" name="Text 9"/>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4" name="Shape 10"/>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5" name="Text 11"/>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6" name="Text 12"/>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trùng đúng mã đều có gold ở train KHÁC gold ở 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train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test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Tập</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Cặp nhãn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DEDEC"/>
          </a:solidFill>
          <a:ln w="15875">
            <a:solidFill>
              <a:srgbClr val="C0392B"/>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Phục hồi dấu</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Bigram âm tiết học từ 18,6 triệu âm tiết của kho luật và câu hỏi train. lambda = 0,9, chốt trên val</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có dấu: 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Hệ thống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MRR@10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nDCG@10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Độ trễ</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Trả lời CH1: có, nhưng rất nhỏ</a:t>
            </a:r>
            <a:endParaRPr lang="en-US" sz="1250" dirty="0"/>
          </a:p>
        </p:txBody>
      </p:sp>
      <p:sp>
        <p:nvSpPr>
          <p:cNvPr id="12" name="Text 8"/>
          <p:cNvSpPr txBox="1"/>
          <p:nvPr/>
        </p:nvSpPr>
        <p:spPr>
          <a:xfrm>
            <a:off x="594360" y="4389120"/>
            <a:ext cx="3703320" cy="1691640"/>
          </a:xfrm>
          <a:prstGeom prst="rect">
            <a:avLst/>
          </a:prstGeom>
          <a:noFill/>
          <a:ln/>
        </p:spPr>
        <p:txBody>
          <a:bodyPr wrap="square" lIns="0" tIns="0" rIns="0" bIns="0" rtlCol="0" anchor="t"/>
          <a:lstStyle/>
          <a:p>
            <a:pPr indent="0" marL="0">
              <a:lnSpc>
                <a:spcPts val="1600"/>
              </a:lnSpc>
              <a:buNone/>
            </a:pPr>
            <a:r>
              <a:rPr lang="en-US" sz="1100" b="1" dirty="0">
                <a:solidFill>
                  <a:srgbClr val="1A1A1A"/>
                </a:solidFill>
                <a:latin typeface="Arial" pitchFamily="34" charset="0"/>
                <a:ea typeface="Arial" pitchFamily="34" charset="-122"/>
                <a:cs typeface="Arial" pitchFamily="34" charset="-120"/>
              </a:rPr>
              <a:t>Hợp nhất hơn ngữ nghĩa thuần 0,50 điểm ở tỷ lệ câu có gold trong top-10, tức 4 câu trên 788. Theo Recall@10 là 0,51 điểm.</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Riêng BM25 cứu được 3 câu mà ngữ nghĩa bỏ lỡ.</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Tổng trọng số thắng RRF: Recall@1 0,7824 so với 0,6701, khớp Bruch và cs.</a:t>
            </a:r>
            <a:endParaRPr lang="en-US" sz="110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gõ không dấu: hệ sụp đổ</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sp>
        <p:nvSpPr>
          <p:cNvPr id="9" name="Text 6"/>
          <p:cNvSpPr txBox="1"/>
          <p:nvPr/>
        </p:nvSpPr>
        <p:spPr>
          <a:xfrm>
            <a:off x="502920" y="932688"/>
            <a:ext cx="8138160" cy="548640"/>
          </a:xfrm>
          <a:prstGeom prst="rect">
            <a:avLst/>
          </a:prstGeom>
          <a:noFill/>
          <a:ln/>
        </p:spPr>
        <p:txBody>
          <a:bodyPr wrap="square" lIns="0" tIns="0" rIns="0" bIns="0" rtlCol="0" anchor="t"/>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Có dấu:  </a:t>
            </a:r>
            <a:pPr indent="0" marL="0">
              <a:lnSpc>
                <a:spcPts val="1700"/>
              </a:lnSpc>
              <a:buNone/>
            </a:pPr>
            <a:r>
              <a:rPr lang="en-US" sz="1200" dirty="0">
                <a:solidFill>
                  <a:srgbClr val="1A1A1A"/>
                </a:solidFill>
                <a:latin typeface="Arial" pitchFamily="34" charset="0"/>
                <a:ea typeface="Arial" pitchFamily="34" charset="-122"/>
                <a:cs typeface="Arial" pitchFamily="34" charset="-120"/>
              </a:rPr>
              <a:t>Đi xe máy không đội mũ bảo hiểm bị phạt bao nhiêu tiền?</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dấu:  </a:t>
            </a:r>
            <a:pPr indent="0" marL="0">
              <a:lnSpc>
                <a:spcPts val="1700"/>
              </a:lnSpc>
              <a:buNone/>
            </a:pPr>
            <a:r>
              <a:rPr lang="en-US" sz="1200" dirty="0">
                <a:solidFill>
                  <a:srgbClr val="C0392B"/>
                </a:solidFill>
                <a:latin typeface="Arial" pitchFamily="34" charset="0"/>
                <a:ea typeface="Arial" pitchFamily="34" charset="-122"/>
                <a:cs typeface="Arial" pitchFamily="34" charset="-120"/>
              </a:rPr>
              <a:t>Di xe may khong doi mu bao hiem bi phat bao nhieu tien?</a:t>
            </a:r>
            <a:endParaRPr lang="en-US" sz="1200" dirty="0"/>
          </a:p>
        </p:txBody>
      </p:sp>
      <p:pic>
        <p:nvPicPr>
          <p:cNvPr id="10" name="Image 0" descr="img/khong_dau.png">    </p:cNvPr>
          <p:cNvPicPr>
            <a:picLocks noChangeAspect="1"/>
          </p:cNvPicPr>
          <p:nvPr/>
        </p:nvPicPr>
        <p:blipFill>
          <a:blip r:embed="rId1"/>
          <a:stretch>
            <a:fillRect/>
          </a:stretch>
        </p:blipFill>
        <p:spPr>
          <a:xfrm>
            <a:off x="502920" y="1536192"/>
            <a:ext cx="8138160" cy="3419856"/>
          </a:xfrm>
          <a:prstGeom prst="rect">
            <a:avLst/>
          </a:prstGeom>
        </p:spPr>
      </p:pic>
      <p:sp>
        <p:nvSpPr>
          <p:cNvPr id="11" name="Shape 7"/>
          <p:cNvSpPr/>
          <p:nvPr/>
        </p:nvSpPr>
        <p:spPr>
          <a:xfrm>
            <a:off x="502920" y="5047488"/>
            <a:ext cx="3977640" cy="1143000"/>
          </a:xfrm>
          <a:prstGeom prst="roundRect">
            <a:avLst>
              <a:gd name="adj" fmla="val 4800"/>
            </a:avLst>
          </a:prstGeom>
          <a:solidFill>
            <a:srgbClr val="FDEDEC"/>
          </a:solidFill>
          <a:ln w="15875">
            <a:solidFill>
              <a:srgbClr val="C0392B"/>
            </a:solidFill>
            <a:prstDash val="solid"/>
          </a:ln>
        </p:spPr>
      </p:sp>
      <p:sp>
        <p:nvSpPr>
          <p:cNvPr id="12" name="Text 8"/>
          <p:cNvSpPr txBox="1"/>
          <p:nvPr/>
        </p:nvSpPr>
        <p:spPr>
          <a:xfrm>
            <a:off x="713232" y="5120640"/>
            <a:ext cx="3566160" cy="256032"/>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Vì sao sụp</a:t>
            </a:r>
            <a:endParaRPr lang="en-US" sz="1200" dirty="0"/>
          </a:p>
        </p:txBody>
      </p:sp>
      <p:sp>
        <p:nvSpPr>
          <p:cNvPr id="13" name="Text 9"/>
          <p:cNvSpPr txBox="1"/>
          <p:nvPr/>
        </p:nvSpPr>
        <p:spPr>
          <a:xfrm>
            <a:off x="71323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BM25: “phat” và “phạt” là hai từ khác nhau, không khớp gì. Mô hình ngữ nghĩa: nhóm đoán do học chủ yếu trên văn bản có dấu.</a:t>
            </a:r>
            <a:endParaRPr lang="en-US" sz="1050" dirty="0"/>
          </a:p>
        </p:txBody>
      </p:sp>
      <p:sp>
        <p:nvSpPr>
          <p:cNvPr id="14" name="Shape 10"/>
          <p:cNvSpPr/>
          <p:nvPr/>
        </p:nvSpPr>
        <p:spPr>
          <a:xfrm>
            <a:off x="4663440" y="5047488"/>
            <a:ext cx="3977640" cy="1143000"/>
          </a:xfrm>
          <a:prstGeom prst="roundRect">
            <a:avLst>
              <a:gd name="adj" fmla="val 4800"/>
            </a:avLst>
          </a:prstGeom>
          <a:solidFill>
            <a:srgbClr val="FFF8F0"/>
          </a:solidFill>
          <a:ln w="15875">
            <a:solidFill>
              <a:srgbClr val="D68910"/>
            </a:solidFill>
            <a:prstDash val="solid"/>
          </a:ln>
        </p:spPr>
      </p:sp>
      <p:sp>
        <p:nvSpPr>
          <p:cNvPr id="15" name="Text 11"/>
          <p:cNvSpPr txBox="1"/>
          <p:nvPr/>
        </p:nvSpPr>
        <p:spPr>
          <a:xfrm>
            <a:off x="4873752" y="5120640"/>
            <a:ext cx="3566160" cy="256032"/>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BM25 bỏ dấu: 74,30%, không cần mô hình</a:t>
            </a:r>
            <a:endParaRPr lang="en-US" sz="1200" dirty="0"/>
          </a:p>
        </p:txBody>
      </p:sp>
      <p:sp>
        <p:nvSpPr>
          <p:cNvPr id="16" name="Text 12"/>
          <p:cNvSpPr txBox="1"/>
          <p:nvPr/>
        </p:nvSpPr>
        <p:spPr>
          <a:xfrm>
            <a:off x="487375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Ở câu có dấu BM25 gần như không góp gì. Ở câu không dấu nó lại là tầng đứng vững nhất. Chỉ mục này đổi cả cách tách từ: đo trên val, đổi tách từ mất 0,047, bỏ dấu mất thêm 0,137.</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Sửa bằng phục hồi dấu: bigram học từ kho luật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sp>
        <p:nvSpPr>
          <p:cNvPr id="9" name="Shape 6"/>
          <p:cNvSpPr/>
          <p:nvPr/>
        </p:nvSpPr>
        <p:spPr>
          <a:xfrm>
            <a:off x="384048" y="960120"/>
            <a:ext cx="4114800" cy="2651760"/>
          </a:xfrm>
          <a:prstGeom prst="roundRect">
            <a:avLst>
              <a:gd name="adj" fmla="val 2069"/>
            </a:avLst>
          </a:prstGeom>
          <a:solidFill>
            <a:srgbClr val="F4F8FC"/>
          </a:solidFill>
          <a:ln w="15875">
            <a:solidFill>
              <a:srgbClr val="2D75B6"/>
            </a:solidFill>
            <a:prstDash val="solid"/>
          </a:ln>
        </p:spPr>
      </p:sp>
      <p:sp>
        <p:nvSpPr>
          <p:cNvPr id="10" name="Text 7"/>
          <p:cNvSpPr txBox="1"/>
          <p:nvPr/>
        </p:nvSpPr>
        <p:spPr>
          <a:xfrm>
            <a:off x="585216" y="1042416"/>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Cách làm</a:t>
            </a:r>
            <a:endParaRPr lang="en-US" sz="1250" dirty="0"/>
          </a:p>
        </p:txBody>
      </p:sp>
      <p:sp>
        <p:nvSpPr>
          <p:cNvPr id="11" name="Text 8"/>
          <p:cNvSpPr txBox="1"/>
          <p:nvPr/>
        </p:nvSpPr>
        <p:spPr>
          <a:xfrm>
            <a:off x="585216" y="1371600"/>
            <a:ext cx="3749040" cy="2194560"/>
          </a:xfrm>
          <a:prstGeom prst="rect">
            <a:avLst/>
          </a:prstGeom>
          <a:noFill/>
          <a:ln/>
        </p:spPr>
        <p:txBody>
          <a:bodyPr wrap="square" lIns="0" tIns="0" rIns="0" bIns="0" rtlCol="0" anchor="t"/>
          <a:lstStyle/>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1. Đếm unigram và bigram trên 18,6 triệu âm tiết của kho luật và câu hỏi train</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2. Mỗi âm tiết không dấu có nhiều ứng viên: phat → phát, phạt, phắt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3. Viterbi chọn chuỗi có xác suất bigram cao nhất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4. Hệ số nội suy lambda = 0,9, chốt trên val</a:t>
            </a:r>
            <a:endParaRPr lang="en-US" sz="1200" dirty="0"/>
          </a:p>
        </p:txBody>
      </p:sp>
      <p:sp>
        <p:nvSpPr>
          <p:cNvPr id="12" name="Shape 9"/>
          <p:cNvSpPr/>
          <p:nvPr/>
        </p:nvSpPr>
        <p:spPr>
          <a:xfrm>
            <a:off x="4663440" y="960120"/>
            <a:ext cx="1993392" cy="1252728"/>
          </a:xfrm>
          <a:prstGeom prst="roundRect">
            <a:avLst>
              <a:gd name="adj" fmla="val 4380"/>
            </a:avLst>
          </a:prstGeom>
          <a:solidFill>
            <a:srgbClr val="FFFFFF"/>
          </a:solidFill>
          <a:ln w="15875">
            <a:solidFill>
              <a:srgbClr val="BFBFBF"/>
            </a:solidFill>
            <a:prstDash val="solid"/>
          </a:ln>
        </p:spPr>
      </p:sp>
      <p:sp>
        <p:nvSpPr>
          <p:cNvPr id="13" name="Text 10"/>
          <p:cNvSpPr txBox="1"/>
          <p:nvPr/>
        </p:nvSpPr>
        <p:spPr>
          <a:xfrm>
            <a:off x="4663440"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98,45%</a:t>
            </a:r>
            <a:endParaRPr lang="en-US" sz="2200" dirty="0"/>
          </a:p>
        </p:txBody>
      </p:sp>
      <p:sp>
        <p:nvSpPr>
          <p:cNvPr id="14" name="Text 11"/>
          <p:cNvSpPr txBox="1"/>
          <p:nvPr/>
        </p:nvSpPr>
        <p:spPr>
          <a:xfrm>
            <a:off x="4754880"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âm tiết phục hồi đúng</a:t>
            </a:r>
            <a:endParaRPr lang="en-US" sz="1000" dirty="0"/>
          </a:p>
        </p:txBody>
      </p:sp>
      <p:sp>
        <p:nvSpPr>
          <p:cNvPr id="15" name="Shape 12"/>
          <p:cNvSpPr/>
          <p:nvPr/>
        </p:nvSpPr>
        <p:spPr>
          <a:xfrm>
            <a:off x="6739128" y="960120"/>
            <a:ext cx="1993392" cy="1252728"/>
          </a:xfrm>
          <a:prstGeom prst="roundRect">
            <a:avLst>
              <a:gd name="adj" fmla="val 4380"/>
            </a:avLst>
          </a:prstGeom>
          <a:solidFill>
            <a:srgbClr val="FFFFFF"/>
          </a:solidFill>
          <a:ln w="15875">
            <a:solidFill>
              <a:srgbClr val="BFBFBF"/>
            </a:solidFill>
            <a:prstDash val="solid"/>
          </a:ln>
        </p:spPr>
      </p:sp>
      <p:sp>
        <p:nvSpPr>
          <p:cNvPr id="16" name="Text 13"/>
          <p:cNvSpPr txBox="1"/>
          <p:nvPr/>
        </p:nvSpPr>
        <p:spPr>
          <a:xfrm>
            <a:off x="6739128"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622/788</a:t>
            </a:r>
            <a:endParaRPr lang="en-US" sz="2200" dirty="0"/>
          </a:p>
        </p:txBody>
      </p:sp>
      <p:sp>
        <p:nvSpPr>
          <p:cNvPr id="17" name="Text 14"/>
          <p:cNvSpPr txBox="1"/>
          <p:nvPr/>
        </p:nvSpPr>
        <p:spPr>
          <a:xfrm>
            <a:off x="6830568"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câu đúng hoàn toàn</a:t>
            </a:r>
            <a:endParaRPr lang="en-US" sz="1000" dirty="0"/>
          </a:p>
        </p:txBody>
      </p:sp>
      <p:sp>
        <p:nvSpPr>
          <p:cNvPr id="18" name="Shape 15"/>
          <p:cNvSpPr/>
          <p:nvPr/>
        </p:nvSpPr>
        <p:spPr>
          <a:xfrm>
            <a:off x="4663440" y="2304288"/>
            <a:ext cx="1993392" cy="1252728"/>
          </a:xfrm>
          <a:prstGeom prst="roundRect">
            <a:avLst>
              <a:gd name="adj" fmla="val 4380"/>
            </a:avLst>
          </a:prstGeom>
          <a:solidFill>
            <a:srgbClr val="FFFFFF"/>
          </a:solidFill>
          <a:ln w="15875">
            <a:solidFill>
              <a:srgbClr val="BFBFBF"/>
            </a:solidFill>
            <a:prstDash val="solid"/>
          </a:ln>
        </p:spPr>
      </p:sp>
      <p:sp>
        <p:nvSpPr>
          <p:cNvPr id="19" name="Text 16"/>
          <p:cNvSpPr txBox="1"/>
          <p:nvPr/>
        </p:nvSpPr>
        <p:spPr>
          <a:xfrm>
            <a:off x="4663440" y="2414016"/>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0,9 ms</a:t>
            </a:r>
            <a:endParaRPr lang="en-US" sz="2200" dirty="0"/>
          </a:p>
        </p:txBody>
      </p:sp>
      <p:sp>
        <p:nvSpPr>
          <p:cNvPr id="20" name="Text 17"/>
          <p:cNvSpPr txBox="1"/>
          <p:nvPr/>
        </p:nvSpPr>
        <p:spPr>
          <a:xfrm>
            <a:off x="4754880"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phục hồi dấu mỗi câu</a:t>
            </a:r>
            <a:endParaRPr lang="en-US" sz="1000" dirty="0"/>
          </a:p>
        </p:txBody>
      </p:sp>
      <p:sp>
        <p:nvSpPr>
          <p:cNvPr id="21" name="Shape 18"/>
          <p:cNvSpPr/>
          <p:nvPr/>
        </p:nvSpPr>
        <p:spPr>
          <a:xfrm>
            <a:off x="6739128" y="2304288"/>
            <a:ext cx="1993392" cy="1252728"/>
          </a:xfrm>
          <a:prstGeom prst="roundRect">
            <a:avLst>
              <a:gd name="adj" fmla="val 4380"/>
            </a:avLst>
          </a:prstGeom>
          <a:solidFill>
            <a:srgbClr val="EAF6EE"/>
          </a:solidFill>
          <a:ln w="15875">
            <a:solidFill>
              <a:srgbClr val="1E7A4B"/>
            </a:solidFill>
            <a:prstDash val="solid"/>
          </a:ln>
        </p:spPr>
      </p:sp>
      <p:sp>
        <p:nvSpPr>
          <p:cNvPr id="22" name="Text 19"/>
          <p:cNvSpPr txBox="1"/>
          <p:nvPr/>
        </p:nvSpPr>
        <p:spPr>
          <a:xfrm>
            <a:off x="6739128" y="2414016"/>
            <a:ext cx="1993392" cy="548640"/>
          </a:xfrm>
          <a:prstGeom prst="rect">
            <a:avLst/>
          </a:prstGeom>
          <a:noFill/>
          <a:ln/>
        </p:spPr>
        <p:txBody>
          <a:bodyPr wrap="square" lIns="0" tIns="0" rIns="0" bIns="0" rtlCol="0" anchor="ctr"/>
          <a:lstStyle/>
          <a:p>
            <a:pPr algn="ctr" indent="0" marL="0">
              <a:buNone/>
            </a:pPr>
            <a:r>
              <a:rPr lang="en-US" sz="2200" b="1" dirty="0">
                <a:solidFill>
                  <a:srgbClr val="1E7A4B"/>
                </a:solidFill>
                <a:latin typeface="Arial" pitchFamily="34" charset="0"/>
                <a:ea typeface="Arial" pitchFamily="34" charset="-122"/>
                <a:cs typeface="Arial" pitchFamily="34" charset="-120"/>
              </a:rPr>
              <a:t>96,70%</a:t>
            </a:r>
            <a:endParaRPr lang="en-US" sz="2200" dirty="0"/>
          </a:p>
        </p:txBody>
      </p:sp>
      <p:sp>
        <p:nvSpPr>
          <p:cNvPr id="23" name="Text 20"/>
          <p:cNvSpPr txBox="1"/>
          <p:nvPr/>
        </p:nvSpPr>
        <p:spPr>
          <a:xfrm>
            <a:off x="6830568"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Recall@10, kém câu có dấu 1,02 điểm</a:t>
            </a:r>
            <a:endParaRPr lang="en-US" sz="1000" dirty="0"/>
          </a:p>
        </p:txBody>
      </p:sp>
      <p:sp>
        <p:nvSpPr>
          <p:cNvPr id="24" name="Shape 21"/>
          <p:cNvSpPr/>
          <p:nvPr/>
        </p:nvSpPr>
        <p:spPr>
          <a:xfrm>
            <a:off x="384048" y="3767328"/>
            <a:ext cx="8375904" cy="1280160"/>
          </a:xfrm>
          <a:prstGeom prst="roundRect">
            <a:avLst>
              <a:gd name="adj" fmla="val 4286"/>
            </a:avLst>
          </a:prstGeom>
          <a:solidFill>
            <a:srgbClr val="FDEDEC"/>
          </a:solidFill>
          <a:ln w="15875">
            <a:solidFill>
              <a:srgbClr val="C0392B"/>
            </a:solidFill>
            <a:prstDash val="solid"/>
          </a:ln>
        </p:spPr>
      </p:sp>
      <p:sp>
        <p:nvSpPr>
          <p:cNvPr id="25" name="Text 22"/>
          <p:cNvSpPr txBox="1"/>
          <p:nvPr/>
        </p:nvSpPr>
        <p:spPr>
          <a:xfrm>
            <a:off x="585216" y="3849624"/>
            <a:ext cx="795528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Sai ở đâu: từ nói thường mà văn bản luật không dùng</a:t>
            </a:r>
            <a:endParaRPr lang="en-US" sz="1250" dirty="0"/>
          </a:p>
        </p:txBody>
      </p:sp>
      <p:sp>
        <p:nvSpPr>
          <p:cNvPr id="26" name="Text 23"/>
          <p:cNvSpPr txBox="1"/>
          <p:nvPr/>
        </p:nvSpPr>
        <p:spPr>
          <a:xfrm>
            <a:off x="585216" y="4160520"/>
            <a:ext cx="7955280" cy="841248"/>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“Tài xế” → “tải xe”,  “máu” → “mẫu”,  “đi bộ” → “đi bờ”</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166 câu sai ít nhất một âm tiết. Ở nhóm này tỷ lệ tìm đúng trong top-10 tụt từ 94,58% xuống 89,76%: mất 9 câu, được 1 câu.</a:t>
            </a:r>
            <a:endParaRPr lang="en-US" sz="1150" dirty="0"/>
          </a:p>
        </p:txBody>
      </p:sp>
      <p:sp>
        <p:nvSpPr>
          <p:cNvPr id="27" name="Shape 24"/>
          <p:cNvSpPr/>
          <p:nvPr/>
        </p:nvSpPr>
        <p:spPr>
          <a:xfrm>
            <a:off x="384048" y="5175504"/>
            <a:ext cx="8375904" cy="1005840"/>
          </a:xfrm>
          <a:prstGeom prst="roundRect">
            <a:avLst>
              <a:gd name="adj" fmla="val 5455"/>
            </a:avLst>
          </a:prstGeom>
          <a:solidFill>
            <a:srgbClr val="EAF6EE"/>
          </a:solidFill>
          <a:ln w="15875">
            <a:solidFill>
              <a:srgbClr val="1E7A4B"/>
            </a:solidFill>
            <a:prstDash val="solid"/>
          </a:ln>
        </p:spPr>
      </p:sp>
      <p:sp>
        <p:nvSpPr>
          <p:cNvPr id="28" name="Text 25"/>
          <p:cNvSpPr txBox="1"/>
          <p:nvPr/>
        </p:nvSpPr>
        <p:spPr>
          <a:xfrm>
            <a:off x="585216" y="5230368"/>
            <a:ext cx="7955280" cy="896112"/>
          </a:xfrm>
          <a:prstGeom prst="rect">
            <a:avLst/>
          </a:prstGeom>
          <a:noFill/>
          <a:ln/>
        </p:spPr>
        <p:txBody>
          <a:bodyPr wrap="square" lIns="0" tIns="0" rIns="0" bIns="0" rtlCol="0" anchor="ctr"/>
          <a:lstStyle/>
          <a:p>
            <a:pPr indent="0" marL="0">
              <a:lnSpc>
                <a:spcPts val="1600"/>
              </a:lnSpc>
              <a:buNone/>
            </a:pPr>
            <a:r>
              <a:rPr lang="en-US" sz="1150" b="1" dirty="0">
                <a:solidFill>
                  <a:srgbClr val="1E7A4B"/>
                </a:solidFill>
                <a:latin typeface="Arial" pitchFamily="34" charset="0"/>
                <a:ea typeface="Arial" pitchFamily="34" charset="-122"/>
                <a:cs typeface="Arial" pitchFamily="34" charset="-120"/>
              </a:rPr>
              <a:t>Cho mọi câu đi qua, không cần hỏi câu có dấu chưa: </a:t>
            </a:r>
            <a:pPr indent="0" marL="0">
              <a:lnSpc>
                <a:spcPts val="1600"/>
              </a:lnSpc>
              <a:buNone/>
            </a:pPr>
            <a:r>
              <a:rPr lang="en-US" sz="1150" dirty="0">
                <a:solidFill>
                  <a:srgbClr val="1A1A1A"/>
                </a:solidFill>
                <a:latin typeface="Arial" pitchFamily="34" charset="0"/>
                <a:ea typeface="Arial" pitchFamily="34" charset="-122"/>
                <a:cs typeface="Arial" pitchFamily="34" charset="-120"/>
              </a:rPr>
              <a:t>câu vốn đủ dấu vẫn giữ Recall@10 97,72%, câu gõ dấu một nửa lên từ 74,81% thành 97,21%. Trợ lý tra cứu trong demo chạy đúng đường này.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CH1. Câu có dấu: 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Hơn ngữ nghĩa thuần 0,51 điểm Recall@10, tức 4 câu trên 788. Tổng trọng số thắng RRF. BM25 nhanh hơn khoảng 703 lần và giải thích được kết quả.</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C0392B"/>
            </a:solidFill>
            <a:prstDash val="solid"/>
          </a:ln>
        </p:spPr>
      </p:sp>
      <p:sp>
        <p:nvSpPr>
          <p:cNvPr id="14" name="Shape 11"/>
          <p:cNvSpPr/>
          <p:nvPr/>
        </p:nvSpPr>
        <p:spPr>
          <a:xfrm>
            <a:off x="502920" y="2148840"/>
            <a:ext cx="82296" cy="1051560"/>
          </a:xfrm>
          <a:prstGeom prst="rect">
            <a:avLst/>
          </a:prstGeom>
          <a:solidFill>
            <a:srgbClr val="C0392B"/>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CH2. Câu không dấu: hệ sụp, phục hồi dấu kéo lại gần hết</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lai giữ nguyên chỉ còn 14,47%. BM25 bỏ dấu đạt 74,30% không cần mô hình. Phục hồi dấu bằng bigram đưa hệ về 96,70%, 98,45% âm tiết đúng.</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2D75B6"/>
            </a:solidFill>
            <a:prstDash val="solid"/>
          </a:ln>
        </p:spPr>
      </p:sp>
      <p:sp>
        <p:nvSpPr>
          <p:cNvPr id="18" name="Shape 15"/>
          <p:cNvSpPr/>
          <p:nvPr/>
        </p:nvSpPr>
        <p:spPr>
          <a:xfrm>
            <a:off x="502920" y="3337560"/>
            <a:ext cx="82296" cy="1051560"/>
          </a:xfrm>
          <a:prstGeom prst="rect">
            <a:avLst/>
          </a:prstGeom>
          <a:solidFill>
            <a:srgbClr val="2D75B6"/>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bi-encoder tiếng Việt phổ biến nhất đã học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Câu không dấu và câu nửa dấu đều do máy bỏ dấu từ câu gốc, chưa có câu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Nhãn không đầy đủ, mọi Recall là cận dưới.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Mỗi cấu hình chỉ chạy một seed.</a:t>
            </a:r>
            <a:endParaRPr lang="en-US" sz="105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Thu câu hỏi không dấu do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Cho mô hình phục hồi dấu học thêm văn nói.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Cross-encoder xếp hạng lại top-20.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14</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15</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Ô</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hệ sai ở đâu trên câu có dấu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Nguyên nhân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Số ca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Tỷ lệ</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tài liệu tham khảo</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17</a:t>
            </a:r>
            <a:endParaRPr lang="en-US" sz="1100" dirty="0"/>
          </a:p>
        </p:txBody>
      </p:sp>
      <p:sp>
        <p:nvSpPr>
          <p:cNvPr id="9" name="Text 6"/>
          <p:cNvSpPr txBox="1"/>
          <p:nvPr/>
        </p:nvSpPr>
        <p:spPr>
          <a:xfrm>
            <a:off x="384048"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 Robertson, S., &amp; Zaragoza, H. (2009). The Probabilistic Relevance Framework: BM25 and Beyond. Foundations and Trends in Information Retrieval, 3(4).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 Cormack, G. V., Clarke, C. L. A., &amp; Büttcher, S. (2009). Reciprocal Rank Fusion Outperforms Condorcet and Individual Rank Learning Methods. SIGIR 2009.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[3] Karpukhin, V., et al. (2020). Dense Passage Retrieval for Open-Domain Question Answering.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[4] Nguyen, D. Q., &amp; Nguyen, A. T. (2020). PhoBERT: Pre-trained Language Models for Vietnamese. Findings of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[5] Gao, L., Zhang, Y., Han, J., &amp; Callan, J. (2021). Scaling Deep Contrastive Learning Batch Size under Memory Limited Setup. RepL4NLP 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[6] Chen, J., Xiao, S., Zhang, P., Luo, K., Lian, D., &amp; Liu, Z. (2024). BGE M3-Embedding: Multi-Lingual, Multi-Functionality, Multi-Granularity Text Embeddings Through Self-Knowledge Distillation. arXiv:2402.03216.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[7] Bruch, S., Gai, S., &amp; Ingber, A. (2023). An Analysis of Fusion Functions for Hybrid Retrieval. ACM Transactions on Information Systems, 42(1).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[8] Rosa, G. M., Rodrigues, R. C., Lotufo, R., &amp; Nogueira, R. (2021). Yes, BM25 is a Strong Baseline for Legal Case Retrieval. arXiv:2105.05686.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[9] Pham, N.-M., Nguyen, H.-T., &amp; Do, T.-H. (2022). Multi-stage Information Retrieval for Vietnamese Legal Texts. PKAW 2022. arXiv:2209.14494.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[10] Nguyen Hoang Gia Khang, Nguyen Minh Nhat, Trung Nguyen Quoc, &amp; Vinh Truong Hoang (2024). Vietnamese Legal Text Retrieval based on Sparse and Dense Retrieval approaches. Procedia Computer Science.</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[11] Nguyen Ba, T., Doan The, V., Pham Quang, T., &amp; Tran Van, T. (2024). Vietnamese Legal Information Retrieval in Question-Answering System. arXiv:2409.13699.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[12] Pham Tien, S., Nguyen Doan, H., Nguyen Dai, A., &amp; Dinh Viet, S. (2024). Improving Vietnamese Legal Document Retrieval using Synthetic Data. arXiv:2412.00657.</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[13] Le, V.-H., Nguyen, D.-V., Nguyen, K. V., &amp; Nguyen, N. L.-T. (2025). Optimizing Legal Document Retrieval in Vietnamese with Semi-Hard Negative Mining. ICCCI 2025. arXiv:2507.14619.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[14] Giang, N. T., Duc, T. M., Dang, N. M., &amp; Trang, N. T. M. (2026). Optimizing Retrieval Strategies for Vietnamese Legal RAG Systems. CIT&amp;DS 2025, CCIS vol. 2803, Springer.</a:t>
            </a:r>
            <a:endParaRPr lang="en-US" sz="850" dirty="0"/>
          </a:p>
        </p:txBody>
      </p:sp>
      <p:sp>
        <p:nvSpPr>
          <p:cNvPr id="10" name="Text 7"/>
          <p:cNvSpPr txBox="1"/>
          <p:nvPr/>
        </p:nvSpPr>
        <p:spPr>
          <a:xfrm>
            <a:off x="4608576"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[15] Tran, D. X., Truong, T. D., &amp; Nguyen, K. C. (2025). ViDRILL: A Multi-Stage Retrieval Framework for Vietnamese Legal Document Search. VLSP 2025, tr. 120-126.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[16] Nguyen, C., et al. (2023). A Summary of the ALQAC 2023 Competition. KSE 2023.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[17] Nguyen, L. S. T., &amp; Quan, T. T. (2026). Which Works Best for Vietnamese? A Practical Study of Information Retrieval Methods across Domains. Findings of EACL 2026.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[18] Enevoldsen, K., et al. (2025). MMTEB: Massive Multilingual Text Embedding Benchmark. ICLR 2025.</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[19] Chung, I., Kerboua, I., Kardos, M., Solomatin, R., &amp; Enevoldsen, K. (2025). Maintaining MTEB: Towards Long Term Usability and Reproducibility of Embedding Benchmarks. arXiv:2506.21182.</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[20] CuongNN218. zalo_ltr_2021: Source code for Zalo AI 2021 submission. https://github.com/CuongNN218/zalo_ltr_2021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[21] hieudx149. ZaloAI2021_LTR. https://github.com/hieudx149/ZaloAI2021_LTR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[22] BKAI Foundation Models. vietnamese-bi-encoder (model card). https://huggingface.co/bkai-foundation-models/vietnamese-bi-encoder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[23] darklethelong. vnlegal-lal (model card). https://huggingface.co/darklethelong/vnlegal-lal</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[24] AITeamVN. Vietnamese_Embedding (model card). https://huggingface.co/AITeamVN/Vietnamese_Embedding</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[25] Pham, T.-H., Pham, X.-K., &amp; Le-Hong, P. (2017). On the Use of Machine Translation-Based Approaches for Vietnamese Diacritic Restoration. IALP 2017. arXiv:1709.07104.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[26] Le-Hong, P. (2021). Diacritics Generation and Application in Hate Speech Detection on Vietnamese Social Networks. Knowledge-Based Systems, 233.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[27] GreenNode. zalo-ai-legal-text-retrieval-vn (dataset card). https://huggingface.co/datasets/GreenNode/zalo-ai-legal-text-retrieval-vn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Truy hoi dieu luat tieng Viet cho cau hoi go khong dau</dc:title>
  <dc:subject>PptxGenJS Presentation</dc:subject>
  <dc:creator>Nhom 09</dc:creator>
  <cp:lastModifiedBy>Nhom 09</cp:lastModifiedBy>
  <cp:revision>1</cp:revision>
  <dcterms:created xsi:type="dcterms:W3CDTF">2026-09-16T01:21:08Z</dcterms:created>
  <dcterms:modified xsi:type="dcterms:W3CDTF">2026-09-16T01:21:08Z</dcterms:modified>
</cp:coreProperties>
</file>
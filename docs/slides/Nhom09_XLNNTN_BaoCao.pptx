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Số bản ghi</c:v>
                </c:pt>
              </c:strCache>
            </c:strRef>
          </c:tx>
          <c:spPr>
            <a:solidFill>
              <a:srgbClr val="2C5F8A"/>
            </a:solidFill>
            <a:effectLst/>
          </c:spPr>
          <c:invertIfNegative val="0"/>
          <c:dLbls>
            <c:numFmt formatCode="[&gt;=100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Câu hỏi nằm ở cả train và test</c:v>
                  </c:pt>
                  <c:pt idx="1">
                    <c:v>Câu hỏi bị lặp dòng</c:v>
                  </c:pt>
                  <c:pt idx="2">
                    <c:v>Điều luật rỗng nội dung</c:v>
                  </c:pt>
                  <c:pt idx="3">
                    <c:v>Điều bị nhân đôi vì nd và nđ</c:v>
                  </c:pt>
                  <c:pt idx="4">
                    <c:v>Cặp điều luật gần trùng</c:v>
                  </c:pt>
                  <c:pt idx="5">
                    <c:v>Điều luật trùng nguyên văn</c:v>
                  </c:pt>
                </c:lvl>
              </c:multiLvlStrCache>
            </c:multiLvlStrRef>
          </c:cat>
          <c:val>
            <c:numRef>
              <c:f>Sheet1!$B$2:$B$7</c:f>
              <c:numCache>
                <c:formatCode>General</c:formatCode>
                <c:ptCount val="6"/>
                <c:pt idx="0">
                  <c:v>26</c:v>
                </c:pt>
                <c:pt idx="1">
                  <c:v>93</c:v>
                </c:pt>
                <c:pt idx="2">
                  <c:v>357</c:v>
                </c:pt>
                <c:pt idx="3">
                  <c:v>780</c:v>
                </c:pt>
                <c:pt idx="4">
                  <c:v>871</c:v>
                </c:pt>
                <c:pt idx="5">
                  <c:v>1467</c:v>
                </c:pt>
              </c:numCache>
            </c:numRef>
          </c:val>
        </c:ser>
        <c:dLbls>
          <c:numFmt formatCode="[&gt;=100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22C"/>
                </a:solidFill>
                <a:latin typeface="Calibri"/>
              </a:defRPr>
            </a:pPr>
            <a:endParaRPr lang="en-US"/>
          </a:p>
        </c:txPr>
        <c:crossAx val="2094734552"/>
        <c:crosses val="autoZero"/>
        <c:auto val="1"/>
        <c:lblAlgn val="ctr"/>
        <c:noMultiLvlLbl val="1"/>
      </c:catAx>
      <c:valAx>
        <c:axId val="2094734552"/>
        <c:scaling>
          <c:logBase val="10"/>
          <c:orientation val="minMax"/>
          <c:min val="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 140 từ, vừa mô hình</c:v>
                </c:pt>
              </c:strCache>
            </c:strRef>
          </c:tx>
          <c:spPr>
            <a:solidFill>
              <a:srgbClr val="2C5F8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Sheet1!$A$2:$A$52</c:f>
              <c:multiLvlStrCache>
                <c:ptCount val="5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lvl>
              </c:multiLvlStrCache>
            </c:multiLvlStrRef>
          </c:cat>
          <c:val>
            <c:numRef>
              <c:f>Sheet1!$B$2:$B$52</c:f>
              <c:numCache>
                <c:formatCode>General</c:formatCode>
                <c:ptCount val="51"/>
                <c:pt idx="0">
                  <c:v>1106</c:v>
                </c:pt>
                <c:pt idx="1">
                  <c:v>2478</c:v>
                </c:pt>
                <c:pt idx="2">
                  <c:v>3985</c:v>
                </c:pt>
                <c:pt idx="3">
                  <c:v>4211</c:v>
                </c:pt>
                <c:pt idx="4">
                  <c:v>4148</c:v>
                </c:pt>
                <c:pt idx="5">
                  <c:v>3927</c:v>
                </c:pt>
                <c:pt idx="6">
                  <c:v>3882</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numCache>
            </c:numRef>
          </c:val>
        </c:ser>
        <c:ser>
          <c:idx val="1"/>
          <c:order val="1"/>
          <c:tx>
            <c:strRef>
              <c:f>Sheet1!$C$1</c:f>
              <c:strCache>
                <c:ptCount val="1"/>
                <c:pt idx="0">
                  <c:v>&gt; 140 từ, bị cắt nếu không chia</c:v>
                </c:pt>
              </c:strCache>
            </c:strRef>
          </c:tx>
          <c:spPr>
            <a:solidFill>
              <a:srgbClr val="A820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Sheet1!$A$2:$A$52</c:f>
              <c:multiLvlStrCache>
                <c:ptCount val="5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pt idx="21">
                    <c:v>420</c:v>
                  </c:pt>
                  <c:pt idx="22">
                    <c:v>440</c:v>
                  </c:pt>
                  <c:pt idx="23">
                    <c:v>460</c:v>
                  </c:pt>
                  <c:pt idx="24">
                    <c:v>480</c:v>
                  </c:pt>
                  <c:pt idx="25">
                    <c:v>500</c:v>
                  </c:pt>
                  <c:pt idx="26">
                    <c:v>520</c:v>
                  </c:pt>
                  <c:pt idx="27">
                    <c:v>540</c:v>
                  </c:pt>
                  <c:pt idx="28">
                    <c:v>560</c:v>
                  </c:pt>
                  <c:pt idx="29">
                    <c:v>580</c:v>
                  </c:pt>
                  <c:pt idx="30">
                    <c:v>600</c:v>
                  </c:pt>
                  <c:pt idx="31">
                    <c:v>620</c:v>
                  </c:pt>
                  <c:pt idx="32">
                    <c:v>640</c:v>
                  </c:pt>
                  <c:pt idx="33">
                    <c:v>660</c:v>
                  </c:pt>
                  <c:pt idx="34">
                    <c:v>680</c:v>
                  </c:pt>
                  <c:pt idx="35">
                    <c:v>700</c:v>
                  </c:pt>
                  <c:pt idx="36">
                    <c:v>720</c:v>
                  </c:pt>
                  <c:pt idx="37">
                    <c:v>740</c:v>
                  </c:pt>
                  <c:pt idx="38">
                    <c:v>760</c:v>
                  </c:pt>
                  <c:pt idx="39">
                    <c:v>780</c:v>
                  </c:pt>
                  <c:pt idx="40">
                    <c:v>800</c:v>
                  </c:pt>
                  <c:pt idx="41">
                    <c:v>820</c:v>
                  </c:pt>
                  <c:pt idx="42">
                    <c:v>840</c:v>
                  </c:pt>
                  <c:pt idx="43">
                    <c:v>860</c:v>
                  </c:pt>
                  <c:pt idx="44">
                    <c:v>880</c:v>
                  </c:pt>
                  <c:pt idx="45">
                    <c:v>900</c:v>
                  </c:pt>
                  <c:pt idx="46">
                    <c:v>920</c:v>
                  </c:pt>
                  <c:pt idx="47">
                    <c:v>940</c:v>
                  </c:pt>
                  <c:pt idx="48">
                    <c:v>960</c:v>
                  </c:pt>
                  <c:pt idx="49">
                    <c:v>980</c:v>
                  </c:pt>
                  <c:pt idx="50">
                    <c:v>≥1.000</c:v>
                  </c:pt>
                </c:lvl>
              </c:multiLvlStrCache>
            </c:multiLvlStrRef>
          </c:cat>
          <c:val>
            <c:numRef>
              <c:f>Sheet1!$C$2:$C$52</c:f>
              <c:numCache>
                <c:formatCode>General</c:formatCode>
                <c:ptCount val="51"/>
                <c:pt idx="0">
                  <c:v>0</c:v>
                </c:pt>
                <c:pt idx="1">
                  <c:v>0</c:v>
                </c:pt>
                <c:pt idx="2">
                  <c:v>0</c:v>
                </c:pt>
                <c:pt idx="3">
                  <c:v>0</c:v>
                </c:pt>
                <c:pt idx="4">
                  <c:v>0</c:v>
                </c:pt>
                <c:pt idx="5">
                  <c:v>0</c:v>
                </c:pt>
                <c:pt idx="6">
                  <c:v>0</c:v>
                </c:pt>
                <c:pt idx="7">
                  <c:v>3299</c:v>
                </c:pt>
                <c:pt idx="8">
                  <c:v>3110</c:v>
                </c:pt>
                <c:pt idx="9">
                  <c:v>2766</c:v>
                </c:pt>
                <c:pt idx="10">
                  <c:v>2423</c:v>
                </c:pt>
                <c:pt idx="11">
                  <c:v>2229</c:v>
                </c:pt>
                <c:pt idx="12">
                  <c:v>1951</c:v>
                </c:pt>
                <c:pt idx="13">
                  <c:v>1836</c:v>
                </c:pt>
                <c:pt idx="14">
                  <c:v>1536</c:v>
                </c:pt>
                <c:pt idx="15">
                  <c:v>1506</c:v>
                </c:pt>
                <c:pt idx="16">
                  <c:v>1356</c:v>
                </c:pt>
                <c:pt idx="17">
                  <c:v>1175</c:v>
                </c:pt>
                <c:pt idx="18">
                  <c:v>1120</c:v>
                </c:pt>
                <c:pt idx="19">
                  <c:v>1027</c:v>
                </c:pt>
                <c:pt idx="20">
                  <c:v>962</c:v>
                </c:pt>
                <c:pt idx="21">
                  <c:v>851</c:v>
                </c:pt>
                <c:pt idx="22">
                  <c:v>775</c:v>
                </c:pt>
                <c:pt idx="23">
                  <c:v>710</c:v>
                </c:pt>
                <c:pt idx="24">
                  <c:v>650</c:v>
                </c:pt>
                <c:pt idx="25">
                  <c:v>565</c:v>
                </c:pt>
                <c:pt idx="26">
                  <c:v>498</c:v>
                </c:pt>
                <c:pt idx="27">
                  <c:v>497</c:v>
                </c:pt>
                <c:pt idx="28">
                  <c:v>436</c:v>
                </c:pt>
                <c:pt idx="29">
                  <c:v>429</c:v>
                </c:pt>
                <c:pt idx="30">
                  <c:v>381</c:v>
                </c:pt>
                <c:pt idx="31">
                  <c:v>361</c:v>
                </c:pt>
                <c:pt idx="32">
                  <c:v>327</c:v>
                </c:pt>
                <c:pt idx="33">
                  <c:v>328</c:v>
                </c:pt>
                <c:pt idx="34">
                  <c:v>284</c:v>
                </c:pt>
                <c:pt idx="35">
                  <c:v>280</c:v>
                </c:pt>
                <c:pt idx="36">
                  <c:v>265</c:v>
                </c:pt>
                <c:pt idx="37">
                  <c:v>181</c:v>
                </c:pt>
                <c:pt idx="38">
                  <c:v>177</c:v>
                </c:pt>
                <c:pt idx="39">
                  <c:v>185</c:v>
                </c:pt>
                <c:pt idx="40">
                  <c:v>182</c:v>
                </c:pt>
                <c:pt idx="41">
                  <c:v>186</c:v>
                </c:pt>
                <c:pt idx="42">
                  <c:v>153</c:v>
                </c:pt>
                <c:pt idx="43">
                  <c:v>136</c:v>
                </c:pt>
                <c:pt idx="44">
                  <c:v>133</c:v>
                </c:pt>
                <c:pt idx="45">
                  <c:v>121</c:v>
                </c:pt>
                <c:pt idx="46">
                  <c:v>103</c:v>
                </c:pt>
                <c:pt idx="47">
                  <c:v>102</c:v>
                </c:pt>
                <c:pt idx="48">
                  <c:v>92</c:v>
                </c:pt>
                <c:pt idx="49">
                  <c:v>89</c:v>
                </c:pt>
                <c:pt idx="50">
                  <c:v>1915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
        <c:overlap val="100"/>
        <c:axId val="2094734554"/>
        <c:axId val="2094734552"/>
        <c:axId val="2094734556"/>
      </c:barChart>
      <c:catAx>
        <c:axId val="2094734554"/>
        <c:scaling>
          <c:orientation val="minMax"/>
        </c:scaling>
        <c:delete val="0"/>
        <c:axPos val="b"/>
        <c:title>
          <c:tx>
            <c:rich>
              <a:bodyPr/>
              <a:lstStyle/>
              <a:p>
                <a:pPr>
                  <a:defRPr sz="1200" b="0" i="0" u="none" strike="noStrike">
                    <a:solidFill>
                      <a:srgbClr val="77858E"/>
                    </a:solidFill>
                    <a:latin typeface="Arial"/>
                  </a:defRPr>
                </a:pPr>
                <a:r>
                  <a:rPr sz="1200" b="0" i="0" u="none" strike="noStrike">
                    <a:solidFill>
                      <a:srgbClr val="77858E"/>
                    </a:solidFill>
                    <a:latin typeface="Arial"/>
                  </a:rPr>
                  <a:t>Độ dài điều luật (số từ)</a:t>
                </a:r>
              </a:p>
            </c:rich>
          </c:tx>
          <c:layout/>
          <c:overlay val="0"/>
        </c:title>
        <c:numFmt formatCode="General" sourceLinked="1"/>
        <c:majorTickMark val="out"/>
        <c:minorTickMark val="none"/>
        <c:tickLblPos val="low"/>
        <c:spPr>
          <a:ln w="12700" cap="flat">
            <a:solidFill>
              <a:srgbClr val="D9DDD7"/>
            </a:solidFill>
            <a:prstDash val="solid"/>
            <a:round/>
          </a:ln>
        </c:spPr>
        <c:txPr>
          <a:bodyPr/>
          <a:lstStyle/>
          <a:p>
            <a:pPr>
              <a:defRPr sz="1200" b="0" i="0" u="none" strike="noStrike">
                <a:solidFill>
                  <a:srgbClr val="46545F"/>
                </a:solidFill>
                <a:latin typeface="Calibri"/>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9525" cap="flat">
              <a:solidFill>
                <a:srgbClr val="ECEEEB"/>
              </a:solidFill>
              <a:prstDash val="solid"/>
              <a:round/>
            </a:ln>
          </c:spPr>
        </c:majorGridlines>
        <c:numFmt formatCode="[&gt;=1000]#&quot;.&quot;##0;0" sourceLinked="0"/>
        <c:majorTickMark val="out"/>
        <c:minorTickMark val="none"/>
        <c:tickLblPos val="nextTo"/>
        <c:spPr>
          <a:ln w="12700" cap="flat">
            <a:noFill/>
            <a:prstDash val="solid"/>
            <a:round/>
          </a:ln>
        </c:spPr>
        <c:txPr>
          <a:bodyPr/>
          <a:lstStyle/>
          <a:p>
            <a:pPr>
              <a:defRPr sz="1100" b="0" i="0" u="none" strike="noStrike">
                <a:solidFill>
                  <a:srgbClr val="77858E"/>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Recall@1</c:v>
                </c:pt>
              </c:strCache>
            </c:strRef>
          </c:tx>
          <c:spPr>
            <a:solidFill>
              <a:srgbClr val="9FC2DB"/>
            </a:solidFill>
            <a:effectLst/>
          </c:spPr>
          <c:invertIfNegative val="0"/>
          <c:dLbls>
            <c:numFmt formatCode="[=0]&quot;&quot;;0&quot;,&quot;00" sourceLinked="0"/>
            <c:txPr>
              <a:bodyPr/>
              <a:lstStyle/>
              <a:p>
                <a:pPr>
                  <a:defRPr b="0" i="0" strike="noStrike" sz="1300" u="none">
                    <a:solidFill>
                      <a:srgbClr val="16222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BM25</c:v>
                  </c:pt>
                  <c:pt idx="1">
                    <c:v>Ngữ nghĩa</c:v>
                  </c:pt>
                  <c:pt idx="2">
                    <c:v>RRF</c:v>
                  </c:pt>
                  <c:pt idx="3">
                    <c:v>Hợp nhất trọng số</c:v>
                  </c:pt>
                </c:lvl>
              </c:multiLvlStrCache>
            </c:multiLvlStrRef>
          </c:cat>
          <c:val>
            <c:numRef>
              <c:f>Sheet1!$B$2:$B$5</c:f>
              <c:numCache>
                <c:formatCode>General</c:formatCode>
                <c:ptCount val="4"/>
                <c:pt idx="0">
                  <c:v>4740</c:v>
                </c:pt>
                <c:pt idx="1">
                  <c:v>7811</c:v>
                </c:pt>
                <c:pt idx="2">
                  <c:v>6701</c:v>
                </c:pt>
                <c:pt idx="3">
                  <c:v>7824</c:v>
                </c:pt>
              </c:numCache>
            </c:numRef>
          </c:val>
        </c:ser>
        <c:ser>
          <c:idx val="1"/>
          <c:order val="1"/>
          <c:tx>
            <c:strRef>
              <c:f>Sheet1!$C$1</c:f>
              <c:strCache>
                <c:ptCount val="1"/>
                <c:pt idx="0">
                  <c:v>Recall@10</c:v>
                </c:pt>
              </c:strCache>
            </c:strRef>
          </c:tx>
          <c:spPr>
            <a:solidFill>
              <a:srgbClr val="2C5F8A"/>
            </a:solidFill>
            <a:effectLst/>
          </c:spPr>
          <c:invertIfNegative val="0"/>
          <c:dLbls>
            <c:numFmt formatCode="[=0]&quot;&quot;;0&quot;,&quot;00" sourceLinked="0"/>
            <c:txPr>
              <a:bodyPr/>
              <a:lstStyle/>
              <a:p>
                <a:pPr>
                  <a:defRPr b="0" i="0" strike="noStrike" sz="1300" u="none">
                    <a:solidFill>
                      <a:srgbClr val="16222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BM25</c:v>
                  </c:pt>
                  <c:pt idx="1">
                    <c:v>Ngữ nghĩa</c:v>
                  </c:pt>
                  <c:pt idx="2">
                    <c:v>RRF</c:v>
                  </c:pt>
                  <c:pt idx="3">
                    <c:v>Hợp nhất trọng số</c:v>
                  </c:pt>
                </c:lvl>
              </c:multiLvlStrCache>
            </c:multiLvlStrRef>
          </c:cat>
          <c:val>
            <c:numRef>
              <c:f>Sheet1!$C$2:$C$5</c:f>
              <c:numCache>
                <c:formatCode>General</c:formatCode>
                <c:ptCount val="4"/>
                <c:pt idx="0">
                  <c:v>8522</c:v>
                </c:pt>
                <c:pt idx="1">
                  <c:v>9721</c:v>
                </c:pt>
                <c:pt idx="2">
                  <c:v>9670</c:v>
                </c:pt>
                <c:pt idx="3">
                  <c:v>9772</c:v>
                </c:pt>
              </c:numCache>
            </c:numRef>
          </c:val>
        </c:ser>
        <c:dLbls>
          <c:numFmt formatCode="[=0]&quot;&quot;;0&quot;,&quot;00" sourceLinked="0"/>
          <c:txPr>
            <a:bodyPr/>
            <a:lstStyle/>
            <a:p>
              <a:pPr>
                <a:defRPr b="0" i="0" strike="noStrike" sz="1300" u="none">
                  <a:solidFill>
                    <a:srgbClr val="16222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Câu có dấu</c:v>
                </c:pt>
              </c:strCache>
            </c:strRef>
          </c:tx>
          <c:spPr>
            <a:solidFill>
              <a:srgbClr val="46545F"/>
            </a:solidFill>
            <a:effectLst/>
          </c:spPr>
          <c:invertIfNegative val="0"/>
          <c:dLbls>
            <c:numFmt formatCode="[=0]&quot;&quot;;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BM25</c:v>
                  </c:pt>
                  <c:pt idx="1">
                    <c:v>Ngữ nghĩa</c:v>
                  </c:pt>
                  <c:pt idx="2">
                    <c:v>Hợp nhất</c:v>
                  </c:pt>
                </c:lvl>
              </c:multiLvlStrCache>
            </c:multiLvlStrRef>
          </c:cat>
          <c:val>
            <c:numRef>
              <c:f>Sheet1!$B$2:$B$4</c:f>
              <c:numCache>
                <c:formatCode>General</c:formatCode>
                <c:ptCount val="3"/>
                <c:pt idx="0">
                  <c:v>8522</c:v>
                </c:pt>
                <c:pt idx="1">
                  <c:v>9721</c:v>
                </c:pt>
                <c:pt idx="2">
                  <c:v>9772</c:v>
                </c:pt>
              </c:numCache>
            </c:numRef>
          </c:val>
        </c:ser>
        <c:ser>
          <c:idx val="1"/>
          <c:order val="1"/>
          <c:tx>
            <c:strRef>
              <c:f>Sheet1!$C$1</c:f>
              <c:strCache>
                <c:ptCount val="1"/>
                <c:pt idx="0">
                  <c:v>Cùng câu, bỏ hết dấu</c:v>
                </c:pt>
              </c:strCache>
            </c:strRef>
          </c:tx>
          <c:spPr>
            <a:solidFill>
              <a:srgbClr val="A8202B"/>
            </a:solidFill>
            <a:effectLst/>
          </c:spPr>
          <c:invertIfNegative val="0"/>
          <c:dLbls>
            <c:numFmt formatCode="[=0]&quot;&quot;;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BM25</c:v>
                  </c:pt>
                  <c:pt idx="1">
                    <c:v>Ngữ nghĩa</c:v>
                  </c:pt>
                  <c:pt idx="2">
                    <c:v>Hợp nhất</c:v>
                  </c:pt>
                </c:lvl>
              </c:multiLvlStrCache>
            </c:multiLvlStrRef>
          </c:cat>
          <c:val>
            <c:numRef>
              <c:f>Sheet1!$C$2:$C$4</c:f>
              <c:numCache>
                <c:formatCode>General</c:formatCode>
                <c:ptCount val="3"/>
                <c:pt idx="0">
                  <c:v>622</c:v>
                </c:pt>
                <c:pt idx="1">
                  <c:v>1244</c:v>
                </c:pt>
                <c:pt idx="2">
                  <c:v>1447</c:v>
                </c:pt>
              </c:numCache>
            </c:numRef>
          </c:val>
        </c:ser>
        <c:dLbls>
          <c:numFmt formatCode="[=0]&quot;&quot;;0&quot;,&quot;00" sourceLinked="0"/>
          <c:txPr>
            <a:bodyPr/>
            <a:lstStyle/>
            <a:p>
              <a:pPr>
                <a:defRPr b="0" i="0" strike="noStrike" sz="1400" u="none">
                  <a:solidFill>
                    <a:srgbClr val="16222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30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6545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Có dấu (mốc)</c:v>
                </c:pt>
              </c:strCache>
            </c:strRef>
          </c:tx>
          <c:spPr>
            <a:solidFill>
              <a:srgbClr val="46545F"/>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Có dấu (mốc)</c:v>
                  </c:pt>
                  <c:pt idx="1">
                    <c:v>Không dấu, giữ nguyên</c:v>
                  </c:pt>
                  <c:pt idx="2">
                    <c:v>Không dấu, phục hồi dấu</c:v>
                  </c:pt>
                </c:lvl>
              </c:multiLvlStrCache>
            </c:multiLvlStrRef>
          </c:cat>
          <c:val>
            <c:numRef>
              <c:f>Sheet1!$B$2:$B$4</c:f>
              <c:numCache>
                <c:formatCode>General</c:formatCode>
                <c:ptCount val="3"/>
                <c:pt idx="0">
                  <c:v>9772</c:v>
                </c:pt>
                <c:pt idx="1">
                  <c:v>0</c:v>
                </c:pt>
                <c:pt idx="2">
                  <c:v>0</c:v>
                </c:pt>
              </c:numCache>
            </c:numRef>
          </c:val>
        </c:ser>
        <c:ser>
          <c:idx val="1"/>
          <c:order val="1"/>
          <c:tx>
            <c:strRef>
              <c:f>Sheet1!$C$1</c:f>
              <c:strCache>
                <c:ptCount val="1"/>
                <c:pt idx="0">
                  <c:v>Không dấu, giữ nguyên</c:v>
                </c:pt>
              </c:strCache>
            </c:strRef>
          </c:tx>
          <c:spPr>
            <a:solidFill>
              <a:srgbClr val="A8202B"/>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Có dấu (mốc)</c:v>
                  </c:pt>
                  <c:pt idx="1">
                    <c:v>Không dấu, giữ nguyên</c:v>
                  </c:pt>
                  <c:pt idx="2">
                    <c:v>Không dấu, phục hồi dấu</c:v>
                  </c:pt>
                </c:lvl>
              </c:multiLvlStrCache>
            </c:multiLvlStrRef>
          </c:cat>
          <c:val>
            <c:numRef>
              <c:f>Sheet1!$C$2:$C$4</c:f>
              <c:numCache>
                <c:formatCode>General</c:formatCode>
                <c:ptCount val="3"/>
                <c:pt idx="0">
                  <c:v>0</c:v>
                </c:pt>
                <c:pt idx="1">
                  <c:v>1447</c:v>
                </c:pt>
                <c:pt idx="2">
                  <c:v>0</c:v>
                </c:pt>
              </c:numCache>
            </c:numRef>
          </c:val>
        </c:ser>
        <c:ser>
          <c:idx val="2"/>
          <c:order val="2"/>
          <c:tx>
            <c:strRef>
              <c:f>Sheet1!$D$1</c:f>
              <c:strCache>
                <c:ptCount val="1"/>
                <c:pt idx="0">
                  <c:v>Không dấu, phục hồi dấu</c:v>
                </c:pt>
              </c:strCache>
            </c:strRef>
          </c:tx>
          <c:spPr>
            <a:solidFill>
              <a:srgbClr val="1B6E5A"/>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Có dấu (mốc)</c:v>
                  </c:pt>
                  <c:pt idx="1">
                    <c:v>Không dấu, giữ nguyên</c:v>
                  </c:pt>
                  <c:pt idx="2">
                    <c:v>Không dấu, phục hồi dấu</c:v>
                  </c:pt>
                </c:lvl>
              </c:multiLvlStrCache>
            </c:multiLvlStrRef>
          </c:cat>
          <c:val>
            <c:numRef>
              <c:f>Sheet1!$D$2:$D$4</c:f>
              <c:numCache>
                <c:formatCode>General</c:formatCode>
                <c:ptCount val="3"/>
                <c:pt idx="0">
                  <c:v>0</c:v>
                </c:pt>
                <c:pt idx="1">
                  <c:v>0</c:v>
                </c:pt>
                <c:pt idx="2">
                  <c:v>9670</c:v>
                </c:pt>
              </c:numCache>
            </c:numRef>
          </c:val>
        </c:ser>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Nửa dấu, giữ nguyên</c:v>
                </c:pt>
              </c:strCache>
            </c:strRef>
          </c:tx>
          <c:spPr>
            <a:solidFill>
              <a:srgbClr val="A8202B"/>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Nửa dấu, giữ nguyên</c:v>
                  </c:pt>
                  <c:pt idx="1">
                    <c:v>Nửa dấu, phục hồi dấu</c:v>
                  </c:pt>
                  <c:pt idx="2">
                    <c:v>Câu đủ dấu, vẫn phục hồi</c:v>
                  </c:pt>
                </c:lvl>
              </c:multiLvlStrCache>
            </c:multiLvlStrRef>
          </c:cat>
          <c:val>
            <c:numRef>
              <c:f>Sheet1!$B$2:$B$4</c:f>
              <c:numCache>
                <c:formatCode>General</c:formatCode>
                <c:ptCount val="3"/>
                <c:pt idx="0">
                  <c:v>7481</c:v>
                </c:pt>
                <c:pt idx="1">
                  <c:v>0</c:v>
                </c:pt>
                <c:pt idx="2">
                  <c:v>0</c:v>
                </c:pt>
              </c:numCache>
            </c:numRef>
          </c:val>
        </c:ser>
        <c:ser>
          <c:idx val="1"/>
          <c:order val="1"/>
          <c:tx>
            <c:strRef>
              <c:f>Sheet1!$C$1</c:f>
              <c:strCache>
                <c:ptCount val="1"/>
                <c:pt idx="0">
                  <c:v>Nửa dấu, phục hồi dấu</c:v>
                </c:pt>
              </c:strCache>
            </c:strRef>
          </c:tx>
          <c:spPr>
            <a:solidFill>
              <a:srgbClr val="1B6E5A"/>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Nửa dấu, giữ nguyên</c:v>
                  </c:pt>
                  <c:pt idx="1">
                    <c:v>Nửa dấu, phục hồi dấu</c:v>
                  </c:pt>
                  <c:pt idx="2">
                    <c:v>Câu đủ dấu, vẫn phục hồi</c:v>
                  </c:pt>
                </c:lvl>
              </c:multiLvlStrCache>
            </c:multiLvlStrRef>
          </c:cat>
          <c:val>
            <c:numRef>
              <c:f>Sheet1!$C$2:$C$4</c:f>
              <c:numCache>
                <c:formatCode>General</c:formatCode>
                <c:ptCount val="3"/>
                <c:pt idx="0">
                  <c:v>0</c:v>
                </c:pt>
                <c:pt idx="1">
                  <c:v>9721</c:v>
                </c:pt>
                <c:pt idx="2">
                  <c:v>0</c:v>
                </c:pt>
              </c:numCache>
            </c:numRef>
          </c:val>
        </c:ser>
        <c:ser>
          <c:idx val="2"/>
          <c:order val="2"/>
          <c:tx>
            <c:strRef>
              <c:f>Sheet1!$D$1</c:f>
              <c:strCache>
                <c:ptCount val="1"/>
                <c:pt idx="0">
                  <c:v>Câu đủ dấu, vẫn phục hồi</c:v>
                </c:pt>
              </c:strCache>
            </c:strRef>
          </c:tx>
          <c:spPr>
            <a:solidFill>
              <a:srgbClr val="46545F"/>
            </a:solidFill>
            <a:effectLst/>
          </c:spPr>
          <c:invertIfNegative val="0"/>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Sheet1!$A$2:$A$4</c:f>
              <c:multiLvlStrCache>
                <c:ptCount val="3"/>
                <c:lvl>
                  <c:pt idx="0">
                    <c:v>Nửa dấu, giữ nguyên</c:v>
                  </c:pt>
                  <c:pt idx="1">
                    <c:v>Nửa dấu, phục hồi dấu</c:v>
                  </c:pt>
                  <c:pt idx="2">
                    <c:v>Câu đủ dấu, vẫn phục hồi</c:v>
                  </c:pt>
                </c:lvl>
              </c:multiLvlStrCache>
            </c:multiLvlStrRef>
          </c:cat>
          <c:val>
            <c:numRef>
              <c:f>Sheet1!$D$2:$D$4</c:f>
              <c:numCache>
                <c:formatCode>General</c:formatCode>
                <c:ptCount val="3"/>
                <c:pt idx="0">
                  <c:v>0</c:v>
                </c:pt>
                <c:pt idx="1">
                  <c:v>0</c:v>
                </c:pt>
                <c:pt idx="2">
                  <c:v>9772</c:v>
                </c:pt>
              </c:numCache>
            </c:numRef>
          </c:val>
        </c:ser>
        <c:dLbls>
          <c:numFmt formatCode="[=0]&quot;&quot;;0&quot;,&quot;00" sourceLinked="0"/>
          <c:txPr>
            <a:bodyPr/>
            <a:lstStyle/>
            <a:p>
              <a:pPr>
                <a:defRPr b="0" i="0" strike="noStrike" sz="15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DD7"/>
            </a:solidFill>
            <a:prstDash val="solid"/>
            <a:round/>
          </a:ln>
        </c:spPr>
        <c:txPr>
          <a:bodyPr/>
          <a:lstStyle/>
          <a:p>
            <a:pPr>
              <a:defRPr sz="1250" b="0" i="0" u="none" strike="noStrike">
                <a:solidFill>
                  <a:srgbClr val="46545F"/>
                </a:solidFill>
                <a:latin typeface="Calibri"/>
              </a:defRPr>
            </a:pPr>
            <a:endParaRPr lang="en-US"/>
          </a:p>
        </c:txPr>
        <c:crossAx val="2094734552"/>
        <c:crosses val="autoZero"/>
        <c:auto val="1"/>
        <c:lblAlgn val="ctr"/>
        <c:noMultiLvlLbl val="1"/>
      </c:catAx>
      <c:valAx>
        <c:axId val="2094734552"/>
        <c:scaling>
          <c:orientation val="minMax"/>
          <c:max val="1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BÌA. Khoảng 15 giây.
"Em xin chào thầy và các bạn. Nhóm 09 báo cáo đề tài Tìm kiếm điều luật tiếng Việt cho câu hỏi gõ thiếu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Ý chính: hai khoảng cách giữa câu hỏi và điều luật. Thẻ trái: không trùng từ nào. Thẻ phải: mất dấu thì "phạt" và "phat" là hai chữ khác nhau với máy.
Chốt: "Đầu vào là một câu hỏi, đầu ra là danh sách điều luật xếp hạng trong 61.425 điều."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Không đọc hết bảng, chỉ đọc cột phải.
Dòng 1: từ Zalo 2021 tới EACL 2026 đều ghép BM25 với ngữ nghĩa và đều thấy ghép tốt hơn. Lặp lại phép so đó thì không có gì mới.
Dòng 4, nói chậm: phục hồi dấu tiếng Việt đạt khoảng 97% nhưng được đo như bài toán riêng, chưa ai đo ảnh hưởng lên tìm luật.
Nếu thầy hỏi "đọc hết chưa": đối chiếu theo phần tóm tắt, mã nguồn và model card, danh sách ở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Chỉ tay vào ô đỏ.
"Tìm luật thì chỉ chấm trên câu có dấu. Phục hồi dấu thì chỉ đo độ chính xác âm tiết. Ô giao nhau, tìm luật trên câu mất dấu, chưa ai đo. Đó là câu hỏi nghiên cứu 2."
"Câu hỏi 1 là điều kiện của câu hỏi 2: muốn biết mất dấu làm hỏng bao nhiêu thì cần một mốc có dấu đo sạch trước."
Nếu thầy hỏi "chắc chưa ai làm": chỉ khẳng định trong các nguồn nhóm đã đối chiếu.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"Bộ Zalo AI 2021, bản BEIR trên HuggingFace, đã vào MTEB. Nhóm vẫn kiểm toán lại từ đầu, mỗi phát hiện có một tệp bằng chứng trong reports/audit."
Chỉ thanh cuối: "26 câu hỏi nằm ở cả train lẫn test. Slide sau."
Chỉ thanh thứ ba: "4 văn bản bị tách đôi chỉ vì nd và nđ. Chuyện dấu đã gây lỗi ngay trong dữ liệu gốc."
Nếu thầy hỏi sao không xóa điều trùng: kho luật thật có điều trùng thật, xóa đi làm bài dễ đi giả tạo.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Điểm nhấn của phần kiểm toán.
"Trong 26 câu chồng lấn, 24 câu trùng đúng mã. Chúng không phải dòng lặp: cả 24 câu, tệp train chỉ sang một điều luật, tệp test chỉ sang điều khác."
Đọc dòng đầu bảng.
Chốt: "Bộ nhãn không đầy đủ, nên mọi Recall trong báo cáo là cận dưới. Nhóm bỏ dòng train của các câu này, giữ nguyên test của ban tổ chức."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Phát hiện đáng giá nhất, nói chậm.
"Chống rò rỉ thường dừng ở chia lại tập. Nhưng mô hình tiền huấn luyện mình tải về cũng có thể đã thấy tập test. Nhóm đọc model card của bkai, mô hình bi-encoder tiếng Việt phổ biến nhất: nó học 80% tập train Zalo 2021, mà tập test của nhóm cắt ra từ đúng tập đó."
"Giống xem đề và đáp án trước khi thi. Nhóm chuyển sang AITeamVN, model card ghi không học bộ này, làm mô hình sạch cho mọi con số chính thức. bkai vẫn báo cáo nhưng gắn nhãn nhiễm bẩn."
Nếu thầy hỏi sao tin model card: không kiểm chứng trực tiếp được, nhóm ghi rõ đó là tuyên bố của tác giả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Đi theo mũi tên từ trái sang phải.
"Mọi câu hỏi đều qua khâu phục hồi dấu trước, không cần hỏi câu có dấu hay chưa: âm tiết đã có dấu giữ nguyên, chỉ phần thiếu được sửa."
"Rồi câu hỏi vào hai nhánh song song: BM25 trên 61.425 điều đã tách từ bằng pyvi, và bi-encoder trên 154.176 đoạn, gộp về điều bằng điểm cao nhất. Mỗi nhánh trả top-100, tầng hợp nhất cộng điểm theo trọng số."
"Đầu ra trích nguyên văn khoản luật, không sinh chữ, nên không bịa được."
Nếu thầy hỏi vì sao gộp max: đo trên val, max 0,9563,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"Mô hình nhận tối đa 256 token, khoảng 140 từ. Phần đỏ là các điều dài hơn thế: 61,1 phần trăm. Cắt cụt là vứt phần đuôi, mà đuôi điều luật hay là mức phạt và ngoại lệ."
"Nhóm cắt theo ranh giới khoản, khoản nào quá dài mới trượt cửa sổ, mỗi đoạn mang tiêu đề điều. Kết quả 61.425 điều thành 154.176 đoạn."
Nếu thầy hỏi sao không dùng mô hình ngữ cảnh dài: để hai bộ mã hóa ăn cùng một bộ đoạn,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Trả lời câu hỏi nghiên cứu 1.
"788 câu test, chấm một lần. BM25 được 85,22, ngữ nghĩa 97,21, hợp nhất có trọng số 97,72 phần trăm."
"Hợp nhất hơn ngữ nghĩa 0,51 điểm, tính theo số câu là 4 câu trên 788. Có cải thiện nhưng rất nhỏ, mỗi cấu hình một seed nên nhóm không gọi đó là đáng kể."
"RRF chỉ nhìn thứ hạng nên còn kém ngữ nghĩa ở Recall@1, khớp với Bruch và cộng sự 2023."
Nếu thầy hỏi về bkai: Recall@10 97,46 nhưng đã học tập test, nên không đưa vào so sánh.
Nếu thầy hỏi F2 sao thấp: cố định k bằng 10 nên precision tối đa 0,1, không so với bảng xếp hạng Zalo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"Đối chiếu chéo ở top-10: 669 câu cả hai tầng đều đúng, 98 câu chỉ ngữ nghĩa đúng, và chỉ 3 câu mà BM25 đúng còn ngữ nghĩa sai. Đó là toàn bộ khoảng trống hợp nhất có thể lấp."
"Vậy có bỏ BM25 không? Không, vì hai lý do khác điểm số: nhanh hơn khoảng 700 lần, và chỉ ra được đúng những từ đã khớp. Với tra cứu luật, người dùng sắp viện dẫn điều đó nên cần biết vì sao nó được chọn."
"Và ở phần sau, khi mất dấu, BM25 là tầng đứng vững nhất."
Nếu thầy hỏi 18 câu cả hai sai: nhóm đọc tay 17 ca hệ lai sai, 10 ca thiếu ngữ cảnh pháp lý như câu nướng bắp, 2 ca nhãn gold đáng ngờ.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Kết quả chính của đồ án, nói chậm.
"Nhóm lấy đúng 788 câu test, bỏ hết dấu bằng máy, giữ nguyên nhãn, rồi chạy lại đúng hệ vừa rồi."
Chỉ cột đỏ: "Ngữ nghĩa tụt từ 97,21 xuống 12,44. BM25 và hợp nhất cũng vậy. Cả hệ gần như không dùng được."
"Riêng BM25, nếu lập chỉ mục trên văn bản đã bỏ dấu thì lên lại 74,30, không cần mô hình nào. Nhưng cách tốt nhất là phục hồi dấu, slide sau."
Nếu thầy hỏi vì sao ngữ nghĩa sụp: giả thuyết là mô hình học chủ yếu văn bản có dấu, chưa kiểm chứng trực tiếp.
Nếu thầy hỏi BM25 bỏ dấu giảm do bỏ dấu hay do đổi cách tách từ: đo trên val, đổi cách tách từ mất 0,047, bỏ dấu mất thêm 0,137.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Trả lời câu hỏi nghiên cứu 2.
"Cách làm đơn giản: đếm các cặp âm tiết liền nhau trên 18,6 triệu âm tiết của chính kho luật và câu hỏi train. Mỗi âm tiết không dấu có nhiều dạng có dấu, ví dụ nghi có thể là nghỉ, nghị, nghĩ. Viterbi chọn chuỗi có xác suất cao nhất."
"98,45 phần trăm âm tiết đúng, 0,88 mili giây mỗi câu, học xong trong 15 giây, không cần GPU. Hệ từ 14,47 lên 96,70, chỉ kém câu có dấu 1,02 điểm."
Nếu thầy hỏi sao không dùng mô hình phục hồi dấu có sẵn: chưa so trên cùng bộ dữ liệu nên không nói hơn kém; bigram có lợi là không phải tải thêm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Trái: "Chỗ sai rơi vào từ nói thường mà văn bản luật không dùng: tài xế thành tải xe, máu thành mẫu. Chính là khoảng cách từ vựng ở slide 2. 166 câu sai ít nhất một âm tiết; ở nhóm này mất 9 câu đúng, được 1."
Phải: "Vì âm tiết đã có dấu được giữ nguyên, câu gõ dấu một nửa cũng được sửa: từ 74,81 lên 97,21. Câu vốn đủ dấu vẫn giữ 97,72, vì 769 trên 788 câu không bị đổi chữ nào. Nên không cần hỏi câu có dấu hay chưa."
Câu nửa dấu cũng do máy tạo: mỗi âm tiết bị bỏ dấu với xác suất một nửa.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Nói chậm, đây là ấn tượng cuối.
"Một: câu có dấu, hợp nhất chỉ hơn ngữ nghĩa 0,51 điểm, tức 4 câu. BM25 đáng giữ vì nhanh và giải thích được."
"Hai, điều nhóm muốn thầy nhớ: mất dấu thì hệ chỉ còn 14,47 phần trăm, và một mô hình bigram nhỏ học từ chính kho luật kéo về 96,70."
"Ba: chống rò rỉ không dừng ở chia lại tập, mô hình tải về cũng có thể đã thấy tập test."
"Em xin hết phần trình bày, nhóm xin demo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trình bày. Danh sách đọc thẳng từ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502920"/>
            <a:ext cx="73152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Trường Đại học Công nghệ Thông tin, ĐHQG-HCM</a:t>
            </a:r>
            <a:endParaRPr lang="en-US" sz="1400" dirty="0"/>
          </a:p>
        </p:txBody>
      </p:sp>
      <p:sp>
        <p:nvSpPr>
          <p:cNvPr id="3" name="Text 1"/>
          <p:cNvSpPr txBox="1"/>
          <p:nvPr/>
        </p:nvSpPr>
        <p:spPr>
          <a:xfrm>
            <a:off x="594360" y="1874520"/>
            <a:ext cx="7315200" cy="274320"/>
          </a:xfrm>
          <a:prstGeom prst="rect">
            <a:avLst/>
          </a:prstGeom>
          <a:noFill/>
          <a:ln/>
        </p:spPr>
        <p:txBody>
          <a:bodyPr wrap="square" lIns="0" tIns="0" rIns="0" bIns="0" rtlCol="0" anchor="ctr"/>
          <a:lstStyle/>
          <a:p>
            <a:pPr indent="0" marL="0">
              <a:buNone/>
            </a:pPr>
            <a:r>
              <a:rPr lang="en-US" sz="1200" spc="200" kern="0" dirty="0">
                <a:solidFill>
                  <a:srgbClr val="9FC2DB"/>
                </a:solidFill>
                <a:latin typeface="Consolas" pitchFamily="34" charset="0"/>
                <a:ea typeface="Consolas" pitchFamily="34" charset="-122"/>
                <a:cs typeface="Consolas" pitchFamily="34" charset="-120"/>
              </a:rPr>
              <a:t>BÁO CÁO ĐỒ ÁN  ·  XỬ LÝ NGÔN NGỮ TỰ NHIÊN</a:t>
            </a:r>
            <a:endParaRPr lang="en-US" sz="1200" dirty="0"/>
          </a:p>
        </p:txBody>
      </p:sp>
      <p:sp>
        <p:nvSpPr>
          <p:cNvPr id="4" name="Text 2"/>
          <p:cNvSpPr txBox="1"/>
          <p:nvPr/>
        </p:nvSpPr>
        <p:spPr>
          <a:xfrm>
            <a:off x="594360" y="2240280"/>
            <a:ext cx="6766560" cy="1600200"/>
          </a:xfrm>
          <a:prstGeom prst="rect">
            <a:avLst/>
          </a:prstGeom>
          <a:noFill/>
          <a:ln/>
        </p:spPr>
        <p:txBody>
          <a:bodyPr wrap="square" lIns="0" tIns="0" rIns="0" bIns="0" rtlCol="0" anchor="t"/>
          <a:lstStyle/>
          <a:p>
            <a:pPr indent="0" marL="0">
              <a:lnSpc>
                <a:spcPct val="95000"/>
              </a:lnSpc>
              <a:buNone/>
            </a:pPr>
            <a:r>
              <a:rPr lang="en-US" sz="4000" b="1" dirty="0">
                <a:solidFill>
                  <a:srgbClr val="FFFFFF"/>
                </a:solidFill>
                <a:latin typeface="Cambria" pitchFamily="34" charset="0"/>
                <a:ea typeface="Cambria" pitchFamily="34" charset="-122"/>
                <a:cs typeface="Cambria" pitchFamily="34" charset="-120"/>
              </a:rPr>
              <a:t>Tìm kiếm điều luật tiếng Việt</a:t>
            </a:r>
            <a:endParaRPr lang="en-US" sz="4000" dirty="0"/>
          </a:p>
          <a:p>
            <a:pPr indent="0" marL="0">
              <a:lnSpc>
                <a:spcPct val="95000"/>
              </a:lnSpc>
              <a:buNone/>
            </a:pPr>
            <a:r>
              <a:rPr lang="en-US" sz="4000" b="1" dirty="0">
                <a:solidFill>
                  <a:srgbClr val="FFFFFF"/>
                </a:solidFill>
                <a:latin typeface="Cambria" pitchFamily="34" charset="0"/>
                <a:ea typeface="Cambria" pitchFamily="34" charset="-122"/>
                <a:cs typeface="Cambria" pitchFamily="34" charset="-120"/>
              </a:rPr>
              <a:t>cho câu hỏi gõ thiếu dấu</a:t>
            </a:r>
            <a:endParaRPr lang="en-US" sz="4000" dirty="0"/>
          </a:p>
        </p:txBody>
      </p:sp>
      <p:sp>
        <p:nvSpPr>
          <p:cNvPr id="5" name="Text 3"/>
          <p:cNvSpPr txBox="1"/>
          <p:nvPr/>
        </p:nvSpPr>
        <p:spPr>
          <a:xfrm>
            <a:off x="594360" y="3566160"/>
            <a:ext cx="6766560" cy="365760"/>
          </a:xfrm>
          <a:prstGeom prst="rect">
            <a:avLst/>
          </a:prstGeom>
          <a:noFill/>
          <a:ln/>
        </p:spPr>
        <p:txBody>
          <a:bodyPr wrap="square" lIns="0" tIns="0" rIns="0" bIns="0" rtlCol="0" anchor="ctr"/>
          <a:lstStyle/>
          <a:p>
            <a:pPr indent="0" marL="0">
              <a:buNone/>
            </a:pPr>
            <a:r>
              <a:rPr lang="en-US" sz="1800" i="1" dirty="0">
                <a:solidFill>
                  <a:srgbClr val="C9D6DF"/>
                </a:solidFill>
                <a:latin typeface="Calibri" pitchFamily="34" charset="0"/>
                <a:ea typeface="Calibri" pitchFamily="34" charset="-122"/>
                <a:cs typeface="Calibri" pitchFamily="34" charset="-120"/>
              </a:rPr>
              <a:t>Kết hợp từ khóa và ngữ nghĩa, phục hồi dấu, kiểm toán rò rỉ dữ liệu</a:t>
            </a:r>
            <a:endParaRPr lang="en-US" sz="1800" dirty="0"/>
          </a:p>
        </p:txBody>
      </p:sp>
      <p:sp>
        <p:nvSpPr>
          <p:cNvPr id="6" name="Text 4"/>
          <p:cNvSpPr txBox="1"/>
          <p:nvPr/>
        </p:nvSpPr>
        <p:spPr>
          <a:xfrm>
            <a:off x="594360" y="4343400"/>
            <a:ext cx="5486400" cy="1325880"/>
          </a:xfrm>
          <a:prstGeom prst="rect">
            <a:avLst/>
          </a:prstGeom>
          <a:noFill/>
          <a:ln/>
        </p:spPr>
        <p:txBody>
          <a:bodyPr wrap="square" lIns="0" tIns="0" rIns="0" bIns="0" rtlCol="0" anchor="t"/>
          <a:lstStyle/>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Nhóm 09</a:t>
            </a:r>
            <a:endParaRPr lang="en-US" sz="1300" dirty="0"/>
          </a:p>
          <a:p>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Lê Hoàng Lộc  25210293</a:t>
            </a:r>
            <a:endParaRPr lang="en-US" sz="1300" dirty="0"/>
          </a:p>
          <a:p>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Lê Thị Tuấn Anh  25210250</a:t>
            </a:r>
            <a:endParaRPr lang="en-US" sz="1300" dirty="0"/>
          </a:p>
          <a:p>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Đoàn Mậu Thiên Thư  25210341</a:t>
            </a:r>
            <a:endParaRPr lang="en-US" sz="1300" dirty="0"/>
          </a:p>
          <a:p>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GVHD: Đặng Văn Thìn</a:t>
            </a:r>
            <a:endParaRPr lang="en-US" sz="1300" dirty="0"/>
          </a:p>
        </p:txBody>
      </p:sp>
      <p:sp>
        <p:nvSpPr>
          <p:cNvPr id="7" name="Text 5"/>
          <p:cNvSpPr txBox="1"/>
          <p:nvPr/>
        </p:nvSpPr>
        <p:spPr>
          <a:xfrm>
            <a:off x="594360" y="6355080"/>
            <a:ext cx="5486400" cy="274320"/>
          </a:xfrm>
          <a:prstGeom prst="rect">
            <a:avLst/>
          </a:prstGeom>
          <a:noFill/>
          <a:ln/>
        </p:spPr>
        <p:txBody>
          <a:bodyPr wrap="square" lIns="0" tIns="0" rIns="0" bIns="0" rtlCol="0" anchor="ctr"/>
          <a:lstStyle/>
          <a:p>
            <a:pPr indent="0" marL="0">
              <a:buNone/>
            </a:pPr>
            <a:r>
              <a:rPr lang="en-US" sz="1100" dirty="0">
                <a:solidFill>
                  <a:srgbClr val="9AA8B2"/>
                </a:solidFill>
                <a:latin typeface="Calibri" pitchFamily="34" charset="0"/>
                <a:ea typeface="Calibri" pitchFamily="34" charset="-122"/>
                <a:cs typeface="Calibri" pitchFamily="34" charset="-120"/>
              </a:rPr>
              <a:t>TP. Hồ Chí Minh, tháng 9 năm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BÀI TOÁN  ·  02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Người dân hỏi luật bằng lời thường, và thường gõ không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02 / 16</a:t>
            </a:r>
            <a:endParaRPr lang="en-US" sz="1000" dirty="0"/>
          </a:p>
        </p:txBody>
      </p:sp>
      <p:sp>
        <p:nvSpPr>
          <p:cNvPr id="7" name="Shape 4"/>
          <p:cNvSpPr/>
          <p:nvPr/>
        </p:nvSpPr>
        <p:spPr>
          <a:xfrm>
            <a:off x="594360" y="1691640"/>
            <a:ext cx="5318608" cy="3520440"/>
          </a:xfrm>
          <a:prstGeom prst="rect">
            <a:avLst/>
          </a:prstGeom>
          <a:solidFill>
            <a:srgbClr val="F3F5F2"/>
          </a:solidFill>
          <a:ln/>
        </p:spPr>
      </p:sp>
      <p:sp>
        <p:nvSpPr>
          <p:cNvPr id="8" name="Text 5"/>
          <p:cNvSpPr txBox="1"/>
          <p:nvPr/>
        </p:nvSpPr>
        <p:spPr>
          <a:xfrm>
            <a:off x="914400" y="1965960"/>
            <a:ext cx="3657600"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KHÁC TỪ VỰNG</a:t>
            </a:r>
            <a:endParaRPr lang="en-US" sz="1200" dirty="0"/>
          </a:p>
        </p:txBody>
      </p:sp>
      <p:sp>
        <p:nvSpPr>
          <p:cNvPr id="9" name="Text 6"/>
          <p:cNvSpPr txBox="1"/>
          <p:nvPr/>
        </p:nvSpPr>
        <p:spPr>
          <a:xfrm>
            <a:off x="914400" y="2423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Người hỏi</a:t>
            </a:r>
            <a:endParaRPr lang="en-US" sz="1300" dirty="0"/>
          </a:p>
        </p:txBody>
      </p:sp>
      <p:sp>
        <p:nvSpPr>
          <p:cNvPr id="10" name="Text 7"/>
          <p:cNvSpPr txBox="1"/>
          <p:nvPr/>
        </p:nvSpPr>
        <p:spPr>
          <a:xfrm>
            <a:off x="914400" y="2697480"/>
            <a:ext cx="4678528" cy="731520"/>
          </a:xfrm>
          <a:prstGeom prst="rect">
            <a:avLst/>
          </a:prstGeom>
          <a:noFill/>
          <a:ln/>
        </p:spPr>
        <p:txBody>
          <a:bodyPr wrap="square" lIns="0" tIns="0" rIns="0" bIns="0" rtlCol="0" anchor="t"/>
          <a:lstStyle/>
          <a:p>
            <a:pPr indent="0" marL="0">
              <a:buNone/>
            </a:pPr>
            <a:r>
              <a:rPr lang="en-US" sz="2100" dirty="0">
                <a:solidFill>
                  <a:srgbClr val="16222C"/>
                </a:solidFill>
                <a:latin typeface="Cambria" pitchFamily="34" charset="0"/>
                <a:ea typeface="Cambria" pitchFamily="34" charset="-122"/>
                <a:cs typeface="Cambria" pitchFamily="34" charset="-120"/>
              </a:rPr>
              <a:t>Nướng bắp, ngô trên cầu phạt bao nhiêu tiền?</a:t>
            </a:r>
            <a:endParaRPr lang="en-US" sz="2100" dirty="0"/>
          </a:p>
        </p:txBody>
      </p:sp>
      <p:sp>
        <p:nvSpPr>
          <p:cNvPr id="11" name="Text 8"/>
          <p:cNvSpPr txBox="1"/>
          <p:nvPr/>
        </p:nvSpPr>
        <p:spPr>
          <a:xfrm>
            <a:off x="914400" y="3566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Điều luật đúng</a:t>
            </a:r>
            <a:endParaRPr lang="en-US" sz="1300" dirty="0"/>
          </a:p>
        </p:txBody>
      </p:sp>
      <p:sp>
        <p:nvSpPr>
          <p:cNvPr id="12" name="Text 9"/>
          <p:cNvSpPr txBox="1"/>
          <p:nvPr/>
        </p:nvSpPr>
        <p:spPr>
          <a:xfrm>
            <a:off x="914400" y="3840480"/>
            <a:ext cx="4678528" cy="731520"/>
          </a:xfrm>
          <a:prstGeom prst="rect">
            <a:avLst/>
          </a:prstGeom>
          <a:noFill/>
          <a:ln/>
        </p:spPr>
        <p:txBody>
          <a:bodyPr wrap="square" lIns="0" tIns="0" rIns="0" bIns="0" rtlCol="0" anchor="t"/>
          <a:lstStyle/>
          <a:p>
            <a:pPr indent="0" marL="0">
              <a:buNone/>
            </a:pPr>
            <a:r>
              <a:rPr lang="en-US" sz="1700" dirty="0">
                <a:solidFill>
                  <a:srgbClr val="46545F"/>
                </a:solidFill>
                <a:latin typeface="Cambria" pitchFamily="34" charset="0"/>
                <a:ea typeface="Cambria" pitchFamily="34" charset="-122"/>
                <a:cs typeface="Cambria" pitchFamily="34" charset="-120"/>
              </a:rPr>
              <a:t>Xử phạt vi phạm quy định về quản lý, khai thác, bảo trì công trình đường bộ</a:t>
            </a:r>
            <a:endParaRPr lang="en-US" sz="1700" dirty="0"/>
          </a:p>
        </p:txBody>
      </p:sp>
      <p:sp>
        <p:nvSpPr>
          <p:cNvPr id="13" name="Text 10"/>
          <p:cNvSpPr txBox="1"/>
          <p:nvPr/>
        </p:nvSpPr>
        <p:spPr>
          <a:xfrm>
            <a:off x="914400" y="4709160"/>
            <a:ext cx="4678528" cy="310896"/>
          </a:xfrm>
          <a:prstGeom prst="rect">
            <a:avLst/>
          </a:prstGeom>
          <a:noFill/>
          <a:ln/>
        </p:spPr>
        <p:txBody>
          <a:bodyPr wrap="square" lIns="0" tIns="0" rIns="0" bIns="0" rtlCol="0" anchor="ctr"/>
          <a:lstStyle/>
          <a:p>
            <a:pPr indent="0" marL="0">
              <a:buNone/>
            </a:pPr>
            <a:r>
              <a:rPr lang="en-US" sz="1500" b="1" dirty="0">
                <a:solidFill>
                  <a:srgbClr val="A8202B"/>
                </a:solidFill>
                <a:latin typeface="Calibri" pitchFamily="34" charset="0"/>
                <a:ea typeface="Calibri" pitchFamily="34" charset="-122"/>
                <a:cs typeface="Calibri" pitchFamily="34" charset="-120"/>
              </a:rPr>
              <a:t>Không trùng một từ nào</a:t>
            </a:r>
            <a:endParaRPr lang="en-US" sz="1500" dirty="0"/>
          </a:p>
        </p:txBody>
      </p:sp>
      <p:sp>
        <p:nvSpPr>
          <p:cNvPr id="14" name="Shape 11"/>
          <p:cNvSpPr/>
          <p:nvPr/>
        </p:nvSpPr>
        <p:spPr>
          <a:xfrm>
            <a:off x="6278728" y="1691640"/>
            <a:ext cx="5318608" cy="3520440"/>
          </a:xfrm>
          <a:prstGeom prst="rect">
            <a:avLst/>
          </a:prstGeom>
          <a:solidFill>
            <a:srgbClr val="F3F5F2"/>
          </a:solidFill>
          <a:ln/>
        </p:spPr>
      </p:sp>
      <p:sp>
        <p:nvSpPr>
          <p:cNvPr id="15" name="Text 12"/>
          <p:cNvSpPr txBox="1"/>
          <p:nvPr/>
        </p:nvSpPr>
        <p:spPr>
          <a:xfrm>
            <a:off x="6598768" y="1965960"/>
            <a:ext cx="3657600" cy="274320"/>
          </a:xfrm>
          <a:prstGeom prst="rect">
            <a:avLst/>
          </a:prstGeom>
          <a:noFill/>
          <a:ln/>
        </p:spPr>
        <p:txBody>
          <a:bodyPr wrap="square" lIns="0" tIns="0" rIns="0" bIns="0" rtlCol="0" anchor="ctr"/>
          <a:lstStyle/>
          <a:p>
            <a:pPr indent="0" marL="0">
              <a:buNone/>
            </a:pPr>
            <a:r>
              <a:rPr lang="en-US" sz="1200" b="1" dirty="0">
                <a:solidFill>
                  <a:srgbClr val="A8202B"/>
                </a:solidFill>
                <a:latin typeface="Consolas" pitchFamily="34" charset="0"/>
                <a:ea typeface="Consolas" pitchFamily="34" charset="-122"/>
                <a:cs typeface="Consolas" pitchFamily="34" charset="-120"/>
              </a:rPr>
              <a:t>MẤT DẤU</a:t>
            </a:r>
            <a:endParaRPr lang="en-US" sz="1200" dirty="0"/>
          </a:p>
        </p:txBody>
      </p:sp>
      <p:sp>
        <p:nvSpPr>
          <p:cNvPr id="16" name="Text 13"/>
          <p:cNvSpPr txBox="1"/>
          <p:nvPr/>
        </p:nvSpPr>
        <p:spPr>
          <a:xfrm>
            <a:off x="6598768" y="2423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Gõ đủ dấu</a:t>
            </a:r>
            <a:endParaRPr lang="en-US" sz="1300" dirty="0"/>
          </a:p>
        </p:txBody>
      </p:sp>
      <p:sp>
        <p:nvSpPr>
          <p:cNvPr id="17" name="Text 14"/>
          <p:cNvSpPr txBox="1"/>
          <p:nvPr/>
        </p:nvSpPr>
        <p:spPr>
          <a:xfrm>
            <a:off x="6598768" y="2697480"/>
            <a:ext cx="4678528" cy="731520"/>
          </a:xfrm>
          <a:prstGeom prst="rect">
            <a:avLst/>
          </a:prstGeom>
          <a:noFill/>
          <a:ln/>
        </p:spPr>
        <p:txBody>
          <a:bodyPr wrap="square" lIns="0" tIns="0" rIns="0" bIns="0" rtlCol="0" anchor="t"/>
          <a:lstStyle/>
          <a:p>
            <a:pPr indent="0" marL="0">
              <a:buNone/>
            </a:pPr>
            <a:r>
              <a:rPr lang="en-US" sz="2100" dirty="0">
                <a:solidFill>
                  <a:srgbClr val="16222C"/>
                </a:solidFill>
                <a:latin typeface="Cambria" pitchFamily="34" charset="0"/>
                <a:ea typeface="Cambria" pitchFamily="34" charset="-122"/>
                <a:cs typeface="Cambria" pitchFamily="34" charset="-120"/>
              </a:rPr>
              <a:t>Đi xe máy không đội mũ bảo hiểm bị phạt bao nhiêu tiền?</a:t>
            </a:r>
            <a:endParaRPr lang="en-US" sz="2100" dirty="0"/>
          </a:p>
        </p:txBody>
      </p:sp>
      <p:sp>
        <p:nvSpPr>
          <p:cNvPr id="18" name="Text 15"/>
          <p:cNvSpPr txBox="1"/>
          <p:nvPr/>
        </p:nvSpPr>
        <p:spPr>
          <a:xfrm>
            <a:off x="6598768" y="3566160"/>
            <a:ext cx="3657600" cy="256032"/>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Gõ vội trên điện thoại</a:t>
            </a:r>
            <a:endParaRPr lang="en-US" sz="1300" dirty="0"/>
          </a:p>
        </p:txBody>
      </p:sp>
      <p:sp>
        <p:nvSpPr>
          <p:cNvPr id="19" name="Text 16"/>
          <p:cNvSpPr txBox="1"/>
          <p:nvPr/>
        </p:nvSpPr>
        <p:spPr>
          <a:xfrm>
            <a:off x="6598768" y="3840480"/>
            <a:ext cx="4678528" cy="731520"/>
          </a:xfrm>
          <a:prstGeom prst="rect">
            <a:avLst/>
          </a:prstGeom>
          <a:noFill/>
          <a:ln/>
        </p:spPr>
        <p:txBody>
          <a:bodyPr wrap="square" lIns="0" tIns="0" rIns="0" bIns="0" rtlCol="0" anchor="t"/>
          <a:lstStyle/>
          <a:p>
            <a:pPr indent="0" marL="0">
              <a:buNone/>
            </a:pPr>
            <a:r>
              <a:rPr lang="en-US" sz="1700" dirty="0">
                <a:solidFill>
                  <a:srgbClr val="A8202B"/>
                </a:solidFill>
                <a:latin typeface="Consolas" pitchFamily="34" charset="0"/>
                <a:ea typeface="Consolas" pitchFamily="34" charset="-122"/>
                <a:cs typeface="Consolas" pitchFamily="34" charset="-120"/>
              </a:rPr>
              <a:t>di xe may khong doi mu bao hiem bi phat bao nhieu tien</a:t>
            </a:r>
            <a:endParaRPr lang="en-US" sz="1700" dirty="0"/>
          </a:p>
        </p:txBody>
      </p:sp>
      <p:sp>
        <p:nvSpPr>
          <p:cNvPr id="20" name="Text 17"/>
          <p:cNvSpPr txBox="1"/>
          <p:nvPr/>
        </p:nvSpPr>
        <p:spPr>
          <a:xfrm>
            <a:off x="6598768" y="4709160"/>
            <a:ext cx="4678528" cy="310896"/>
          </a:xfrm>
          <a:prstGeom prst="rect">
            <a:avLst/>
          </a:prstGeom>
          <a:noFill/>
          <a:ln/>
        </p:spPr>
        <p:txBody>
          <a:bodyPr wrap="square" lIns="0" tIns="0" rIns="0" bIns="0" rtlCol="0" anchor="ctr"/>
          <a:lstStyle/>
          <a:p>
            <a:pPr indent="0" marL="0">
              <a:buNone/>
            </a:pPr>
            <a:r>
              <a:rPr lang="en-US" sz="1500" b="1" dirty="0">
                <a:solidFill>
                  <a:srgbClr val="A8202B"/>
                </a:solidFill>
                <a:latin typeface="Calibri" pitchFamily="34" charset="0"/>
                <a:ea typeface="Calibri" pitchFamily="34" charset="-122"/>
                <a:cs typeface="Calibri" pitchFamily="34" charset="-120"/>
              </a:rPr>
              <a:t>Với máy, “phạt” và “phat” là hai chữ khác nhau</a:t>
            </a:r>
            <a:endParaRPr lang="en-US" sz="1500" dirty="0"/>
          </a:p>
        </p:txBody>
      </p:sp>
      <p:sp>
        <p:nvSpPr>
          <p:cNvPr id="21" name="Text 18"/>
          <p:cNvSpPr txBox="1"/>
          <p:nvPr/>
        </p:nvSpPr>
        <p:spPr>
          <a:xfrm>
            <a:off x="594360" y="5532120"/>
            <a:ext cx="11002975" cy="365760"/>
          </a:xfrm>
          <a:prstGeom prst="rect">
            <a:avLst/>
          </a:prstGeom>
          <a:noFill/>
          <a:ln/>
        </p:spPr>
        <p:txBody>
          <a:bodyPr wrap="square" lIns="0" tIns="0" rIns="0" bIns="0" rtlCol="0" anchor="ctr"/>
          <a:lstStyle/>
          <a:p>
            <a:pPr indent="0" marL="0">
              <a:buNone/>
            </a:pPr>
            <a:r>
              <a:rPr lang="en-US" sz="1500" dirty="0">
                <a:solidFill>
                  <a:srgbClr val="46545F"/>
                </a:solidFill>
                <a:latin typeface="Calibri" pitchFamily="34" charset="0"/>
                <a:ea typeface="Calibri" pitchFamily="34" charset="-122"/>
                <a:cs typeface="Calibri" pitchFamily="34" charset="-120"/>
              </a:rPr>
              <a:t>Đầu vào: một câu hỏi tự nhiên.   Đầu ra: điều luật xếp hạng trong 61.425 điều của 3.271 văn bản, kèm từ đã khớp.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NGHIÊN CỨU TRƯỚC  ·  03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Kết hợp từ khóa và ngữ nghĩa đã là công thức quen thuộc</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03 / 16</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94360" y="1737360"/>
          <a:ext cx="11002975" cy="914400"/>
        </p:xfrm>
        <a:graphic>
          <a:graphicData uri="http://schemas.openxmlformats.org/drawingml/2006/table">
            <a:tbl>
              <a:tblPr/>
              <a:tblGrid>
                <a:gridCol w="2743200"/>
                <a:gridCol w="5056632"/>
                <a:gridCol w="3200400"/>
              </a:tblGrid>
              <a:tr h="384048">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HƯỚNG</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CÔNG TRÌNH TIÊU BIỂU</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HỌ KẾT LUẬN</a:t>
                      </a:r>
                      <a:endParaRPr lang="en-US" sz="1100" dirty="0">
                        <a:latin typeface="Consolas" charset="0"/>
                        <a:ea typeface="Consolas" charset="0"/>
                        <a:cs typeface="Consolas"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Ghép BM25 với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Zalo AI 2021; Khang 2024; ViDRILL, VLSP 2025; Nguyen và Quan, EACL 2026</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Ghép tốt hơn từng tầng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Làm mạnh tầng ngữ nghĩa</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Pham 2022; Pham Tien 2024; Le 2025, UIT; ALQAC 2021-2023</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Không hỏi BM25 còn góp bao nhiêu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FFFFF"/>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Cách hợp nhất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Cormack 2009 (RRF); Bruch 2023, ACM TOIS</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Tổng trọng số hơn RRF khi chỉnh được</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Phục hồi dấu tiếng Việt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Pham, Pham, Le-Hong 2017; Le-Hong 2021</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c>
                  <a:txBody>
                    <a:bodyPr/>
                    <a:lstStyle/>
                    <a:p>
                      <a:pPr indent="0" marL="0">
                        <a:buNone/>
                      </a:pPr>
                      <a:r>
                        <a:rPr lang="en-US" sz="1500" b="1" dirty="0">
                          <a:solidFill>
                            <a:srgbClr val="A8202B"/>
                          </a:solidFill>
                          <a:latin typeface="Calibri" pitchFamily="34" charset="0"/>
                          <a:ea typeface="Calibri" pitchFamily="34" charset="-122"/>
                          <a:cs typeface="Calibri" pitchFamily="34" charset="-120"/>
                        </a:rPr>
                        <a:t>Khoảng 97%, chưa đo cho tìm luật</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8E9E9"/>
                    </a:solidFill>
                  </a:tcPr>
                </a:tc>
              </a:tr>
              <a:tr h="658368">
                <a:tc>
                  <a:txBody>
                    <a:bodyPr/>
                    <a:lstStyle/>
                    <a:p>
                      <a:pPr indent="0" marL="0">
                        <a:buNone/>
                      </a:pPr>
                      <a:r>
                        <a:rPr lang="en-US" sz="1500" b="1" dirty="0">
                          <a:solidFill>
                            <a:srgbClr val="16222C"/>
                          </a:solidFill>
                          <a:latin typeface="Calibri" pitchFamily="34" charset="0"/>
                          <a:ea typeface="Calibri" pitchFamily="34" charset="-122"/>
                          <a:cs typeface="Calibri" pitchFamily="34" charset="-120"/>
                        </a:rPr>
                        <a:t>Đánh giá mô hình nhúng</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300" dirty="0">
                          <a:solidFill>
                            <a:srgbClr val="46545F"/>
                          </a:solidFill>
                          <a:latin typeface="Calibri" pitchFamily="34" charset="0"/>
                          <a:ea typeface="Calibri" pitchFamily="34" charset="-122"/>
                          <a:cs typeface="Calibri" pitchFamily="34" charset="-120"/>
                        </a:rPr>
                        <a:t>MMTEB, ICLR 2025; Chung 2025</a:t>
                      </a:r>
                      <a:endParaRPr lang="en-US" sz="13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c>
                  <a:txBody>
                    <a:bodyPr/>
                    <a:lstStyle/>
                    <a:p>
                      <a:pPr indent="0" marL="0">
                        <a:buNone/>
                      </a:pPr>
                      <a:r>
                        <a:rPr lang="en-US" sz="1500" dirty="0">
                          <a:solidFill>
                            <a:srgbClr val="16222C"/>
                          </a:solidFill>
                          <a:latin typeface="Calibri" pitchFamily="34" charset="0"/>
                          <a:ea typeface="Calibri" pitchFamily="34" charset="-122"/>
                          <a:cs typeface="Calibri" pitchFamily="34" charset="-120"/>
                        </a:rPr>
                        <a:t>Phải đánh dấu mô hình đã học dữ liệu</a:t>
                      </a:r>
                      <a:endParaRPr lang="en-US" sz="1500" dirty="0">
                        <a:latin typeface="Calibri" charset="0"/>
                        <a:ea typeface="Calibri" charset="0"/>
                        <a:cs typeface="Calibri" charset="0"/>
                      </a:endParaRPr>
                    </a:p>
                  </a:txBody>
                  <a:tcPr marL="109728" marR="109728"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solidFill>
                      <a:srgbClr val="F3F5F2"/>
                    </a:solidFill>
                  </a:tcPr>
                </a:tc>
              </a:tr>
            </a:tbl>
          </a:graphicData>
        </a:graphic>
      </p:graphicFrame>
      <p:sp>
        <p:nvSpPr>
          <p:cNvPr id="8" name="Text 4"/>
          <p:cNvSpPr txBox="1"/>
          <p:nvPr/>
        </p:nvSpPr>
        <p:spPr>
          <a:xfrm>
            <a:off x="594360" y="5532120"/>
            <a:ext cx="11002975" cy="320040"/>
          </a:xfrm>
          <a:prstGeom prst="rect">
            <a:avLst/>
          </a:prstGeom>
          <a:noFill/>
          <a:ln/>
        </p:spPr>
        <p:txBody>
          <a:bodyPr wrap="square" lIns="0" tIns="0" rIns="0" bIns="0" rtlCol="0" anchor="ctr"/>
          <a:lstStyle/>
          <a:p>
            <a:pPr indent="0" marL="0">
              <a:buNone/>
            </a:pPr>
            <a:r>
              <a:rPr lang="en-US" sz="1300" i="1" dirty="0">
                <a:solidFill>
                  <a:srgbClr val="77858E"/>
                </a:solidFill>
                <a:latin typeface="Calibri" pitchFamily="34" charset="0"/>
                <a:ea typeface="Calibri" pitchFamily="34" charset="-122"/>
                <a:cs typeface="Calibri" pitchFamily="34" charset="-120"/>
              </a:rPr>
              <a:t>Nhóm đối chiếu 27 nguồn theo tóm tắt, mã nguồn và model card. Danh sách ở slide 16.</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CÂU HỎI NGHIÊN CỨU  ·  04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Chưa ai đo hệ tìm luật chịu được câu mất dấu tới đâu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04 / 16</a:t>
            </a:r>
            <a:endParaRPr lang="en-US" sz="1000" dirty="0"/>
          </a:p>
        </p:txBody>
      </p:sp>
      <p:sp>
        <p:nvSpPr>
          <p:cNvPr id="7" name="Text 4"/>
          <p:cNvSpPr txBox="1"/>
          <p:nvPr/>
        </p:nvSpPr>
        <p:spPr>
          <a:xfrm>
            <a:off x="2286000" y="1764792"/>
            <a:ext cx="2606040" cy="292608"/>
          </a:xfrm>
          <a:prstGeom prst="rect">
            <a:avLst/>
          </a:prstGeom>
          <a:noFill/>
          <a:ln/>
        </p:spPr>
        <p:txBody>
          <a:bodyPr wrap="square" lIns="0" tIns="0" rIns="0" bIns="0" rtlCol="0" anchor="ctr"/>
          <a:lstStyle/>
          <a:p>
            <a:pPr algn="ctr" indent="0" marL="0">
              <a:buNone/>
            </a:pPr>
            <a:r>
              <a:rPr lang="en-US" sz="1400" b="1" dirty="0">
                <a:solidFill>
                  <a:srgbClr val="46545F"/>
                </a:solidFill>
                <a:latin typeface="Calibri" pitchFamily="34" charset="0"/>
                <a:ea typeface="Calibri" pitchFamily="34" charset="-122"/>
                <a:cs typeface="Calibri" pitchFamily="34" charset="-120"/>
              </a:rPr>
              <a:t>Câu hỏi có dấu</a:t>
            </a:r>
            <a:endParaRPr lang="en-US" sz="1400" dirty="0"/>
          </a:p>
        </p:txBody>
      </p:sp>
      <p:sp>
        <p:nvSpPr>
          <p:cNvPr id="8" name="Text 5"/>
          <p:cNvSpPr txBox="1"/>
          <p:nvPr/>
        </p:nvSpPr>
        <p:spPr>
          <a:xfrm>
            <a:off x="5001768" y="1764792"/>
            <a:ext cx="2606040" cy="292608"/>
          </a:xfrm>
          <a:prstGeom prst="rect">
            <a:avLst/>
          </a:prstGeom>
          <a:noFill/>
          <a:ln/>
        </p:spPr>
        <p:txBody>
          <a:bodyPr wrap="square" lIns="0" tIns="0" rIns="0" bIns="0" rtlCol="0" anchor="ctr"/>
          <a:lstStyle/>
          <a:p>
            <a:pPr algn="ctr" indent="0" marL="0">
              <a:buNone/>
            </a:pPr>
            <a:r>
              <a:rPr lang="en-US" sz="1400" b="1" dirty="0">
                <a:solidFill>
                  <a:srgbClr val="46545F"/>
                </a:solidFill>
                <a:latin typeface="Calibri" pitchFamily="34" charset="0"/>
                <a:ea typeface="Calibri" pitchFamily="34" charset="-122"/>
                <a:cs typeface="Calibri" pitchFamily="34" charset="-120"/>
              </a:rPr>
              <a:t>Câu hỏi không dấu</a:t>
            </a:r>
            <a:endParaRPr lang="en-US" sz="1400" dirty="0"/>
          </a:p>
        </p:txBody>
      </p:sp>
      <p:sp>
        <p:nvSpPr>
          <p:cNvPr id="9" name="Text 6"/>
          <p:cNvSpPr txBox="1"/>
          <p:nvPr/>
        </p:nvSpPr>
        <p:spPr>
          <a:xfrm>
            <a:off x="594360" y="2148840"/>
            <a:ext cx="1554480" cy="1463040"/>
          </a:xfrm>
          <a:prstGeom prst="rect">
            <a:avLst/>
          </a:prstGeom>
          <a:noFill/>
          <a:ln/>
        </p:spPr>
        <p:txBody>
          <a:bodyPr wrap="square" lIns="0" tIns="0" rIns="0" bIns="0" rtlCol="0" anchor="ctr"/>
          <a:lstStyle/>
          <a:p>
            <a:pPr indent="0" marL="0">
              <a:buNone/>
            </a:pPr>
            <a:r>
              <a:rPr lang="en-US" sz="1400" b="1" dirty="0">
                <a:solidFill>
                  <a:srgbClr val="46545F"/>
                </a:solidFill>
                <a:latin typeface="Calibri" pitchFamily="34" charset="0"/>
                <a:ea typeface="Calibri" pitchFamily="34" charset="-122"/>
                <a:cs typeface="Calibri" pitchFamily="34" charset="-120"/>
              </a:rPr>
              <a:t>Đo tìm luật</a:t>
            </a:r>
            <a:endParaRPr lang="en-US" sz="1400" dirty="0"/>
          </a:p>
        </p:txBody>
      </p:sp>
      <p:sp>
        <p:nvSpPr>
          <p:cNvPr id="10" name="Text 7"/>
          <p:cNvSpPr txBox="1"/>
          <p:nvPr/>
        </p:nvSpPr>
        <p:spPr>
          <a:xfrm>
            <a:off x="594360" y="3721608"/>
            <a:ext cx="1554480" cy="1463040"/>
          </a:xfrm>
          <a:prstGeom prst="rect">
            <a:avLst/>
          </a:prstGeom>
          <a:noFill/>
          <a:ln/>
        </p:spPr>
        <p:txBody>
          <a:bodyPr wrap="square" lIns="0" tIns="0" rIns="0" bIns="0" rtlCol="0" anchor="ctr"/>
          <a:lstStyle/>
          <a:p>
            <a:pPr indent="0" marL="0">
              <a:buNone/>
            </a:pPr>
            <a:r>
              <a:rPr lang="en-US" sz="1400" b="1" dirty="0">
                <a:solidFill>
                  <a:srgbClr val="46545F"/>
                </a:solidFill>
                <a:latin typeface="Calibri" pitchFamily="34" charset="0"/>
                <a:ea typeface="Calibri" pitchFamily="34" charset="-122"/>
                <a:cs typeface="Calibri" pitchFamily="34" charset="-120"/>
              </a:rPr>
              <a:t>Đo phục hồi dấu</a:t>
            </a:r>
            <a:endParaRPr lang="en-US" sz="1400" dirty="0"/>
          </a:p>
        </p:txBody>
      </p:sp>
      <p:sp>
        <p:nvSpPr>
          <p:cNvPr id="11" name="Shape 8"/>
          <p:cNvSpPr/>
          <p:nvPr/>
        </p:nvSpPr>
        <p:spPr>
          <a:xfrm>
            <a:off x="2286000" y="2148840"/>
            <a:ext cx="2606040" cy="1463040"/>
          </a:xfrm>
          <a:prstGeom prst="rect">
            <a:avLst/>
          </a:prstGeom>
          <a:solidFill>
            <a:srgbClr val="E5EEF5"/>
          </a:solidFill>
          <a:ln/>
        </p:spPr>
      </p:sp>
      <p:sp>
        <p:nvSpPr>
          <p:cNvPr id="12" name="Text 9"/>
          <p:cNvSpPr txBox="1"/>
          <p:nvPr/>
        </p:nvSpPr>
        <p:spPr>
          <a:xfrm>
            <a:off x="2468880" y="2496312"/>
            <a:ext cx="2240280" cy="411480"/>
          </a:xfrm>
          <a:prstGeom prst="rect">
            <a:avLst/>
          </a:prstGeom>
          <a:noFill/>
          <a:ln/>
        </p:spPr>
        <p:txBody>
          <a:bodyPr wrap="square" lIns="0" tIns="0" rIns="0" bIns="0" rtlCol="0" anchor="ctr"/>
          <a:lstStyle/>
          <a:p>
            <a:pPr algn="ctr" indent="0" marL="0">
              <a:buNone/>
            </a:pPr>
            <a:r>
              <a:rPr lang="en-US" sz="1800" b="1" dirty="0">
                <a:solidFill>
                  <a:srgbClr val="2C5F8A"/>
                </a:solidFill>
                <a:latin typeface="Cambria" pitchFamily="34" charset="0"/>
                <a:ea typeface="Cambria" pitchFamily="34" charset="-122"/>
                <a:cs typeface="Cambria" pitchFamily="34" charset="-120"/>
              </a:rPr>
              <a:t>Đã làm nhiều</a:t>
            </a:r>
            <a:endParaRPr lang="en-US" sz="1800" dirty="0"/>
          </a:p>
        </p:txBody>
      </p:sp>
      <p:sp>
        <p:nvSpPr>
          <p:cNvPr id="13" name="Text 10"/>
          <p:cNvSpPr txBox="1"/>
          <p:nvPr/>
        </p:nvSpPr>
        <p:spPr>
          <a:xfrm>
            <a:off x="2468880" y="2990088"/>
            <a:ext cx="2240280" cy="320040"/>
          </a:xfrm>
          <a:prstGeom prst="rect">
            <a:avLst/>
          </a:prstGeom>
          <a:noFill/>
          <a:ln/>
        </p:spPr>
        <p:txBody>
          <a:bodyPr wrap="square" lIns="0" tIns="0" rIns="0" bIns="0" rtlCol="0" anchor="ctr"/>
          <a:lstStyle/>
          <a:p>
            <a:pPr algn="ctr" indent="0" marL="0">
              <a:buNone/>
            </a:pPr>
            <a:r>
              <a:rPr lang="en-US" sz="1300" dirty="0">
                <a:solidFill>
                  <a:srgbClr val="46545F"/>
                </a:solidFill>
                <a:latin typeface="Calibri" pitchFamily="34" charset="0"/>
                <a:ea typeface="Calibri" pitchFamily="34" charset="-122"/>
                <a:cs typeface="Calibri" pitchFamily="34" charset="-120"/>
              </a:rPr>
              <a:t>Zalo 2021, ALQAC, EACL 2026</a:t>
            </a:r>
            <a:endParaRPr lang="en-US" sz="1300" dirty="0"/>
          </a:p>
        </p:txBody>
      </p:sp>
      <p:sp>
        <p:nvSpPr>
          <p:cNvPr id="14" name="Shape 11"/>
          <p:cNvSpPr/>
          <p:nvPr/>
        </p:nvSpPr>
        <p:spPr>
          <a:xfrm>
            <a:off x="5001768" y="2148840"/>
            <a:ext cx="2606040" cy="1463040"/>
          </a:xfrm>
          <a:prstGeom prst="rect">
            <a:avLst/>
          </a:prstGeom>
          <a:solidFill>
            <a:srgbClr val="FFFFFF"/>
          </a:solidFill>
          <a:ln w="15875">
            <a:solidFill>
              <a:srgbClr val="A8202B"/>
            </a:solidFill>
            <a:prstDash val="dash"/>
          </a:ln>
        </p:spPr>
      </p:sp>
      <p:sp>
        <p:nvSpPr>
          <p:cNvPr id="15" name="Text 12"/>
          <p:cNvSpPr txBox="1"/>
          <p:nvPr/>
        </p:nvSpPr>
        <p:spPr>
          <a:xfrm>
            <a:off x="5184648" y="2496312"/>
            <a:ext cx="2240280" cy="411480"/>
          </a:xfrm>
          <a:prstGeom prst="rect">
            <a:avLst/>
          </a:prstGeom>
          <a:noFill/>
          <a:ln/>
        </p:spPr>
        <p:txBody>
          <a:bodyPr wrap="square" lIns="0" tIns="0" rIns="0" bIns="0" rtlCol="0" anchor="ctr"/>
          <a:lstStyle/>
          <a:p>
            <a:pPr algn="ctr" indent="0" marL="0">
              <a:buNone/>
            </a:pPr>
            <a:r>
              <a:rPr lang="en-US" sz="2400" b="1" dirty="0">
                <a:solidFill>
                  <a:srgbClr val="A8202B"/>
                </a:solidFill>
                <a:latin typeface="Cambria" pitchFamily="34" charset="0"/>
                <a:ea typeface="Cambria" pitchFamily="34" charset="-122"/>
                <a:cs typeface="Cambria" pitchFamily="34" charset="-120"/>
              </a:rPr>
              <a:t>Chưa ai đo</a:t>
            </a:r>
            <a:endParaRPr lang="en-US" sz="2400" dirty="0"/>
          </a:p>
        </p:txBody>
      </p:sp>
      <p:sp>
        <p:nvSpPr>
          <p:cNvPr id="16" name="Text 13"/>
          <p:cNvSpPr txBox="1"/>
          <p:nvPr/>
        </p:nvSpPr>
        <p:spPr>
          <a:xfrm>
            <a:off x="5184648" y="2990088"/>
            <a:ext cx="2240280" cy="320040"/>
          </a:xfrm>
          <a:prstGeom prst="rect">
            <a:avLst/>
          </a:prstGeom>
          <a:noFill/>
          <a:ln/>
        </p:spPr>
        <p:txBody>
          <a:bodyPr wrap="square" lIns="0" tIns="0" rIns="0" bIns="0" rtlCol="0" anchor="ctr"/>
          <a:lstStyle/>
          <a:p>
            <a:pPr algn="ctr" indent="0" marL="0">
              <a:buNone/>
            </a:pPr>
            <a:r>
              <a:rPr lang="en-US" sz="1300" dirty="0">
                <a:solidFill>
                  <a:srgbClr val="46545F"/>
                </a:solidFill>
                <a:latin typeface="Calibri" pitchFamily="34" charset="0"/>
                <a:ea typeface="Calibri" pitchFamily="34" charset="-122"/>
                <a:cs typeface="Calibri" pitchFamily="34" charset="-120"/>
              </a:rPr>
              <a:t>câu hỏi nghiên cứu 2</a:t>
            </a:r>
            <a:endParaRPr lang="en-US" sz="1300" dirty="0"/>
          </a:p>
        </p:txBody>
      </p:sp>
      <p:sp>
        <p:nvSpPr>
          <p:cNvPr id="17" name="Shape 14"/>
          <p:cNvSpPr/>
          <p:nvPr/>
        </p:nvSpPr>
        <p:spPr>
          <a:xfrm>
            <a:off x="2286000" y="3721608"/>
            <a:ext cx="2606040" cy="1463040"/>
          </a:xfrm>
          <a:prstGeom prst="rect">
            <a:avLst/>
          </a:prstGeom>
          <a:solidFill>
            <a:srgbClr val="F3F5F2"/>
          </a:solidFill>
          <a:ln/>
        </p:spPr>
      </p:sp>
      <p:sp>
        <p:nvSpPr>
          <p:cNvPr id="18" name="Text 15"/>
          <p:cNvSpPr txBox="1"/>
          <p:nvPr/>
        </p:nvSpPr>
        <p:spPr>
          <a:xfrm>
            <a:off x="2468880" y="4069080"/>
            <a:ext cx="2240280" cy="411480"/>
          </a:xfrm>
          <a:prstGeom prst="rect">
            <a:avLst/>
          </a:prstGeom>
          <a:noFill/>
          <a:ln/>
        </p:spPr>
        <p:txBody>
          <a:bodyPr wrap="square" lIns="0" tIns="0" rIns="0" bIns="0" rtlCol="0" anchor="ctr"/>
          <a:lstStyle/>
          <a:p>
            <a:pPr algn="ctr" indent="0" marL="0">
              <a:buNone/>
            </a:pPr>
            <a:r>
              <a:rPr lang="en-US" sz="1800" b="1" dirty="0">
                <a:solidFill>
                  <a:srgbClr val="77858E"/>
                </a:solidFill>
                <a:latin typeface="Cambria" pitchFamily="34" charset="0"/>
                <a:ea typeface="Cambria" pitchFamily="34" charset="-122"/>
                <a:cs typeface="Cambria" pitchFamily="34" charset="-120"/>
              </a:rPr>
              <a:t>Không áp dụng</a:t>
            </a:r>
            <a:endParaRPr lang="en-US" sz="1800" dirty="0"/>
          </a:p>
        </p:txBody>
      </p:sp>
      <p:sp>
        <p:nvSpPr>
          <p:cNvPr id="19" name="Text 16"/>
          <p:cNvSpPr txBox="1"/>
          <p:nvPr/>
        </p:nvSpPr>
        <p:spPr>
          <a:xfrm>
            <a:off x="2468880" y="4562856"/>
            <a:ext cx="2240280" cy="320040"/>
          </a:xfrm>
          <a:prstGeom prst="rect">
            <a:avLst/>
          </a:prstGeom>
          <a:noFill/>
          <a:ln/>
        </p:spPr>
        <p:txBody>
          <a:bodyPr wrap="square" lIns="0" tIns="0" rIns="0" bIns="0" rtlCol="0" anchor="ctr"/>
          <a:lstStyle/>
          <a:p>
            <a:pPr algn="ctr" indent="0" marL="0">
              <a:buNone/>
            </a:pPr>
            <a:endParaRPr lang="en-US" sz="1300" dirty="0"/>
          </a:p>
        </p:txBody>
      </p:sp>
      <p:sp>
        <p:nvSpPr>
          <p:cNvPr id="20" name="Shape 17"/>
          <p:cNvSpPr/>
          <p:nvPr/>
        </p:nvSpPr>
        <p:spPr>
          <a:xfrm>
            <a:off x="5001768" y="3721608"/>
            <a:ext cx="2606040" cy="1463040"/>
          </a:xfrm>
          <a:prstGeom prst="rect">
            <a:avLst/>
          </a:prstGeom>
          <a:solidFill>
            <a:srgbClr val="E5EEF5"/>
          </a:solidFill>
          <a:ln/>
        </p:spPr>
      </p:sp>
      <p:sp>
        <p:nvSpPr>
          <p:cNvPr id="21" name="Text 18"/>
          <p:cNvSpPr txBox="1"/>
          <p:nvPr/>
        </p:nvSpPr>
        <p:spPr>
          <a:xfrm>
            <a:off x="5184648" y="4069080"/>
            <a:ext cx="2240280" cy="411480"/>
          </a:xfrm>
          <a:prstGeom prst="rect">
            <a:avLst/>
          </a:prstGeom>
          <a:noFill/>
          <a:ln/>
        </p:spPr>
        <p:txBody>
          <a:bodyPr wrap="square" lIns="0" tIns="0" rIns="0" bIns="0" rtlCol="0" anchor="ctr"/>
          <a:lstStyle/>
          <a:p>
            <a:pPr algn="ctr" indent="0" marL="0">
              <a:buNone/>
            </a:pPr>
            <a:r>
              <a:rPr lang="en-US" sz="1800" b="1" dirty="0">
                <a:solidFill>
                  <a:srgbClr val="2C5F8A"/>
                </a:solidFill>
                <a:latin typeface="Cambria" pitchFamily="34" charset="0"/>
                <a:ea typeface="Cambria" pitchFamily="34" charset="-122"/>
                <a:cs typeface="Cambria" pitchFamily="34" charset="-120"/>
              </a:rPr>
              <a:t>Đã làm, khoảng 97%</a:t>
            </a:r>
            <a:endParaRPr lang="en-US" sz="1800" dirty="0"/>
          </a:p>
        </p:txBody>
      </p:sp>
      <p:sp>
        <p:nvSpPr>
          <p:cNvPr id="22" name="Text 19"/>
          <p:cNvSpPr txBox="1"/>
          <p:nvPr/>
        </p:nvSpPr>
        <p:spPr>
          <a:xfrm>
            <a:off x="5184648" y="4562856"/>
            <a:ext cx="2240280" cy="320040"/>
          </a:xfrm>
          <a:prstGeom prst="rect">
            <a:avLst/>
          </a:prstGeom>
          <a:noFill/>
          <a:ln/>
        </p:spPr>
        <p:txBody>
          <a:bodyPr wrap="square" lIns="0" tIns="0" rIns="0" bIns="0" rtlCol="0" anchor="ctr"/>
          <a:lstStyle/>
          <a:p>
            <a:pPr algn="ctr" indent="0" marL="0">
              <a:buNone/>
            </a:pPr>
            <a:r>
              <a:rPr lang="en-US" sz="1300" dirty="0">
                <a:solidFill>
                  <a:srgbClr val="46545F"/>
                </a:solidFill>
                <a:latin typeface="Calibri" pitchFamily="34" charset="0"/>
                <a:ea typeface="Calibri" pitchFamily="34" charset="-122"/>
                <a:cs typeface="Calibri" pitchFamily="34" charset="-120"/>
              </a:rPr>
              <a:t>Pham 2017, Le-Hong 2021</a:t>
            </a:r>
            <a:endParaRPr lang="en-US" sz="1300" dirty="0"/>
          </a:p>
        </p:txBody>
      </p:sp>
      <p:sp>
        <p:nvSpPr>
          <p:cNvPr id="23" name="Shape 20"/>
          <p:cNvSpPr/>
          <p:nvPr/>
        </p:nvSpPr>
        <p:spPr>
          <a:xfrm>
            <a:off x="7818120" y="1783080"/>
            <a:ext cx="3779215" cy="1600200"/>
          </a:xfrm>
          <a:prstGeom prst="rect">
            <a:avLst/>
          </a:prstGeom>
          <a:solidFill>
            <a:srgbClr val="F3F5F2"/>
          </a:solidFill>
          <a:ln/>
        </p:spPr>
      </p:sp>
      <p:sp>
        <p:nvSpPr>
          <p:cNvPr id="24" name="Text 21"/>
          <p:cNvSpPr txBox="1"/>
          <p:nvPr/>
        </p:nvSpPr>
        <p:spPr>
          <a:xfrm>
            <a:off x="8092440" y="1938528"/>
            <a:ext cx="914400" cy="274320"/>
          </a:xfrm>
          <a:prstGeom prst="rect">
            <a:avLst/>
          </a:prstGeom>
          <a:noFill/>
          <a:ln/>
        </p:spPr>
        <p:txBody>
          <a:bodyPr wrap="square" lIns="0" tIns="0" rIns="0" bIns="0" rtlCol="0" anchor="ctr"/>
          <a:lstStyle/>
          <a:p>
            <a:pPr indent="0" marL="0">
              <a:buNone/>
            </a:pPr>
            <a:r>
              <a:rPr lang="en-US" sz="1300" b="1" dirty="0">
                <a:solidFill>
                  <a:srgbClr val="2C5F8A"/>
                </a:solidFill>
                <a:latin typeface="Consolas" pitchFamily="34" charset="0"/>
                <a:ea typeface="Consolas" pitchFamily="34" charset="-122"/>
                <a:cs typeface="Consolas" pitchFamily="34" charset="-120"/>
              </a:rPr>
              <a:t>CH1</a:t>
            </a:r>
            <a:endParaRPr lang="en-US" sz="1300" dirty="0"/>
          </a:p>
        </p:txBody>
      </p:sp>
      <p:sp>
        <p:nvSpPr>
          <p:cNvPr id="25" name="Text 22"/>
          <p:cNvSpPr txBox="1"/>
          <p:nvPr/>
        </p:nvSpPr>
        <p:spPr>
          <a:xfrm>
            <a:off x="8092440" y="2267712"/>
            <a:ext cx="3230575" cy="1005840"/>
          </a:xfrm>
          <a:prstGeom prst="rect">
            <a:avLst/>
          </a:prstGeom>
          <a:noFill/>
          <a:ln/>
        </p:spPr>
        <p:txBody>
          <a:bodyPr wrap="square" lIns="0" tIns="0" rIns="0" bIns="0" rtlCol="0" anchor="t"/>
          <a:lstStyle/>
          <a:p>
            <a:pPr indent="0" marL="0">
              <a:buNone/>
            </a:pPr>
            <a:r>
              <a:rPr lang="en-US" sz="1600" dirty="0">
                <a:solidFill>
                  <a:srgbClr val="16222C"/>
                </a:solidFill>
                <a:latin typeface="Calibri" pitchFamily="34" charset="0"/>
                <a:ea typeface="Calibri" pitchFamily="34" charset="-122"/>
                <a:cs typeface="Calibri" pitchFamily="34" charset="-120"/>
              </a:rPr>
              <a:t>Trên dữ liệu đã kiểm toán, với mô hình chưa thấy dữ liệu, ghép thêm BM25 còn giúp bao nhiêu?</a:t>
            </a:r>
            <a:endParaRPr lang="en-US" sz="1600" dirty="0"/>
          </a:p>
        </p:txBody>
      </p:sp>
      <p:sp>
        <p:nvSpPr>
          <p:cNvPr id="26" name="Shape 23"/>
          <p:cNvSpPr/>
          <p:nvPr/>
        </p:nvSpPr>
        <p:spPr>
          <a:xfrm>
            <a:off x="7818120" y="3566160"/>
            <a:ext cx="3779215" cy="1783080"/>
          </a:xfrm>
          <a:prstGeom prst="rect">
            <a:avLst/>
          </a:prstGeom>
          <a:solidFill>
            <a:srgbClr val="F8E9E9"/>
          </a:solidFill>
          <a:ln/>
        </p:spPr>
      </p:sp>
      <p:sp>
        <p:nvSpPr>
          <p:cNvPr id="27" name="Text 24"/>
          <p:cNvSpPr txBox="1"/>
          <p:nvPr/>
        </p:nvSpPr>
        <p:spPr>
          <a:xfrm>
            <a:off x="8092440" y="3721608"/>
            <a:ext cx="914400" cy="274320"/>
          </a:xfrm>
          <a:prstGeom prst="rect">
            <a:avLst/>
          </a:prstGeom>
          <a:noFill/>
          <a:ln/>
        </p:spPr>
        <p:txBody>
          <a:bodyPr wrap="square" lIns="0" tIns="0" rIns="0" bIns="0" rtlCol="0" anchor="ctr"/>
          <a:lstStyle/>
          <a:p>
            <a:pPr indent="0" marL="0">
              <a:buNone/>
            </a:pPr>
            <a:r>
              <a:rPr lang="en-US" sz="1300" b="1" dirty="0">
                <a:solidFill>
                  <a:srgbClr val="A8202B"/>
                </a:solidFill>
                <a:latin typeface="Consolas" pitchFamily="34" charset="0"/>
                <a:ea typeface="Consolas" pitchFamily="34" charset="-122"/>
                <a:cs typeface="Consolas" pitchFamily="34" charset="-120"/>
              </a:rPr>
              <a:t>CH2</a:t>
            </a:r>
            <a:endParaRPr lang="en-US" sz="1300" dirty="0"/>
          </a:p>
        </p:txBody>
      </p:sp>
      <p:sp>
        <p:nvSpPr>
          <p:cNvPr id="28" name="Text 25"/>
          <p:cNvSpPr txBox="1"/>
          <p:nvPr/>
        </p:nvSpPr>
        <p:spPr>
          <a:xfrm>
            <a:off x="8092440" y="4050792"/>
            <a:ext cx="3230575" cy="1188720"/>
          </a:xfrm>
          <a:prstGeom prst="rect">
            <a:avLst/>
          </a:prstGeom>
          <a:noFill/>
          <a:ln/>
        </p:spPr>
        <p:txBody>
          <a:bodyPr wrap="square" lIns="0" tIns="0" rIns="0" bIns="0" rtlCol="0" anchor="t"/>
          <a:lstStyle/>
          <a:p>
            <a:pPr indent="0" marL="0">
              <a:buNone/>
            </a:pPr>
            <a:r>
              <a:rPr lang="en-US" sz="1600" b="1" dirty="0">
                <a:solidFill>
                  <a:srgbClr val="16222C"/>
                </a:solidFill>
                <a:latin typeface="Calibri" pitchFamily="34" charset="0"/>
                <a:ea typeface="Calibri" pitchFamily="34" charset="-122"/>
                <a:cs typeface="Calibri" pitchFamily="34" charset="-120"/>
              </a:rPr>
              <a:t>Khi người dùng gõ không dấu, hệ còn đứng vững không, và cách sửa rẻ nhất là gì?</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DỮ LIỆU  ·  05</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Bộ Zalo 2021 đã công bố vẫn còn 6 vấn đề khi kiểm toán lại</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05 / 16</a:t>
            </a:r>
            <a:endParaRPr lang="en-US" sz="1000" dirty="0"/>
          </a:p>
        </p:txBody>
      </p:sp>
      <p:sp>
        <p:nvSpPr>
          <p:cNvPr id="7" name="Text 4"/>
          <p:cNvSpPr txBox="1"/>
          <p:nvPr/>
        </p:nvSpPr>
        <p:spPr>
          <a:xfrm>
            <a:off x="594360" y="1783080"/>
            <a:ext cx="2377440" cy="548640"/>
          </a:xfrm>
          <a:prstGeom prst="rect">
            <a:avLst/>
          </a:prstGeom>
          <a:noFill/>
          <a:ln/>
        </p:spPr>
        <p:txBody>
          <a:bodyPr wrap="square" lIns="0" tIns="0" rIns="0" bIns="0" rtlCol="0" anchor="ctr"/>
          <a:lstStyle/>
          <a:p>
            <a:pPr indent="0" marL="0">
              <a:buNone/>
            </a:pPr>
            <a:r>
              <a:rPr lang="en-US" sz="3200" b="1" dirty="0">
                <a:solidFill>
                  <a:srgbClr val="16222C"/>
                </a:solidFill>
                <a:latin typeface="Cambria" pitchFamily="34" charset="0"/>
                <a:ea typeface="Cambria" pitchFamily="34" charset="-122"/>
                <a:cs typeface="Cambria" pitchFamily="34" charset="-120"/>
              </a:rPr>
              <a:t>61.425</a:t>
            </a:r>
            <a:endParaRPr lang="en-US" sz="3200" dirty="0"/>
          </a:p>
        </p:txBody>
      </p:sp>
      <p:sp>
        <p:nvSpPr>
          <p:cNvPr id="8" name="Text 5"/>
          <p:cNvSpPr txBox="1"/>
          <p:nvPr/>
        </p:nvSpPr>
        <p:spPr>
          <a:xfrm>
            <a:off x="594360" y="2313432"/>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điều luật</a:t>
            </a:r>
            <a:endParaRPr lang="en-US" sz="1300" dirty="0"/>
          </a:p>
        </p:txBody>
      </p:sp>
      <p:sp>
        <p:nvSpPr>
          <p:cNvPr id="9" name="Text 6"/>
          <p:cNvSpPr txBox="1"/>
          <p:nvPr/>
        </p:nvSpPr>
        <p:spPr>
          <a:xfrm>
            <a:off x="594360" y="2715768"/>
            <a:ext cx="2377440" cy="548640"/>
          </a:xfrm>
          <a:prstGeom prst="rect">
            <a:avLst/>
          </a:prstGeom>
          <a:noFill/>
          <a:ln/>
        </p:spPr>
        <p:txBody>
          <a:bodyPr wrap="square" lIns="0" tIns="0" rIns="0" bIns="0" rtlCol="0" anchor="ctr"/>
          <a:lstStyle/>
          <a:p>
            <a:pPr indent="0" marL="0">
              <a:buNone/>
            </a:pPr>
            <a:r>
              <a:rPr lang="en-US" sz="3200" b="1" dirty="0">
                <a:solidFill>
                  <a:srgbClr val="16222C"/>
                </a:solidFill>
                <a:latin typeface="Cambria" pitchFamily="34" charset="0"/>
                <a:ea typeface="Cambria" pitchFamily="34" charset="-122"/>
                <a:cs typeface="Cambria" pitchFamily="34" charset="-120"/>
              </a:rPr>
              <a:t>3.271</a:t>
            </a:r>
            <a:endParaRPr lang="en-US" sz="3200" dirty="0"/>
          </a:p>
        </p:txBody>
      </p:sp>
      <p:sp>
        <p:nvSpPr>
          <p:cNvPr id="10" name="Text 7"/>
          <p:cNvSpPr txBox="1"/>
          <p:nvPr/>
        </p:nvSpPr>
        <p:spPr>
          <a:xfrm>
            <a:off x="594360" y="3246120"/>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văn bản</a:t>
            </a:r>
            <a:endParaRPr lang="en-US" sz="1300" dirty="0"/>
          </a:p>
        </p:txBody>
      </p:sp>
      <p:sp>
        <p:nvSpPr>
          <p:cNvPr id="11" name="Text 8"/>
          <p:cNvSpPr txBox="1"/>
          <p:nvPr/>
        </p:nvSpPr>
        <p:spPr>
          <a:xfrm>
            <a:off x="594360" y="3648456"/>
            <a:ext cx="2377440" cy="548640"/>
          </a:xfrm>
          <a:prstGeom prst="rect">
            <a:avLst/>
          </a:prstGeom>
          <a:noFill/>
          <a:ln/>
        </p:spPr>
        <p:txBody>
          <a:bodyPr wrap="square" lIns="0" tIns="0" rIns="0" bIns="0" rtlCol="0" anchor="ctr"/>
          <a:lstStyle/>
          <a:p>
            <a:pPr indent="0" marL="0">
              <a:buNone/>
            </a:pPr>
            <a:r>
              <a:rPr lang="en-US" sz="3200" b="1" dirty="0">
                <a:solidFill>
                  <a:srgbClr val="16222C"/>
                </a:solidFill>
                <a:latin typeface="Cambria" pitchFamily="34" charset="0"/>
                <a:ea typeface="Cambria" pitchFamily="34" charset="-122"/>
                <a:cs typeface="Cambria" pitchFamily="34" charset="-120"/>
              </a:rPr>
              <a:t>3.196</a:t>
            </a:r>
            <a:endParaRPr lang="en-US" sz="3200" dirty="0"/>
          </a:p>
        </p:txBody>
      </p:sp>
      <p:sp>
        <p:nvSpPr>
          <p:cNvPr id="12" name="Text 9"/>
          <p:cNvSpPr txBox="1"/>
          <p:nvPr/>
        </p:nvSpPr>
        <p:spPr>
          <a:xfrm>
            <a:off x="594360" y="4178808"/>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câu hỏi</a:t>
            </a:r>
            <a:endParaRPr lang="en-US" sz="1300" dirty="0"/>
          </a:p>
        </p:txBody>
      </p:sp>
      <p:sp>
        <p:nvSpPr>
          <p:cNvPr id="13" name="Text 10"/>
          <p:cNvSpPr txBox="1"/>
          <p:nvPr/>
        </p:nvSpPr>
        <p:spPr>
          <a:xfrm>
            <a:off x="594360" y="4581144"/>
            <a:ext cx="2377440" cy="548640"/>
          </a:xfrm>
          <a:prstGeom prst="rect">
            <a:avLst/>
          </a:prstGeom>
          <a:noFill/>
          <a:ln/>
        </p:spPr>
        <p:txBody>
          <a:bodyPr wrap="square" lIns="0" tIns="0" rIns="0" bIns="0" rtlCol="0" anchor="ctr"/>
          <a:lstStyle/>
          <a:p>
            <a:pPr indent="0" marL="0">
              <a:buNone/>
            </a:pPr>
            <a:r>
              <a:rPr lang="en-US" sz="3200" b="1" dirty="0">
                <a:solidFill>
                  <a:srgbClr val="A8202B"/>
                </a:solidFill>
                <a:latin typeface="Cambria" pitchFamily="34" charset="0"/>
                <a:ea typeface="Cambria" pitchFamily="34" charset="-122"/>
                <a:cs typeface="Cambria" pitchFamily="34" charset="-120"/>
              </a:rPr>
              <a:t>0</a:t>
            </a:r>
            <a:endParaRPr lang="en-US" sz="3200" dirty="0"/>
          </a:p>
        </p:txBody>
      </p:sp>
      <p:sp>
        <p:nvSpPr>
          <p:cNvPr id="14" name="Text 11"/>
          <p:cNvSpPr txBox="1"/>
          <p:nvPr/>
        </p:nvSpPr>
        <p:spPr>
          <a:xfrm>
            <a:off x="594360" y="5111496"/>
            <a:ext cx="2651760" cy="274320"/>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tập val trong bộ gốc</a:t>
            </a:r>
            <a:endParaRPr lang="en-US" sz="1300" dirty="0"/>
          </a:p>
        </p:txBody>
      </p:sp>
      <p:graphicFrame>
        <p:nvGraphicFramePr>
          <p:cNvPr id="15" name="Chart 0" descr=""/>
          <p:cNvGraphicFramePr/>
          <p:nvPr/>
        </p:nvGraphicFramePr>
        <p:xfrm>
          <a:off x="3383280" y="1645920"/>
          <a:ext cx="8214055" cy="4297680"/>
        </p:xfrm>
        <a:graphic xmlns:a="http://schemas.openxmlformats.org/drawingml/2006/main">
          <a:graphicData uri="http://schemas.openxmlformats.org/drawingml/2006/chart">
            <c:chart xmlns:c="http://schemas.openxmlformats.org/drawingml/2006/chart" r:id="rId1"/>
          </a:graphicData>
        </a:graphic>
      </p:graphicFrame>
      <p:sp>
        <p:nvSpPr>
          <p:cNvPr id="16" name="Text 12"/>
          <p:cNvSpPr txBox="1"/>
          <p:nvPr/>
        </p:nvSpPr>
        <p:spPr>
          <a:xfrm>
            <a:off x="8854135" y="5943600"/>
            <a:ext cx="2743200" cy="228600"/>
          </a:xfrm>
          <a:prstGeom prst="rect">
            <a:avLst/>
          </a:prstGeom>
          <a:noFill/>
          <a:ln/>
        </p:spPr>
        <p:txBody>
          <a:bodyPr wrap="square" lIns="0" tIns="0" rIns="0" bIns="0" rtlCol="0" anchor="ctr"/>
          <a:lstStyle/>
          <a:p>
            <a:pPr algn="r" indent="0" marL="0">
              <a:buNone/>
            </a:pPr>
            <a:r>
              <a:rPr lang="en-US" sz="1100" i="1" dirty="0">
                <a:solidFill>
                  <a:srgbClr val="77858E"/>
                </a:solidFill>
                <a:latin typeface="Calibri" pitchFamily="34" charset="0"/>
                <a:ea typeface="Calibri" pitchFamily="34" charset="-122"/>
                <a:cs typeface="Calibri" pitchFamily="34" charset="-120"/>
              </a:rPr>
              <a:t>Trục ngang thang log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RÒ RỈ DỮ LIỆU  ·  06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24 trên 24 câu hỏi trùng giữa train và test mang nhãn khác nhau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06 / 16</a:t>
            </a:r>
            <a:endParaRPr lang="en-US" sz="1000" dirty="0"/>
          </a:p>
        </p:txBody>
      </p:sp>
      <p:sp>
        <p:nvSpPr>
          <p:cNvPr id="7" name="Text 4"/>
          <p:cNvSpPr txBox="1"/>
          <p:nvPr/>
        </p:nvSpPr>
        <p:spPr>
          <a:xfrm>
            <a:off x="594360" y="1783080"/>
            <a:ext cx="3291840" cy="1371600"/>
          </a:xfrm>
          <a:prstGeom prst="rect">
            <a:avLst/>
          </a:prstGeom>
          <a:noFill/>
          <a:ln/>
        </p:spPr>
        <p:txBody>
          <a:bodyPr wrap="square" lIns="0" tIns="0" rIns="0" bIns="0" rtlCol="0" anchor="ctr"/>
          <a:lstStyle/>
          <a:p>
            <a:pPr indent="0" marL="0">
              <a:buNone/>
            </a:pPr>
            <a:r>
              <a:rPr lang="en-US" sz="8800" b="1" dirty="0">
                <a:solidFill>
                  <a:srgbClr val="A8202B"/>
                </a:solidFill>
                <a:latin typeface="Cambria" pitchFamily="34" charset="0"/>
                <a:ea typeface="Cambria" pitchFamily="34" charset="-122"/>
                <a:cs typeface="Cambria" pitchFamily="34" charset="-120"/>
              </a:rPr>
              <a:t>24/24</a:t>
            </a:r>
            <a:endParaRPr lang="en-US" sz="8800" dirty="0"/>
          </a:p>
        </p:txBody>
      </p:sp>
      <p:sp>
        <p:nvSpPr>
          <p:cNvPr id="8" name="Text 5"/>
          <p:cNvSpPr txBox="1"/>
          <p:nvPr/>
        </p:nvSpPr>
        <p:spPr>
          <a:xfrm>
            <a:off x="594360" y="3200400"/>
            <a:ext cx="3108960" cy="914400"/>
          </a:xfrm>
          <a:prstGeom prst="rect">
            <a:avLst/>
          </a:prstGeom>
          <a:noFill/>
          <a:ln/>
        </p:spPr>
        <p:txBody>
          <a:bodyPr wrap="square" lIns="0" tIns="0" rIns="0" bIns="0" rtlCol="0" anchor="t"/>
          <a:lstStyle/>
          <a:p>
            <a:pPr indent="0" marL="0">
              <a:buNone/>
            </a:pPr>
            <a:r>
              <a:rPr lang="en-US" sz="1600" dirty="0">
                <a:solidFill>
                  <a:srgbClr val="16222C"/>
                </a:solidFill>
                <a:latin typeface="Calibri" pitchFamily="34" charset="0"/>
                <a:ea typeface="Calibri" pitchFamily="34" charset="-122"/>
                <a:cs typeface="Calibri" pitchFamily="34" charset="-120"/>
              </a:rPr>
              <a:t>câu hỏi trùng mã giữa train và test mang hai điều luật gold khác nhau</a:t>
            </a:r>
            <a:endParaRPr lang="en-US" sz="1600" dirty="0"/>
          </a:p>
        </p:txBody>
      </p:sp>
      <p:sp>
        <p:nvSpPr>
          <p:cNvPr id="9" name="Text 6"/>
          <p:cNvSpPr txBox="1"/>
          <p:nvPr/>
        </p:nvSpPr>
        <p:spPr>
          <a:xfrm>
            <a:off x="594360" y="4206240"/>
            <a:ext cx="3108960" cy="640080"/>
          </a:xfrm>
          <a:prstGeom prst="rect">
            <a:avLst/>
          </a:prstGeom>
          <a:noFill/>
          <a:ln/>
        </p:spPr>
        <p:txBody>
          <a:bodyPr wrap="square" lIns="0" tIns="0" rIns="0" bIns="0" rtlCol="0" anchor="t"/>
          <a:lstStyle/>
          <a:p>
            <a:pPr indent="0" marL="0">
              <a:buNone/>
            </a:pPr>
            <a:r>
              <a:rPr lang="en-US" sz="1300" dirty="0">
                <a:solidFill>
                  <a:srgbClr val="77858E"/>
                </a:solidFill>
                <a:latin typeface="Calibri" pitchFamily="34" charset="0"/>
                <a:ea typeface="Calibri" pitchFamily="34" charset="-122"/>
                <a:cs typeface="Calibri" pitchFamily="34" charset="-120"/>
              </a:rPr>
              <a:t>26 câu chồng lấn gồm 24 câu trùng mã và 2 câu gần giống</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28255" cy="914400"/>
        </p:xfrm>
        <a:graphic>
          <a:graphicData uri="http://schemas.openxmlformats.org/drawingml/2006/table">
            <a:tbl>
              <a:tblPr/>
              <a:tblGrid>
                <a:gridCol w="3566160"/>
                <a:gridCol w="1938528"/>
                <a:gridCol w="2020824"/>
              </a:tblGrid>
              <a:tr h="365760">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CÂU HỎI</a:t>
                      </a:r>
                      <a:endParaRPr lang="en-US" sz="11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GOLD Ở TRAIN</a:t>
                      </a:r>
                      <a:endParaRPr lang="en-US" sz="11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100" b="1" dirty="0">
                          <a:solidFill>
                            <a:srgbClr val="77858E"/>
                          </a:solidFill>
                          <a:latin typeface="Consolas" pitchFamily="34" charset="0"/>
                          <a:ea typeface="Consolas" pitchFamily="34" charset="-122"/>
                          <a:cs typeface="Consolas" pitchFamily="34" charset="-120"/>
                        </a:rPr>
                        <a:t>GOLD Ở TEST</a:t>
                      </a:r>
                      <a:endParaRPr lang="en-US" sz="11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r h="777240">
                <a:tc>
                  <a:txBody>
                    <a:bodyPr/>
                    <a:lstStyle/>
                    <a:p>
                      <a:pPr indent="0" marL="0">
                        <a:buNone/>
                      </a:pPr>
                      <a:r>
                        <a:rPr lang="en-US" sz="1400" dirty="0">
                          <a:solidFill>
                            <a:srgbClr val="16222C"/>
                          </a:solidFill>
                          <a:latin typeface="Calibri" pitchFamily="34" charset="0"/>
                          <a:ea typeface="Calibri" pitchFamily="34" charset="-122"/>
                          <a:cs typeface="Calibri" pitchFamily="34" charset="-120"/>
                        </a:rPr>
                        <a:t>Bị thương tật 25%, cơ quan nhà nước có khởi tố không?</a:t>
                      </a:r>
                      <a:endParaRPr lang="en-US" sz="1400" dirty="0">
                        <a:latin typeface="Calibri" charset="0"/>
                        <a:ea typeface="Calibri" charset="0"/>
                        <a:cs typeface="Calibri"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2C5F8A"/>
                          </a:solidFill>
                          <a:latin typeface="Consolas" pitchFamily="34" charset="0"/>
                          <a:ea typeface="Consolas" pitchFamily="34" charset="-122"/>
                          <a:cs typeface="Consolas" pitchFamily="34" charset="-120"/>
                        </a:rPr>
                        <a:t>12/2017/qh14+1</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A8202B"/>
                          </a:solidFill>
                          <a:latin typeface="Consolas" pitchFamily="34" charset="0"/>
                          <a:ea typeface="Consolas" pitchFamily="34" charset="-122"/>
                          <a:cs typeface="Consolas" pitchFamily="34" charset="-120"/>
                        </a:rPr>
                        <a:t>101/2015/qh13+155</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r h="777240">
                <a:tc>
                  <a:txBody>
                    <a:bodyPr/>
                    <a:lstStyle/>
                    <a:p>
                      <a:pPr indent="0" marL="0">
                        <a:buNone/>
                      </a:pPr>
                      <a:r>
                        <a:rPr lang="en-US" sz="1400" dirty="0">
                          <a:solidFill>
                            <a:srgbClr val="16222C"/>
                          </a:solidFill>
                          <a:latin typeface="Calibri" pitchFamily="34" charset="0"/>
                          <a:ea typeface="Calibri" pitchFamily="34" charset="-122"/>
                          <a:cs typeface="Calibri" pitchFamily="34" charset="-120"/>
                        </a:rPr>
                        <a:t>Tiêu chí xác định thương nhân áp dụng chế độ Luồng Đỏ được quy định …</a:t>
                      </a:r>
                      <a:endParaRPr lang="en-US" sz="1400" dirty="0">
                        <a:latin typeface="Calibri" charset="0"/>
                        <a:ea typeface="Calibri" charset="0"/>
                        <a:cs typeface="Calibri"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2C5F8A"/>
                          </a:solidFill>
                          <a:latin typeface="Consolas" pitchFamily="34" charset="0"/>
                          <a:ea typeface="Consolas" pitchFamily="34" charset="-122"/>
                          <a:cs typeface="Consolas" pitchFamily="34" charset="-120"/>
                        </a:rPr>
                        <a:t>31/2018/nđ-cp+29</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A8202B"/>
                          </a:solidFill>
                          <a:latin typeface="Consolas" pitchFamily="34" charset="0"/>
                          <a:ea typeface="Consolas" pitchFamily="34" charset="-122"/>
                          <a:cs typeface="Consolas" pitchFamily="34" charset="-120"/>
                        </a:rPr>
                        <a:t>15/2018/tt-bct+6</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r h="777240">
                <a:tc>
                  <a:txBody>
                    <a:bodyPr/>
                    <a:lstStyle/>
                    <a:p>
                      <a:pPr indent="0" marL="0">
                        <a:buNone/>
                      </a:pPr>
                      <a:r>
                        <a:rPr lang="en-US" sz="1400" dirty="0">
                          <a:solidFill>
                            <a:srgbClr val="16222C"/>
                          </a:solidFill>
                          <a:latin typeface="Calibri" pitchFamily="34" charset="0"/>
                          <a:ea typeface="Calibri" pitchFamily="34" charset="-122"/>
                          <a:cs typeface="Calibri" pitchFamily="34" charset="-120"/>
                        </a:rPr>
                        <a:t>Đi trường giáo dưỡng được gọi điện thoại về nhà 5 phút/lần được quy …</a:t>
                      </a:r>
                      <a:endParaRPr lang="en-US" sz="1400" dirty="0">
                        <a:latin typeface="Calibri" charset="0"/>
                        <a:ea typeface="Calibri" charset="0"/>
                        <a:cs typeface="Calibri"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2C5F8A"/>
                          </a:solidFill>
                          <a:latin typeface="Consolas" pitchFamily="34" charset="0"/>
                          <a:ea typeface="Consolas" pitchFamily="34" charset="-122"/>
                          <a:cs typeface="Consolas" pitchFamily="34" charset="-120"/>
                        </a:rPr>
                        <a:t>43/2015/tt-bca+2</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c>
                  <a:txBody>
                    <a:bodyPr/>
                    <a:lstStyle/>
                    <a:p>
                      <a:pPr indent="0" marL="0">
                        <a:buNone/>
                      </a:pPr>
                      <a:r>
                        <a:rPr lang="en-US" sz="1200" dirty="0">
                          <a:solidFill>
                            <a:srgbClr val="A8202B"/>
                          </a:solidFill>
                          <a:latin typeface="Consolas" pitchFamily="34" charset="0"/>
                          <a:ea typeface="Consolas" pitchFamily="34" charset="-122"/>
                          <a:cs typeface="Consolas" pitchFamily="34" charset="-120"/>
                        </a:rPr>
                        <a:t>43/2015/tt-bca+12</a:t>
                      </a:r>
                      <a:endParaRPr lang="en-US" sz="1200" dirty="0">
                        <a:latin typeface="Consolas" charset="0"/>
                        <a:ea typeface="Consolas" charset="0"/>
                        <a:cs typeface="Consolas" charset="0"/>
                      </a:endParaRPr>
                    </a:p>
                  </a:txBody>
                  <a:tcPr marL="91440" marR="91440" marT="0" marB="0" anchor="ctr">
                    <a:lnL w="9525" cap="flat" cmpd="sng" algn="ctr">
                      <a:solidFill>
                        <a:srgbClr val="D9DDD7"/>
                      </a:solidFill>
                      <a:prstDash val="solid"/>
                      <a:round/>
                      <a:headEnd type="none" w="med" len="med"/>
                      <a:tailEnd type="none" w="med" len="med"/>
                    </a:lnL>
                    <a:lnR w="9525" cap="flat" cmpd="sng" algn="ctr">
                      <a:solidFill>
                        <a:srgbClr val="D9DDD7"/>
                      </a:solidFill>
                      <a:prstDash val="solid"/>
                      <a:round/>
                      <a:headEnd type="none" w="med" len="med"/>
                      <a:tailEnd type="none" w="med" len="med"/>
                    </a:lnR>
                    <a:lnT w="9525" cap="flat" cmpd="sng" algn="ctr">
                      <a:solidFill>
                        <a:srgbClr val="D9DDD7"/>
                      </a:solidFill>
                      <a:prstDash val="solid"/>
                      <a:round/>
                      <a:headEnd type="none" w="med" len="med"/>
                      <a:tailEnd type="none" w="med" len="med"/>
                    </a:lnT>
                    <a:lnB w="9525" cap="flat" cmpd="sng" algn="ctr">
                      <a:solidFill>
                        <a:srgbClr val="D9DDD7"/>
                      </a:solidFill>
                      <a:prstDash val="solid"/>
                      <a:round/>
                      <a:headEnd type="none" w="med" len="med"/>
                      <a:tailEnd type="none" w="med" len="med"/>
                    </a:lnB>
                  </a:tcPr>
                </a:tc>
              </a:tr>
            </a:tbl>
          </a:graphicData>
        </a:graphic>
      </p:graphicFrame>
      <p:sp>
        <p:nvSpPr>
          <p:cNvPr id="11" name="Shape 7"/>
          <p:cNvSpPr/>
          <p:nvPr/>
        </p:nvSpPr>
        <p:spPr>
          <a:xfrm>
            <a:off x="4069080" y="4800600"/>
            <a:ext cx="7528255" cy="868680"/>
          </a:xfrm>
          <a:prstGeom prst="rect">
            <a:avLst/>
          </a:prstGeom>
          <a:solidFill>
            <a:srgbClr val="E4F0EB"/>
          </a:solidFill>
          <a:ln/>
        </p:spPr>
      </p:sp>
      <p:sp>
        <p:nvSpPr>
          <p:cNvPr id="12" name="Text 8"/>
          <p:cNvSpPr txBox="1"/>
          <p:nvPr/>
        </p:nvSpPr>
        <p:spPr>
          <a:xfrm>
            <a:off x="4297680" y="4800600"/>
            <a:ext cx="7071055" cy="868680"/>
          </a:xfrm>
          <a:prstGeom prst="rect">
            <a:avLst/>
          </a:prstGeom>
          <a:noFill/>
          <a:ln/>
        </p:spPr>
        <p:txBody>
          <a:bodyPr wrap="square" lIns="0" tIns="0" rIns="0" bIns="0" rtlCol="0" anchor="ctr"/>
          <a:lstStyle/>
          <a:p>
            <a:pPr indent="0" marL="0">
              <a:buNone/>
            </a:pPr>
            <a:r>
              <a:rPr lang="en-US" sz="1500" b="1" dirty="0">
                <a:solidFill>
                  <a:srgbClr val="1B6E5A"/>
                </a:solidFill>
                <a:latin typeface="Calibri" pitchFamily="34" charset="0"/>
                <a:ea typeface="Calibri" pitchFamily="34" charset="-122"/>
                <a:cs typeface="Calibri" pitchFamily="34" charset="-120"/>
              </a:rPr>
              <a:t>Bỏ dòng train của các câu này, test giữ nguyên 793 cặp của ban tổ chức. Mọi Recall là cận dưới.</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RÒ RỈ DỮ LIỆU  ·  07</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Mô hình phổ biến nhất đã học chính tập test</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07 / 16</a:t>
            </a:r>
            <a:endParaRPr lang="en-US" sz="1000" dirty="0"/>
          </a:p>
        </p:txBody>
      </p:sp>
      <p:sp>
        <p:nvSpPr>
          <p:cNvPr id="7" name="Shape 4"/>
          <p:cNvSpPr/>
          <p:nvPr/>
        </p:nvSpPr>
        <p:spPr>
          <a:xfrm>
            <a:off x="594360" y="1783080"/>
            <a:ext cx="5318608" cy="2514600"/>
          </a:xfrm>
          <a:prstGeom prst="rect">
            <a:avLst/>
          </a:prstGeom>
          <a:solidFill>
            <a:srgbClr val="F8E9E9"/>
          </a:solidFill>
          <a:ln/>
        </p:spPr>
      </p:sp>
      <p:sp>
        <p:nvSpPr>
          <p:cNvPr id="8" name="Shape 5"/>
          <p:cNvSpPr/>
          <p:nvPr/>
        </p:nvSpPr>
        <p:spPr>
          <a:xfrm>
            <a:off x="914400" y="2057400"/>
            <a:ext cx="1280160" cy="329184"/>
          </a:xfrm>
          <a:prstGeom prst="rect">
            <a:avLst/>
          </a:prstGeom>
          <a:solidFill>
            <a:srgbClr val="A8202B"/>
          </a:solidFill>
          <a:ln/>
        </p:spPr>
      </p:sp>
      <p:sp>
        <p:nvSpPr>
          <p:cNvPr id="9" name="Text 6"/>
          <p:cNvSpPr txBox="1"/>
          <p:nvPr/>
        </p:nvSpPr>
        <p:spPr>
          <a:xfrm>
            <a:off x="914400" y="2057400"/>
            <a:ext cx="12801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NHIỄM BẨN</a:t>
            </a:r>
            <a:endParaRPr lang="en-US" sz="1200" dirty="0"/>
          </a:p>
        </p:txBody>
      </p:sp>
      <p:sp>
        <p:nvSpPr>
          <p:cNvPr id="10" name="Text 7"/>
          <p:cNvSpPr txBox="1"/>
          <p:nvPr/>
        </p:nvSpPr>
        <p:spPr>
          <a:xfrm>
            <a:off x="914400" y="2514600"/>
            <a:ext cx="4678528" cy="274320"/>
          </a:xfrm>
          <a:prstGeom prst="rect">
            <a:avLst/>
          </a:prstGeom>
          <a:noFill/>
          <a:ln/>
        </p:spPr>
        <p:txBody>
          <a:bodyPr wrap="square" lIns="0" tIns="0" rIns="0" bIns="0" rtlCol="0" anchor="ctr"/>
          <a:lstStyle/>
          <a:p>
            <a:pPr indent="0" marL="0">
              <a:buNone/>
            </a:pPr>
            <a:r>
              <a:rPr lang="en-US" sz="1300" dirty="0">
                <a:solidFill>
                  <a:srgbClr val="46545F"/>
                </a:solidFill>
                <a:latin typeface="Consolas" pitchFamily="34" charset="0"/>
                <a:ea typeface="Consolas" pitchFamily="34" charset="-122"/>
                <a:cs typeface="Consolas" pitchFamily="34" charset="-120"/>
              </a:rPr>
              <a:t>bkai-foundation-models/vietnamese-bi-encoder</a:t>
            </a:r>
            <a:endParaRPr lang="en-US" sz="1300" dirty="0"/>
          </a:p>
        </p:txBody>
      </p:sp>
      <p:sp>
        <p:nvSpPr>
          <p:cNvPr id="11" name="Text 8"/>
          <p:cNvSpPr txBox="1"/>
          <p:nvPr/>
        </p:nvSpPr>
        <p:spPr>
          <a:xfrm>
            <a:off x="914400" y="2880360"/>
            <a:ext cx="4678528" cy="868680"/>
          </a:xfrm>
          <a:prstGeom prst="rect">
            <a:avLst/>
          </a:prstGeom>
          <a:noFill/>
          <a:ln/>
        </p:spPr>
        <p:txBody>
          <a:bodyPr wrap="square" lIns="0" tIns="0" rIns="0" bIns="0" rtlCol="0" anchor="t"/>
          <a:lstStyle/>
          <a:p>
            <a:pPr indent="0" marL="0">
              <a:buNone/>
            </a:pPr>
            <a:r>
              <a:rPr lang="en-US" sz="1900" i="1" dirty="0">
                <a:solidFill>
                  <a:srgbClr val="16222C"/>
                </a:solidFill>
                <a:latin typeface="Cambria" pitchFamily="34" charset="0"/>
                <a:ea typeface="Cambria" pitchFamily="34" charset="-122"/>
                <a:cs typeface="Cambria" pitchFamily="34" charset="-120"/>
              </a:rPr>
              <a:t>“80% of the training set from the Legal Text Retrieval Zalo 2021 challenge”</a:t>
            </a:r>
            <a:endParaRPr lang="en-US" sz="1900" dirty="0"/>
          </a:p>
        </p:txBody>
      </p:sp>
      <p:sp>
        <p:nvSpPr>
          <p:cNvPr id="12" name="Text 9"/>
          <p:cNvSpPr txBox="1"/>
          <p:nvPr/>
        </p:nvSpPr>
        <p:spPr>
          <a:xfrm>
            <a:off x="914400" y="3794760"/>
            <a:ext cx="4678528" cy="365760"/>
          </a:xfrm>
          <a:prstGeom prst="rect">
            <a:avLst/>
          </a:prstGeom>
          <a:noFill/>
          <a:ln/>
        </p:spPr>
        <p:txBody>
          <a:bodyPr wrap="square" lIns="0" tIns="0" rIns="0" bIns="0" rtlCol="0" anchor="t"/>
          <a:lstStyle/>
          <a:p>
            <a:pPr indent="0" marL="0">
              <a:buNone/>
            </a:pPr>
            <a:r>
              <a:rPr lang="en-US" sz="1400" b="1" dirty="0">
                <a:solidFill>
                  <a:srgbClr val="A8202B"/>
                </a:solidFill>
                <a:latin typeface="Calibri" pitchFamily="34" charset="0"/>
                <a:ea typeface="Calibri" pitchFamily="34" charset="-122"/>
                <a:cs typeface="Calibri" pitchFamily="34" charset="-120"/>
              </a:rPr>
              <a:t>Tập test của nhóm cắt ra từ đúng tập train này</a:t>
            </a:r>
            <a:endParaRPr lang="en-US" sz="1400" dirty="0"/>
          </a:p>
        </p:txBody>
      </p:sp>
      <p:sp>
        <p:nvSpPr>
          <p:cNvPr id="13" name="Shape 10"/>
          <p:cNvSpPr/>
          <p:nvPr/>
        </p:nvSpPr>
        <p:spPr>
          <a:xfrm>
            <a:off x="6278728" y="1783080"/>
            <a:ext cx="5318608" cy="2514600"/>
          </a:xfrm>
          <a:prstGeom prst="rect">
            <a:avLst/>
          </a:prstGeom>
          <a:solidFill>
            <a:srgbClr val="E4F0EB"/>
          </a:solidFill>
          <a:ln/>
        </p:spPr>
      </p:sp>
      <p:sp>
        <p:nvSpPr>
          <p:cNvPr id="14" name="Shape 11"/>
          <p:cNvSpPr/>
          <p:nvPr/>
        </p:nvSpPr>
        <p:spPr>
          <a:xfrm>
            <a:off x="6598768" y="2057400"/>
            <a:ext cx="1280160" cy="329184"/>
          </a:xfrm>
          <a:prstGeom prst="rect">
            <a:avLst/>
          </a:prstGeom>
          <a:solidFill>
            <a:srgbClr val="1B6E5A"/>
          </a:solidFill>
          <a:ln/>
        </p:spPr>
      </p:sp>
      <p:sp>
        <p:nvSpPr>
          <p:cNvPr id="15" name="Text 12"/>
          <p:cNvSpPr txBox="1"/>
          <p:nvPr/>
        </p:nvSpPr>
        <p:spPr>
          <a:xfrm>
            <a:off x="6598768" y="2057400"/>
            <a:ext cx="12801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SẠCH</a:t>
            </a:r>
            <a:endParaRPr lang="en-US" sz="1200" dirty="0"/>
          </a:p>
        </p:txBody>
      </p:sp>
      <p:sp>
        <p:nvSpPr>
          <p:cNvPr id="16" name="Text 13"/>
          <p:cNvSpPr txBox="1"/>
          <p:nvPr/>
        </p:nvSpPr>
        <p:spPr>
          <a:xfrm>
            <a:off x="6598768" y="2514600"/>
            <a:ext cx="4678528" cy="274320"/>
          </a:xfrm>
          <a:prstGeom prst="rect">
            <a:avLst/>
          </a:prstGeom>
          <a:noFill/>
          <a:ln/>
        </p:spPr>
        <p:txBody>
          <a:bodyPr wrap="square" lIns="0" tIns="0" rIns="0" bIns="0" rtlCol="0" anchor="ctr"/>
          <a:lstStyle/>
          <a:p>
            <a:pPr indent="0" marL="0">
              <a:buNone/>
            </a:pPr>
            <a:r>
              <a:rPr lang="en-US" sz="1300" dirty="0">
                <a:solidFill>
                  <a:srgbClr val="46545F"/>
                </a:solidFill>
                <a:latin typeface="Consolas" pitchFamily="34" charset="0"/>
                <a:ea typeface="Consolas" pitchFamily="34" charset="-122"/>
                <a:cs typeface="Consolas" pitchFamily="34" charset="-120"/>
              </a:rPr>
              <a:t>AITeamVN/Vietnamese_Embedding</a:t>
            </a:r>
            <a:endParaRPr lang="en-US" sz="1300" dirty="0"/>
          </a:p>
        </p:txBody>
      </p:sp>
      <p:sp>
        <p:nvSpPr>
          <p:cNvPr id="17" name="Text 14"/>
          <p:cNvSpPr txBox="1"/>
          <p:nvPr/>
        </p:nvSpPr>
        <p:spPr>
          <a:xfrm>
            <a:off x="6598768" y="2880360"/>
            <a:ext cx="4678528" cy="868680"/>
          </a:xfrm>
          <a:prstGeom prst="rect">
            <a:avLst/>
          </a:prstGeom>
          <a:noFill/>
          <a:ln/>
        </p:spPr>
        <p:txBody>
          <a:bodyPr wrap="square" lIns="0" tIns="0" rIns="0" bIns="0" rtlCol="0" anchor="t"/>
          <a:lstStyle/>
          <a:p>
            <a:pPr indent="0" marL="0">
              <a:buNone/>
            </a:pPr>
            <a:r>
              <a:rPr lang="en-US" sz="1900" i="1" dirty="0">
                <a:solidFill>
                  <a:srgbClr val="16222C"/>
                </a:solidFill>
                <a:latin typeface="Cambria" pitchFamily="34" charset="0"/>
                <a:ea typeface="Cambria" pitchFamily="34" charset="-122"/>
                <a:cs typeface="Cambria" pitchFamily="34" charset="-120"/>
              </a:rPr>
              <a:t>“Our model was not trained on this dataset”</a:t>
            </a:r>
            <a:endParaRPr lang="en-US" sz="1900" dirty="0"/>
          </a:p>
        </p:txBody>
      </p:sp>
      <p:sp>
        <p:nvSpPr>
          <p:cNvPr id="18" name="Text 15"/>
          <p:cNvSpPr txBox="1"/>
          <p:nvPr/>
        </p:nvSpPr>
        <p:spPr>
          <a:xfrm>
            <a:off x="6598768" y="3794760"/>
            <a:ext cx="4678528" cy="365760"/>
          </a:xfrm>
          <a:prstGeom prst="rect">
            <a:avLst/>
          </a:prstGeom>
          <a:noFill/>
          <a:ln/>
        </p:spPr>
        <p:txBody>
          <a:bodyPr wrap="square" lIns="0" tIns="0" rIns="0" bIns="0" rtlCol="0" anchor="t"/>
          <a:lstStyle/>
          <a:p>
            <a:pPr indent="0" marL="0">
              <a:buNone/>
            </a:pPr>
            <a:r>
              <a:rPr lang="en-US" sz="1400" b="1" dirty="0">
                <a:solidFill>
                  <a:srgbClr val="1B6E5A"/>
                </a:solidFill>
                <a:latin typeface="Calibri" pitchFamily="34" charset="0"/>
                <a:ea typeface="Calibri" pitchFamily="34" charset="-122"/>
                <a:cs typeface="Calibri" pitchFamily="34" charset="-120"/>
              </a:rPr>
              <a:t>Dùng cho mọi con số chính thức</a:t>
            </a:r>
            <a:endParaRPr lang="en-US" sz="1400" dirty="0"/>
          </a:p>
        </p:txBody>
      </p:sp>
      <p:sp>
        <p:nvSpPr>
          <p:cNvPr id="19" name="Text 16"/>
          <p:cNvSpPr txBox="1"/>
          <p:nvPr/>
        </p:nvSpPr>
        <p:spPr>
          <a:xfrm>
            <a:off x="594360" y="4572000"/>
            <a:ext cx="5486400"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CHIA LẠI TẬP THEO CÂU HỎI</a:t>
            </a:r>
            <a:endParaRPr lang="en-US" sz="1200" dirty="0"/>
          </a:p>
        </p:txBody>
      </p:sp>
      <p:sp>
        <p:nvSpPr>
          <p:cNvPr id="20" name="Text 17"/>
          <p:cNvSpPr txBox="1"/>
          <p:nvPr/>
        </p:nvSpPr>
        <p:spPr>
          <a:xfrm>
            <a:off x="594360" y="4892040"/>
            <a:ext cx="3484778" cy="502920"/>
          </a:xfrm>
          <a:prstGeom prst="rect">
            <a:avLst/>
          </a:prstGeom>
          <a:noFill/>
          <a:ln/>
        </p:spPr>
        <p:txBody>
          <a:bodyPr wrap="square" lIns="0" tIns="0" rIns="0" bIns="0" rtlCol="0" anchor="ctr"/>
          <a:lstStyle/>
          <a:p>
            <a:pPr indent="0" marL="0">
              <a:buNone/>
            </a:pPr>
            <a:r>
              <a:rPr lang="en-US" sz="2600" b="1" dirty="0">
                <a:solidFill>
                  <a:srgbClr val="16222C"/>
                </a:solidFill>
                <a:latin typeface="Cambria" pitchFamily="34" charset="0"/>
                <a:ea typeface="Cambria" pitchFamily="34" charset="-122"/>
                <a:cs typeface="Cambria" pitchFamily="34" charset="-120"/>
              </a:rPr>
              <a:t>1.925</a:t>
            </a:r>
            <a:pPr indent="0" marL="0">
              <a:buNone/>
            </a:pPr>
            <a:r>
              <a:rPr lang="en-US" sz="1500" dirty="0">
                <a:solidFill>
                  <a:srgbClr val="46545F"/>
                </a:solidFill>
                <a:latin typeface="Calibri" pitchFamily="34" charset="0"/>
                <a:ea typeface="Calibri" pitchFamily="34" charset="-122"/>
                <a:cs typeface="Calibri" pitchFamily="34" charset="-120"/>
              </a:rPr>
              <a:t>  câu hỏi train</a:t>
            </a:r>
            <a:endParaRPr lang="en-US" sz="2600" dirty="0"/>
          </a:p>
        </p:txBody>
      </p:sp>
      <p:sp>
        <p:nvSpPr>
          <p:cNvPr id="21" name="Text 18"/>
          <p:cNvSpPr txBox="1"/>
          <p:nvPr/>
        </p:nvSpPr>
        <p:spPr>
          <a:xfrm>
            <a:off x="594360" y="5394960"/>
            <a:ext cx="3484778" cy="27432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đã bỏ 26 câu rò rỉ</a:t>
            </a:r>
            <a:endParaRPr lang="en-US" sz="1300" dirty="0"/>
          </a:p>
        </p:txBody>
      </p:sp>
      <p:sp>
        <p:nvSpPr>
          <p:cNvPr id="22" name="Text 19"/>
          <p:cNvSpPr txBox="1"/>
          <p:nvPr/>
        </p:nvSpPr>
        <p:spPr>
          <a:xfrm>
            <a:off x="4262018" y="4892040"/>
            <a:ext cx="3484778" cy="502920"/>
          </a:xfrm>
          <a:prstGeom prst="rect">
            <a:avLst/>
          </a:prstGeom>
          <a:noFill/>
          <a:ln/>
        </p:spPr>
        <p:txBody>
          <a:bodyPr wrap="square" lIns="0" tIns="0" rIns="0" bIns="0" rtlCol="0" anchor="ctr"/>
          <a:lstStyle/>
          <a:p>
            <a:pPr indent="0" marL="0">
              <a:buNone/>
            </a:pPr>
            <a:r>
              <a:rPr lang="en-US" sz="2600" b="1" dirty="0">
                <a:solidFill>
                  <a:srgbClr val="16222C"/>
                </a:solidFill>
                <a:latin typeface="Cambria" pitchFamily="34" charset="0"/>
                <a:ea typeface="Cambria" pitchFamily="34" charset="-122"/>
                <a:cs typeface="Cambria" pitchFamily="34" charset="-120"/>
              </a:rPr>
              <a:t>481</a:t>
            </a:r>
            <a:pPr indent="0" marL="0">
              <a:buNone/>
            </a:pPr>
            <a:r>
              <a:rPr lang="en-US" sz="1500" dirty="0">
                <a:solidFill>
                  <a:srgbClr val="46545F"/>
                </a:solidFill>
                <a:latin typeface="Calibri" pitchFamily="34" charset="0"/>
                <a:ea typeface="Calibri" pitchFamily="34" charset="-122"/>
                <a:cs typeface="Calibri" pitchFamily="34" charset="-120"/>
              </a:rPr>
              <a:t>  câu hỏi val</a:t>
            </a:r>
            <a:endParaRPr lang="en-US" sz="2600" dirty="0"/>
          </a:p>
        </p:txBody>
      </p:sp>
      <p:sp>
        <p:nvSpPr>
          <p:cNvPr id="23" name="Text 20"/>
          <p:cNvSpPr txBox="1"/>
          <p:nvPr/>
        </p:nvSpPr>
        <p:spPr>
          <a:xfrm>
            <a:off x="4262018" y="5394960"/>
            <a:ext cx="3484778" cy="27432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cắt từ train, seed 42, để chỉnh tham số</a:t>
            </a:r>
            <a:endParaRPr lang="en-US" sz="1300" dirty="0"/>
          </a:p>
        </p:txBody>
      </p:sp>
      <p:sp>
        <p:nvSpPr>
          <p:cNvPr id="24" name="Text 21"/>
          <p:cNvSpPr txBox="1"/>
          <p:nvPr/>
        </p:nvSpPr>
        <p:spPr>
          <a:xfrm>
            <a:off x="7929677" y="4892040"/>
            <a:ext cx="3484778" cy="502920"/>
          </a:xfrm>
          <a:prstGeom prst="rect">
            <a:avLst/>
          </a:prstGeom>
          <a:noFill/>
          <a:ln/>
        </p:spPr>
        <p:txBody>
          <a:bodyPr wrap="square" lIns="0" tIns="0" rIns="0" bIns="0" rtlCol="0" anchor="ctr"/>
          <a:lstStyle/>
          <a:p>
            <a:pPr indent="0" marL="0">
              <a:buNone/>
            </a:pPr>
            <a:r>
              <a:rPr lang="en-US" sz="2600" b="1" dirty="0">
                <a:solidFill>
                  <a:srgbClr val="16222C"/>
                </a:solidFill>
                <a:latin typeface="Cambria" pitchFamily="34" charset="0"/>
                <a:ea typeface="Cambria" pitchFamily="34" charset="-122"/>
                <a:cs typeface="Cambria" pitchFamily="34" charset="-120"/>
              </a:rPr>
              <a:t>788</a:t>
            </a:r>
            <a:pPr indent="0" marL="0">
              <a:buNone/>
            </a:pPr>
            <a:r>
              <a:rPr lang="en-US" sz="1500" dirty="0">
                <a:solidFill>
                  <a:srgbClr val="46545F"/>
                </a:solidFill>
                <a:latin typeface="Calibri" pitchFamily="34" charset="0"/>
                <a:ea typeface="Calibri" pitchFamily="34" charset="-122"/>
                <a:cs typeface="Calibri" pitchFamily="34" charset="-120"/>
              </a:rPr>
              <a:t>  câu hỏi test</a:t>
            </a:r>
            <a:endParaRPr lang="en-US" sz="2600" dirty="0"/>
          </a:p>
        </p:txBody>
      </p:sp>
      <p:sp>
        <p:nvSpPr>
          <p:cNvPr id="25" name="Text 22"/>
          <p:cNvSpPr txBox="1"/>
          <p:nvPr/>
        </p:nvSpPr>
        <p:spPr>
          <a:xfrm>
            <a:off x="7929677" y="5394960"/>
            <a:ext cx="3484778" cy="27432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nguyên vẹn, chỉ chạy một lần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PHƯƠNG PHÁP  ·  08</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Một khâu phục hồi dấu đứng trước ba tầng tìm kiếm</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08 / 16</a:t>
            </a:r>
            <a:endParaRPr lang="en-US" sz="1000" dirty="0"/>
          </a:p>
        </p:txBody>
      </p:sp>
      <p:sp>
        <p:nvSpPr>
          <p:cNvPr id="7" name="Shape 4"/>
          <p:cNvSpPr/>
          <p:nvPr/>
        </p:nvSpPr>
        <p:spPr>
          <a:xfrm>
            <a:off x="594360" y="3246120"/>
            <a:ext cx="1600200" cy="1143000"/>
          </a:xfrm>
          <a:prstGeom prst="rect">
            <a:avLst/>
          </a:prstGeom>
          <a:solidFill>
            <a:srgbClr val="FFFFFF"/>
          </a:solidFill>
          <a:ln w="15875">
            <a:solidFill>
              <a:srgbClr val="77858E"/>
            </a:solidFill>
            <a:prstDash val="solid"/>
          </a:ln>
        </p:spPr>
      </p:sp>
      <p:sp>
        <p:nvSpPr>
          <p:cNvPr id="8" name="Text 5"/>
          <p:cNvSpPr txBox="1"/>
          <p:nvPr/>
        </p:nvSpPr>
        <p:spPr>
          <a:xfrm>
            <a:off x="731520" y="3410712"/>
            <a:ext cx="1325880" cy="365760"/>
          </a:xfrm>
          <a:prstGeom prst="rect">
            <a:avLst/>
          </a:prstGeom>
          <a:noFill/>
          <a:ln/>
        </p:spPr>
        <p:txBody>
          <a:bodyPr wrap="square" lIns="0" tIns="0" rIns="0" bIns="0" rtlCol="0" anchor="ctr"/>
          <a:lstStyle/>
          <a:p>
            <a:pPr algn="ctr" indent="0" marL="0">
              <a:buNone/>
            </a:pPr>
            <a:r>
              <a:rPr lang="en-US" sz="1700" b="1" dirty="0">
                <a:solidFill>
                  <a:srgbClr val="16222C"/>
                </a:solidFill>
                <a:latin typeface="Calibri" pitchFamily="34" charset="0"/>
                <a:ea typeface="Calibri" pitchFamily="34" charset="-122"/>
                <a:cs typeface="Calibri" pitchFamily="34" charset="-120"/>
              </a:rPr>
              <a:t>Câu hỏi</a:t>
            </a:r>
            <a:endParaRPr lang="en-US" sz="1700" dirty="0"/>
          </a:p>
        </p:txBody>
      </p:sp>
      <p:sp>
        <p:nvSpPr>
          <p:cNvPr id="9" name="Text 6"/>
          <p:cNvSpPr txBox="1"/>
          <p:nvPr/>
        </p:nvSpPr>
        <p:spPr>
          <a:xfrm>
            <a:off x="731520" y="3794760"/>
            <a:ext cx="132588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có dấu, không dấu</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hoặc nửa dấu</a:t>
            </a:r>
            <a:endParaRPr lang="en-US" sz="1250" dirty="0"/>
          </a:p>
        </p:txBody>
      </p:sp>
      <p:sp>
        <p:nvSpPr>
          <p:cNvPr id="10" name="Shape 7"/>
          <p:cNvSpPr/>
          <p:nvPr/>
        </p:nvSpPr>
        <p:spPr>
          <a:xfrm>
            <a:off x="2606040" y="3246120"/>
            <a:ext cx="2011680" cy="1143000"/>
          </a:xfrm>
          <a:prstGeom prst="rect">
            <a:avLst/>
          </a:prstGeom>
          <a:solidFill>
            <a:srgbClr val="F8E9E9"/>
          </a:solidFill>
          <a:ln w="15875">
            <a:solidFill>
              <a:srgbClr val="A8202B"/>
            </a:solidFill>
            <a:prstDash val="solid"/>
          </a:ln>
        </p:spPr>
      </p:sp>
      <p:sp>
        <p:nvSpPr>
          <p:cNvPr id="11" name="Text 8"/>
          <p:cNvSpPr txBox="1"/>
          <p:nvPr/>
        </p:nvSpPr>
        <p:spPr>
          <a:xfrm>
            <a:off x="2743200" y="3410712"/>
            <a:ext cx="1737360" cy="365760"/>
          </a:xfrm>
          <a:prstGeom prst="rect">
            <a:avLst/>
          </a:prstGeom>
          <a:noFill/>
          <a:ln/>
        </p:spPr>
        <p:txBody>
          <a:bodyPr wrap="square" lIns="0" tIns="0" rIns="0" bIns="0" rtlCol="0" anchor="ctr"/>
          <a:lstStyle/>
          <a:p>
            <a:pPr algn="ctr" indent="0" marL="0">
              <a:buNone/>
            </a:pPr>
            <a:r>
              <a:rPr lang="en-US" sz="1700" b="1" dirty="0">
                <a:solidFill>
                  <a:srgbClr val="A8202B"/>
                </a:solidFill>
                <a:latin typeface="Calibri" pitchFamily="34" charset="0"/>
                <a:ea typeface="Calibri" pitchFamily="34" charset="-122"/>
                <a:cs typeface="Calibri" pitchFamily="34" charset="-120"/>
              </a:rPr>
              <a:t>Phục hồi dấu</a:t>
            </a:r>
            <a:endParaRPr lang="en-US" sz="1700" dirty="0"/>
          </a:p>
        </p:txBody>
      </p:sp>
      <p:sp>
        <p:nvSpPr>
          <p:cNvPr id="12" name="Text 9"/>
          <p:cNvSpPr txBox="1"/>
          <p:nvPr/>
        </p:nvSpPr>
        <p:spPr>
          <a:xfrm>
            <a:off x="2743200" y="3794760"/>
            <a:ext cx="173736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bigram âm tiết</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và Viterbi</a:t>
            </a:r>
            <a:endParaRPr lang="en-US" sz="1250" dirty="0"/>
          </a:p>
        </p:txBody>
      </p:sp>
      <p:sp>
        <p:nvSpPr>
          <p:cNvPr id="13" name="Shape 10"/>
          <p:cNvSpPr/>
          <p:nvPr/>
        </p:nvSpPr>
        <p:spPr>
          <a:xfrm>
            <a:off x="5166360" y="1874520"/>
            <a:ext cx="2377440" cy="1143000"/>
          </a:xfrm>
          <a:prstGeom prst="rect">
            <a:avLst/>
          </a:prstGeom>
          <a:solidFill>
            <a:srgbClr val="E5EEF5"/>
          </a:solidFill>
          <a:ln w="15875">
            <a:solidFill>
              <a:srgbClr val="2C5F8A"/>
            </a:solidFill>
            <a:prstDash val="solid"/>
          </a:ln>
        </p:spPr>
      </p:sp>
      <p:sp>
        <p:nvSpPr>
          <p:cNvPr id="14" name="Text 11"/>
          <p:cNvSpPr txBox="1"/>
          <p:nvPr/>
        </p:nvSpPr>
        <p:spPr>
          <a:xfrm>
            <a:off x="5303520" y="2039112"/>
            <a:ext cx="2103120" cy="365760"/>
          </a:xfrm>
          <a:prstGeom prst="rect">
            <a:avLst/>
          </a:prstGeom>
          <a:noFill/>
          <a:ln/>
        </p:spPr>
        <p:txBody>
          <a:bodyPr wrap="square" lIns="0" tIns="0" rIns="0" bIns="0" rtlCol="0" anchor="ctr"/>
          <a:lstStyle/>
          <a:p>
            <a:pPr algn="ctr" indent="0" marL="0">
              <a:buNone/>
            </a:pPr>
            <a:r>
              <a:rPr lang="en-US" sz="1700" b="1" dirty="0">
                <a:solidFill>
                  <a:srgbClr val="2C5F8A"/>
                </a:solidFill>
                <a:latin typeface="Calibri" pitchFamily="34" charset="0"/>
                <a:ea typeface="Calibri" pitchFamily="34" charset="-122"/>
                <a:cs typeface="Calibri" pitchFamily="34" charset="-120"/>
              </a:rPr>
              <a:t>Từ khóa: BM25</a:t>
            </a:r>
            <a:endParaRPr lang="en-US" sz="1700" dirty="0"/>
          </a:p>
        </p:txBody>
      </p:sp>
      <p:sp>
        <p:nvSpPr>
          <p:cNvPr id="15" name="Text 12"/>
          <p:cNvSpPr txBox="1"/>
          <p:nvPr/>
        </p:nvSpPr>
        <p:spPr>
          <a:xfrm>
            <a:off x="5303520" y="2423160"/>
            <a:ext cx="210312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tách từ pyvi</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61.425 điều</a:t>
            </a:r>
            <a:endParaRPr lang="en-US" sz="1250" dirty="0"/>
          </a:p>
        </p:txBody>
      </p:sp>
      <p:sp>
        <p:nvSpPr>
          <p:cNvPr id="16" name="Shape 13"/>
          <p:cNvSpPr/>
          <p:nvPr/>
        </p:nvSpPr>
        <p:spPr>
          <a:xfrm>
            <a:off x="5166360" y="4617720"/>
            <a:ext cx="2377440" cy="1143000"/>
          </a:xfrm>
          <a:prstGeom prst="rect">
            <a:avLst/>
          </a:prstGeom>
          <a:solidFill>
            <a:srgbClr val="FBF1E1"/>
          </a:solidFill>
          <a:ln w="15875">
            <a:solidFill>
              <a:srgbClr val="B7791F"/>
            </a:solidFill>
            <a:prstDash val="solid"/>
          </a:ln>
        </p:spPr>
      </p:sp>
      <p:sp>
        <p:nvSpPr>
          <p:cNvPr id="17" name="Text 14"/>
          <p:cNvSpPr txBox="1"/>
          <p:nvPr/>
        </p:nvSpPr>
        <p:spPr>
          <a:xfrm>
            <a:off x="5303520" y="4782312"/>
            <a:ext cx="2103120" cy="365760"/>
          </a:xfrm>
          <a:prstGeom prst="rect">
            <a:avLst/>
          </a:prstGeom>
          <a:noFill/>
          <a:ln/>
        </p:spPr>
        <p:txBody>
          <a:bodyPr wrap="square" lIns="0" tIns="0" rIns="0" bIns="0" rtlCol="0" anchor="ctr"/>
          <a:lstStyle/>
          <a:p>
            <a:pPr algn="ctr" indent="0" marL="0">
              <a:buNone/>
            </a:pPr>
            <a:r>
              <a:rPr lang="en-US" sz="1700" b="1" dirty="0">
                <a:solidFill>
                  <a:srgbClr val="B7791F"/>
                </a:solidFill>
                <a:latin typeface="Calibri" pitchFamily="34" charset="0"/>
                <a:ea typeface="Calibri" pitchFamily="34" charset="-122"/>
                <a:cs typeface="Calibri" pitchFamily="34" charset="-120"/>
              </a:rPr>
              <a:t>Ngữ nghĩa</a:t>
            </a:r>
            <a:endParaRPr lang="en-US" sz="1700" dirty="0"/>
          </a:p>
        </p:txBody>
      </p:sp>
      <p:sp>
        <p:nvSpPr>
          <p:cNvPr id="18" name="Text 15"/>
          <p:cNvSpPr txBox="1"/>
          <p:nvPr/>
        </p:nvSpPr>
        <p:spPr>
          <a:xfrm>
            <a:off x="5303520" y="5166360"/>
            <a:ext cx="210312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AITeamVN, 154.176 đoạn</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gộp về điều bằng max</a:t>
            </a:r>
            <a:endParaRPr lang="en-US" sz="1250" dirty="0"/>
          </a:p>
        </p:txBody>
      </p:sp>
      <p:sp>
        <p:nvSpPr>
          <p:cNvPr id="19" name="Shape 16"/>
          <p:cNvSpPr/>
          <p:nvPr/>
        </p:nvSpPr>
        <p:spPr>
          <a:xfrm>
            <a:off x="8092440" y="3246120"/>
            <a:ext cx="1737360" cy="1143000"/>
          </a:xfrm>
          <a:prstGeom prst="rect">
            <a:avLst/>
          </a:prstGeom>
          <a:solidFill>
            <a:srgbClr val="E4F0EB"/>
          </a:solidFill>
          <a:ln w="15875">
            <a:solidFill>
              <a:srgbClr val="1B6E5A"/>
            </a:solidFill>
            <a:prstDash val="solid"/>
          </a:ln>
        </p:spPr>
      </p:sp>
      <p:sp>
        <p:nvSpPr>
          <p:cNvPr id="20" name="Text 17"/>
          <p:cNvSpPr txBox="1"/>
          <p:nvPr/>
        </p:nvSpPr>
        <p:spPr>
          <a:xfrm>
            <a:off x="8229600" y="3410712"/>
            <a:ext cx="1463040" cy="365760"/>
          </a:xfrm>
          <a:prstGeom prst="rect">
            <a:avLst/>
          </a:prstGeom>
          <a:noFill/>
          <a:ln/>
        </p:spPr>
        <p:txBody>
          <a:bodyPr wrap="square" lIns="0" tIns="0" rIns="0" bIns="0" rtlCol="0" anchor="ctr"/>
          <a:lstStyle/>
          <a:p>
            <a:pPr algn="ctr" indent="0" marL="0">
              <a:buNone/>
            </a:pPr>
            <a:r>
              <a:rPr lang="en-US" sz="1700" b="1" dirty="0">
                <a:solidFill>
                  <a:srgbClr val="1B6E5A"/>
                </a:solidFill>
                <a:latin typeface="Calibri" pitchFamily="34" charset="0"/>
                <a:ea typeface="Calibri" pitchFamily="34" charset="-122"/>
                <a:cs typeface="Calibri" pitchFamily="34" charset="-120"/>
              </a:rPr>
              <a:t>Hợp nhất</a:t>
            </a:r>
            <a:endParaRPr lang="en-US" sz="1700" dirty="0"/>
          </a:p>
        </p:txBody>
      </p:sp>
      <p:sp>
        <p:nvSpPr>
          <p:cNvPr id="21" name="Text 18"/>
          <p:cNvSpPr txBox="1"/>
          <p:nvPr/>
        </p:nvSpPr>
        <p:spPr>
          <a:xfrm>
            <a:off x="8229600" y="3794760"/>
            <a:ext cx="1463040"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trọng số</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alpha = 0,75</a:t>
            </a:r>
            <a:endParaRPr lang="en-US" sz="1250" dirty="0"/>
          </a:p>
        </p:txBody>
      </p:sp>
      <p:sp>
        <p:nvSpPr>
          <p:cNvPr id="22" name="Shape 19"/>
          <p:cNvSpPr/>
          <p:nvPr/>
        </p:nvSpPr>
        <p:spPr>
          <a:xfrm>
            <a:off x="10149840" y="3246120"/>
            <a:ext cx="1447495" cy="1143000"/>
          </a:xfrm>
          <a:prstGeom prst="rect">
            <a:avLst/>
          </a:prstGeom>
          <a:solidFill>
            <a:srgbClr val="FFFFFF"/>
          </a:solidFill>
          <a:ln w="15875">
            <a:solidFill>
              <a:srgbClr val="77858E"/>
            </a:solidFill>
            <a:prstDash val="solid"/>
          </a:ln>
        </p:spPr>
      </p:sp>
      <p:sp>
        <p:nvSpPr>
          <p:cNvPr id="23" name="Text 20"/>
          <p:cNvSpPr txBox="1"/>
          <p:nvPr/>
        </p:nvSpPr>
        <p:spPr>
          <a:xfrm>
            <a:off x="10287000" y="3410712"/>
            <a:ext cx="1173175" cy="365760"/>
          </a:xfrm>
          <a:prstGeom prst="rect">
            <a:avLst/>
          </a:prstGeom>
          <a:noFill/>
          <a:ln/>
        </p:spPr>
        <p:txBody>
          <a:bodyPr wrap="square" lIns="0" tIns="0" rIns="0" bIns="0" rtlCol="0" anchor="ctr"/>
          <a:lstStyle/>
          <a:p>
            <a:pPr algn="ctr" indent="0" marL="0">
              <a:buNone/>
            </a:pPr>
            <a:r>
              <a:rPr lang="en-US" sz="1700" b="1" dirty="0">
                <a:solidFill>
                  <a:srgbClr val="16222C"/>
                </a:solidFill>
                <a:latin typeface="Calibri" pitchFamily="34" charset="0"/>
                <a:ea typeface="Calibri" pitchFamily="34" charset="-122"/>
                <a:cs typeface="Calibri" pitchFamily="34" charset="-120"/>
              </a:rPr>
              <a:t>Điều luật</a:t>
            </a:r>
            <a:endParaRPr lang="en-US" sz="1700" dirty="0"/>
          </a:p>
        </p:txBody>
      </p:sp>
      <p:sp>
        <p:nvSpPr>
          <p:cNvPr id="24" name="Text 21"/>
          <p:cNvSpPr txBox="1"/>
          <p:nvPr/>
        </p:nvSpPr>
        <p:spPr>
          <a:xfrm>
            <a:off x="10287000" y="3794760"/>
            <a:ext cx="1173175" cy="502920"/>
          </a:xfrm>
          <a:prstGeom prst="rect">
            <a:avLst/>
          </a:prstGeom>
          <a:noFill/>
          <a:ln/>
        </p:spPr>
        <p:txBody>
          <a:bodyPr wrap="square" lIns="0" tIns="0" rIns="0" bIns="0" rtlCol="0" anchor="t"/>
          <a:lstStyle/>
          <a:p>
            <a:pPr algn="ctr" indent="0" marL="0">
              <a:buNone/>
            </a:pPr>
            <a:r>
              <a:rPr lang="en-US" sz="1250" dirty="0">
                <a:solidFill>
                  <a:srgbClr val="46545F"/>
                </a:solidFill>
                <a:latin typeface="Calibri" pitchFamily="34" charset="0"/>
                <a:ea typeface="Calibri" pitchFamily="34" charset="-122"/>
                <a:cs typeface="Calibri" pitchFamily="34" charset="-120"/>
              </a:rPr>
              <a:t>trích nguyên văn</a:t>
            </a:r>
            <a:endParaRPr lang="en-US" sz="1250" dirty="0"/>
          </a:p>
          <a:p>
            <a:pPr algn="ctr" indent="0" marL="0">
              <a:buNone/>
            </a:pPr>
            <a:r>
              <a:rPr lang="en-US" sz="1250" dirty="0">
                <a:solidFill>
                  <a:srgbClr val="46545F"/>
                </a:solidFill>
                <a:latin typeface="Calibri" pitchFamily="34" charset="0"/>
                <a:ea typeface="Calibri" pitchFamily="34" charset="-122"/>
                <a:cs typeface="Calibri" pitchFamily="34" charset="-120"/>
              </a:rPr>
              <a:t>khoản luật</a:t>
            </a:r>
            <a:endParaRPr lang="en-US" sz="1250" dirty="0"/>
          </a:p>
        </p:txBody>
      </p:sp>
      <p:sp>
        <p:nvSpPr>
          <p:cNvPr id="25" name="Shape 22"/>
          <p:cNvSpPr/>
          <p:nvPr/>
        </p:nvSpPr>
        <p:spPr>
          <a:xfrm>
            <a:off x="2194560" y="3817620"/>
            <a:ext cx="411480" cy="914"/>
          </a:xfrm>
          <a:prstGeom prst="line">
            <a:avLst/>
          </a:prstGeom>
          <a:noFill/>
          <a:ln w="22225">
            <a:solidFill>
              <a:srgbClr val="77858E"/>
            </a:solidFill>
            <a:prstDash val="solid"/>
            <a:tailEnd type="triangle"/>
          </a:ln>
        </p:spPr>
      </p:sp>
      <p:sp>
        <p:nvSpPr>
          <p:cNvPr id="26" name="Shape 23"/>
          <p:cNvSpPr/>
          <p:nvPr/>
        </p:nvSpPr>
        <p:spPr>
          <a:xfrm flipV="1">
            <a:off x="4617720" y="2446020"/>
            <a:ext cx="548640" cy="1188720"/>
          </a:xfrm>
          <a:prstGeom prst="line">
            <a:avLst/>
          </a:prstGeom>
          <a:noFill/>
          <a:ln w="22225">
            <a:solidFill>
              <a:srgbClr val="77858E"/>
            </a:solidFill>
            <a:prstDash val="solid"/>
            <a:tailEnd type="triangle"/>
          </a:ln>
        </p:spPr>
      </p:sp>
      <p:sp>
        <p:nvSpPr>
          <p:cNvPr id="27" name="Shape 24"/>
          <p:cNvSpPr/>
          <p:nvPr/>
        </p:nvSpPr>
        <p:spPr>
          <a:xfrm>
            <a:off x="4617720" y="4000500"/>
            <a:ext cx="548640" cy="1188720"/>
          </a:xfrm>
          <a:prstGeom prst="line">
            <a:avLst/>
          </a:prstGeom>
          <a:noFill/>
          <a:ln w="22225">
            <a:solidFill>
              <a:srgbClr val="77858E"/>
            </a:solidFill>
            <a:prstDash val="solid"/>
            <a:tailEnd type="triangle"/>
          </a:ln>
        </p:spPr>
      </p:sp>
      <p:sp>
        <p:nvSpPr>
          <p:cNvPr id="28" name="Shape 25"/>
          <p:cNvSpPr/>
          <p:nvPr/>
        </p:nvSpPr>
        <p:spPr>
          <a:xfrm>
            <a:off x="7543800" y="2446020"/>
            <a:ext cx="548640" cy="1188720"/>
          </a:xfrm>
          <a:prstGeom prst="line">
            <a:avLst/>
          </a:prstGeom>
          <a:noFill/>
          <a:ln w="22225">
            <a:solidFill>
              <a:srgbClr val="77858E"/>
            </a:solidFill>
            <a:prstDash val="solid"/>
            <a:tailEnd type="triangle"/>
          </a:ln>
        </p:spPr>
      </p:sp>
      <p:sp>
        <p:nvSpPr>
          <p:cNvPr id="29" name="Shape 26"/>
          <p:cNvSpPr/>
          <p:nvPr/>
        </p:nvSpPr>
        <p:spPr>
          <a:xfrm flipV="1">
            <a:off x="7543800" y="4000500"/>
            <a:ext cx="548640" cy="1188720"/>
          </a:xfrm>
          <a:prstGeom prst="line">
            <a:avLst/>
          </a:prstGeom>
          <a:noFill/>
          <a:ln w="22225">
            <a:solidFill>
              <a:srgbClr val="77858E"/>
            </a:solidFill>
            <a:prstDash val="solid"/>
            <a:tailEnd type="triangle"/>
          </a:ln>
        </p:spPr>
      </p:sp>
      <p:sp>
        <p:nvSpPr>
          <p:cNvPr id="30" name="Shape 27"/>
          <p:cNvSpPr/>
          <p:nvPr/>
        </p:nvSpPr>
        <p:spPr>
          <a:xfrm>
            <a:off x="9829800" y="3817620"/>
            <a:ext cx="320040" cy="914"/>
          </a:xfrm>
          <a:prstGeom prst="line">
            <a:avLst/>
          </a:prstGeom>
          <a:noFill/>
          <a:ln w="22225">
            <a:solidFill>
              <a:srgbClr val="77858E"/>
            </a:solidFill>
            <a:prstDash val="solid"/>
            <a:tailEnd type="triangle"/>
          </a:ln>
        </p:spPr>
      </p:sp>
      <p:sp>
        <p:nvSpPr>
          <p:cNvPr id="31" name="Text 28"/>
          <p:cNvSpPr txBox="1"/>
          <p:nvPr/>
        </p:nvSpPr>
        <p:spPr>
          <a:xfrm>
            <a:off x="4937760" y="1554480"/>
            <a:ext cx="2834640" cy="274320"/>
          </a:xfrm>
          <a:prstGeom prst="rect">
            <a:avLst/>
          </a:prstGeom>
          <a:noFill/>
          <a:ln/>
        </p:spPr>
        <p:txBody>
          <a:bodyPr wrap="square" lIns="0" tIns="0" rIns="0" bIns="0" rtlCol="0" anchor="ctr"/>
          <a:lstStyle/>
          <a:p>
            <a:pPr algn="ctr" indent="0" marL="0">
              <a:buNone/>
            </a:pPr>
            <a:r>
              <a:rPr lang="en-US" sz="1250" i="1" dirty="0">
                <a:solidFill>
                  <a:srgbClr val="2C5F8A"/>
                </a:solidFill>
                <a:latin typeface="Calibri" pitchFamily="34" charset="0"/>
                <a:ea typeface="Calibri" pitchFamily="34" charset="-122"/>
                <a:cs typeface="Calibri" pitchFamily="34" charset="-120"/>
              </a:rPr>
              <a:t>bắt đúng số hiệu, thuật ngữ, con số</a:t>
            </a:r>
            <a:endParaRPr lang="en-US" sz="1250" dirty="0"/>
          </a:p>
        </p:txBody>
      </p:sp>
      <p:sp>
        <p:nvSpPr>
          <p:cNvPr id="32" name="Text 29"/>
          <p:cNvSpPr txBox="1"/>
          <p:nvPr/>
        </p:nvSpPr>
        <p:spPr>
          <a:xfrm>
            <a:off x="4937760" y="5806440"/>
            <a:ext cx="2834640" cy="274320"/>
          </a:xfrm>
          <a:prstGeom prst="rect">
            <a:avLst/>
          </a:prstGeom>
          <a:noFill/>
          <a:ln/>
        </p:spPr>
        <p:txBody>
          <a:bodyPr wrap="square" lIns="0" tIns="0" rIns="0" bIns="0" rtlCol="0" anchor="ctr"/>
          <a:lstStyle/>
          <a:p>
            <a:pPr algn="ctr" indent="0" marL="0">
              <a:buNone/>
            </a:pPr>
            <a:r>
              <a:rPr lang="en-US" sz="1250" i="1" dirty="0">
                <a:solidFill>
                  <a:srgbClr val="B7791F"/>
                </a:solidFill>
                <a:latin typeface="Calibri" pitchFamily="34" charset="0"/>
                <a:ea typeface="Calibri" pitchFamily="34" charset="-122"/>
                <a:cs typeface="Calibri" pitchFamily="34" charset="-120"/>
              </a:rPr>
              <a:t>bắt được cách diễn đạt khác</a:t>
            </a:r>
            <a:endParaRPr lang="en-US" sz="1250" dirty="0"/>
          </a:p>
        </p:txBody>
      </p:sp>
      <p:sp>
        <p:nvSpPr>
          <p:cNvPr id="33" name="Text 30"/>
          <p:cNvSpPr txBox="1"/>
          <p:nvPr/>
        </p:nvSpPr>
        <p:spPr>
          <a:xfrm>
            <a:off x="8092440" y="4937760"/>
            <a:ext cx="3504895" cy="731520"/>
          </a:xfrm>
          <a:prstGeom prst="rect">
            <a:avLst/>
          </a:prstGeom>
          <a:noFill/>
          <a:ln/>
        </p:spPr>
        <p:txBody>
          <a:bodyPr wrap="square" lIns="0" tIns="0" rIns="0" bIns="0" rtlCol="0" anchor="t"/>
          <a:lstStyle/>
          <a:p>
            <a:pPr indent="0" marL="0">
              <a:buNone/>
            </a:pPr>
            <a:r>
              <a:rPr lang="en-US" sz="1300" dirty="0">
                <a:solidFill>
                  <a:srgbClr val="77858E"/>
                </a:solidFill>
                <a:latin typeface="Calibri" pitchFamily="34" charset="0"/>
                <a:ea typeface="Calibri" pitchFamily="34" charset="-122"/>
                <a:cs typeface="Calibri" pitchFamily="34" charset="-120"/>
              </a:rPr>
              <a:t>Chốt trên val: k1 = 0,6, b = 0,9, lambda = 0,9.</a:t>
            </a:r>
            <a:endParaRPr lang="en-US" sz="1300" dirty="0"/>
          </a:p>
          <a:p>
            <a:pPr indent="0" marL="0">
              <a:buNone/>
            </a:pPr>
            <a:r>
              <a:rPr lang="en-US" sz="1300" dirty="0">
                <a:solidFill>
                  <a:srgbClr val="77858E"/>
                </a:solidFill>
                <a:latin typeface="Calibri" pitchFamily="34" charset="0"/>
                <a:ea typeface="Calibri" pitchFamily="34" charset="-122"/>
                <a:cs typeface="Calibri" pitchFamily="34" charset="-120"/>
              </a:rPr>
              <a:t>Tập test chỉ chạy một lần.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PHƯƠNG PHÁP  ·  09</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61% điều luật dài hơn giới hạn của mô hình, nên phải chia đoạn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09 / 16</a:t>
            </a:r>
            <a:endParaRPr lang="en-US" sz="1000" dirty="0"/>
          </a:p>
        </p:txBody>
      </p:sp>
      <p:graphicFrame>
        <p:nvGraphicFramePr>
          <p:cNvPr id="7" name="Chart 0" descr=""/>
          <p:cNvGraphicFramePr/>
          <p:nvPr/>
        </p:nvGraphicFramePr>
        <p:xfrm>
          <a:off x="594360" y="164592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503920" y="1828800"/>
            <a:ext cx="3093415" cy="731520"/>
          </a:xfrm>
          <a:prstGeom prst="rect">
            <a:avLst/>
          </a:prstGeom>
          <a:noFill/>
          <a:ln/>
        </p:spPr>
        <p:txBody>
          <a:bodyPr wrap="square" lIns="0" tIns="0" rIns="0" bIns="0" rtlCol="0" anchor="ctr"/>
          <a:lstStyle/>
          <a:p>
            <a:pPr indent="0" marL="0">
              <a:buNone/>
            </a:pPr>
            <a:r>
              <a:rPr lang="en-US" sz="4800" b="1" dirty="0">
                <a:solidFill>
                  <a:srgbClr val="A8202B"/>
                </a:solidFill>
                <a:latin typeface="Cambria" pitchFamily="34" charset="0"/>
                <a:ea typeface="Cambria" pitchFamily="34" charset="-122"/>
                <a:cs typeface="Cambria" pitchFamily="34" charset="-120"/>
              </a:rPr>
              <a:t>61,1%</a:t>
            </a:r>
            <a:endParaRPr lang="en-US" sz="4800" dirty="0"/>
          </a:p>
        </p:txBody>
      </p:sp>
      <p:sp>
        <p:nvSpPr>
          <p:cNvPr id="9" name="Text 5"/>
          <p:cNvSpPr txBox="1"/>
          <p:nvPr/>
        </p:nvSpPr>
        <p:spPr>
          <a:xfrm>
            <a:off x="8503920" y="2615184"/>
            <a:ext cx="3093415"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điều luật dài hơn 256 token (khoảng 140 từ)</a:t>
            </a:r>
            <a:endParaRPr lang="en-US" sz="1300" dirty="0"/>
          </a:p>
        </p:txBody>
      </p:sp>
      <p:sp>
        <p:nvSpPr>
          <p:cNvPr id="10" name="Text 6"/>
          <p:cNvSpPr txBox="1"/>
          <p:nvPr/>
        </p:nvSpPr>
        <p:spPr>
          <a:xfrm>
            <a:off x="8503920" y="3429000"/>
            <a:ext cx="3093415" cy="1234440"/>
          </a:xfrm>
          <a:prstGeom prst="rect">
            <a:avLst/>
          </a:prstGeom>
          <a:noFill/>
          <a:ln/>
        </p:spPr>
        <p:txBody>
          <a:bodyPr wrap="square" lIns="0" tIns="0" rIns="0" bIns="0" rtlCol="0" anchor="t"/>
          <a:lstStyle/>
          <a:p>
            <a:pPr indent="0" marL="0">
              <a:buNone/>
            </a:pPr>
            <a:r>
              <a:rPr lang="en-US" sz="2400" b="1" dirty="0">
                <a:solidFill>
                  <a:srgbClr val="16222C"/>
                </a:solidFill>
                <a:latin typeface="Cambria" pitchFamily="34" charset="0"/>
                <a:ea typeface="Cambria" pitchFamily="34" charset="-122"/>
                <a:cs typeface="Cambria" pitchFamily="34" charset="-120"/>
              </a:rPr>
              <a:t>61.425</a:t>
            </a:r>
            <a:pPr indent="0" marL="0">
              <a:buNone/>
            </a:pPr>
            <a:r>
              <a:rPr lang="en-US" sz="2400" dirty="0">
                <a:solidFill>
                  <a:srgbClr val="16222C"/>
                </a:solidFill>
                <a:latin typeface="Cambria" pitchFamily="34" charset="0"/>
                <a:ea typeface="Cambria" pitchFamily="34" charset="-122"/>
                <a:cs typeface="Cambria" pitchFamily="34" charset="-120"/>
              </a:rPr>
              <a:t> điều</a:t>
            </a:r>
            <a:endParaRPr lang="en-US" sz="2400" dirty="0"/>
          </a:p>
          <a:p>
            <a:pPr indent="0" marL="0">
              <a:buNone/>
            </a:pPr>
            <a:r>
              <a:rPr lang="en-US" sz="2400" dirty="0">
                <a:solidFill>
                  <a:srgbClr val="77858E"/>
                </a:solidFill>
                <a:latin typeface="Cambria" pitchFamily="34" charset="0"/>
                <a:ea typeface="Cambria" pitchFamily="34" charset="-122"/>
                <a:cs typeface="Cambria" pitchFamily="34" charset="-120"/>
              </a:rPr>
              <a:t>↓</a:t>
            </a:r>
            <a:endParaRPr lang="en-US" sz="2400" dirty="0"/>
          </a:p>
          <a:p>
            <a:pPr indent="0" marL="0">
              <a:buNone/>
            </a:pPr>
            <a:r>
              <a:rPr lang="en-US" sz="2400" b="1" dirty="0">
                <a:solidFill>
                  <a:srgbClr val="16222C"/>
                </a:solidFill>
                <a:latin typeface="Cambria" pitchFamily="34" charset="0"/>
                <a:ea typeface="Cambria" pitchFamily="34" charset="-122"/>
                <a:cs typeface="Cambria" pitchFamily="34" charset="-120"/>
              </a:rPr>
              <a:t>154.176</a:t>
            </a:r>
            <a:pPr indent="0" marL="0">
              <a:buNone/>
            </a:pPr>
            <a:r>
              <a:rPr lang="en-US" sz="2400" dirty="0">
                <a:solidFill>
                  <a:srgbClr val="16222C"/>
                </a:solidFill>
                <a:latin typeface="Cambria" pitchFamily="34" charset="0"/>
                <a:ea typeface="Cambria" pitchFamily="34" charset="-122"/>
                <a:cs typeface="Cambria" pitchFamily="34" charset="-120"/>
              </a:rPr>
              <a:t> đoạn</a:t>
            </a:r>
            <a:endParaRPr lang="en-US" sz="2400" dirty="0"/>
          </a:p>
        </p:txBody>
      </p:sp>
      <p:sp>
        <p:nvSpPr>
          <p:cNvPr id="11" name="Text 7"/>
          <p:cNvSpPr txBox="1"/>
          <p:nvPr/>
        </p:nvSpPr>
        <p:spPr>
          <a:xfrm>
            <a:off x="8503920" y="4754880"/>
            <a:ext cx="3093415" cy="822960"/>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Cắt theo ranh giới khoản, khoản quá dài mới trượt cửa sổ. Mỗi đoạn mang tiêu đề điều.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CH1  ·  CÂU CÓ DẤU  ·  10</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Trên câu có dấu, hợp nhất chỉ hơn ngữ nghĩa 0,51 điểm Recall@10</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10 / 16</a:t>
            </a:r>
            <a:endParaRPr lang="en-US" sz="1000" dirty="0"/>
          </a:p>
        </p:txBody>
      </p:sp>
      <p:graphicFrame>
        <p:nvGraphicFramePr>
          <p:cNvPr id="7" name="Chart 0" descr=""/>
          <p:cNvGraphicFramePr/>
          <p:nvPr/>
        </p:nvGraphicFramePr>
        <p:xfrm>
          <a:off x="594360" y="1645920"/>
          <a:ext cx="7406640" cy="43434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458200" y="1828800"/>
            <a:ext cx="3139135" cy="822960"/>
          </a:xfrm>
          <a:prstGeom prst="rect">
            <a:avLst/>
          </a:prstGeom>
          <a:noFill/>
          <a:ln/>
        </p:spPr>
        <p:txBody>
          <a:bodyPr wrap="square" lIns="0" tIns="0" rIns="0" bIns="0" rtlCol="0" anchor="ctr"/>
          <a:lstStyle/>
          <a:p>
            <a:pPr indent="0" marL="0">
              <a:buNone/>
            </a:pPr>
            <a:r>
              <a:rPr lang="en-US" sz="5400" b="1" dirty="0">
                <a:solidFill>
                  <a:srgbClr val="2C5F8A"/>
                </a:solidFill>
                <a:latin typeface="Cambria" pitchFamily="34" charset="0"/>
                <a:ea typeface="Cambria" pitchFamily="34" charset="-122"/>
                <a:cs typeface="Cambria" pitchFamily="34" charset="-120"/>
              </a:rPr>
              <a:t>+0,51</a:t>
            </a:r>
            <a:endParaRPr lang="en-US" sz="5400" dirty="0"/>
          </a:p>
        </p:txBody>
      </p:sp>
      <p:sp>
        <p:nvSpPr>
          <p:cNvPr id="9" name="Text 5"/>
          <p:cNvSpPr txBox="1"/>
          <p:nvPr/>
        </p:nvSpPr>
        <p:spPr>
          <a:xfrm>
            <a:off x="8458200" y="2706624"/>
            <a:ext cx="3139135"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điểm Recall@10 của hợp nhất so với ngữ nghĩa thuần</a:t>
            </a:r>
            <a:endParaRPr lang="en-US" sz="1300" dirty="0"/>
          </a:p>
        </p:txBody>
      </p:sp>
      <p:sp>
        <p:nvSpPr>
          <p:cNvPr id="10" name="Text 6"/>
          <p:cNvSpPr txBox="1"/>
          <p:nvPr/>
        </p:nvSpPr>
        <p:spPr>
          <a:xfrm>
            <a:off x="8458200" y="3429000"/>
            <a:ext cx="3139135" cy="594360"/>
          </a:xfrm>
          <a:prstGeom prst="rect">
            <a:avLst/>
          </a:prstGeom>
          <a:noFill/>
          <a:ln/>
        </p:spPr>
        <p:txBody>
          <a:bodyPr wrap="square" lIns="0" tIns="0" rIns="0" bIns="0" rtlCol="0" anchor="t"/>
          <a:lstStyle/>
          <a:p>
            <a:pPr indent="0" marL="0">
              <a:buNone/>
            </a:pPr>
            <a:r>
              <a:rPr lang="en-US" sz="1400" dirty="0">
                <a:solidFill>
                  <a:srgbClr val="16222C"/>
                </a:solidFill>
                <a:latin typeface="Calibri" pitchFamily="34" charset="0"/>
                <a:ea typeface="Calibri" pitchFamily="34" charset="-122"/>
                <a:cs typeface="Calibri" pitchFamily="34" charset="-120"/>
              </a:rPr>
              <a:t>tức 4 câu trên 788 có gold lọt vào top-10 nhờ hợp nhất</a:t>
            </a:r>
            <a:endParaRPr lang="en-US" sz="1400" dirty="0"/>
          </a:p>
        </p:txBody>
      </p:sp>
      <p:sp>
        <p:nvSpPr>
          <p:cNvPr id="11" name="Text 7"/>
          <p:cNvSpPr txBox="1"/>
          <p:nvPr/>
        </p:nvSpPr>
        <p:spPr>
          <a:xfrm>
            <a:off x="8458200" y="4160520"/>
            <a:ext cx="3139135" cy="594360"/>
          </a:xfrm>
          <a:prstGeom prst="rect">
            <a:avLst/>
          </a:prstGeom>
          <a:noFill/>
          <a:ln/>
        </p:spPr>
        <p:txBody>
          <a:bodyPr wrap="square" lIns="0" tIns="0" rIns="0" bIns="0" rtlCol="0" anchor="t"/>
          <a:lstStyle/>
          <a:p>
            <a:pPr indent="0" marL="0">
              <a:buNone/>
            </a:pPr>
            <a:r>
              <a:rPr lang="en-US" sz="1400" dirty="0">
                <a:solidFill>
                  <a:srgbClr val="A8202B"/>
                </a:solidFill>
                <a:latin typeface="Calibri" pitchFamily="34" charset="0"/>
                <a:ea typeface="Calibri" pitchFamily="34" charset="-122"/>
                <a:cs typeface="Calibri" pitchFamily="34" charset="-120"/>
              </a:rPr>
              <a:t>RRF còn kém ngữ nghĩa ở Recall@1: 0,6701 so với 0,7811</a:t>
            </a:r>
            <a:endParaRPr lang="en-US" sz="1400" dirty="0"/>
          </a:p>
        </p:txBody>
      </p:sp>
      <p:sp>
        <p:nvSpPr>
          <p:cNvPr id="12" name="Text 8"/>
          <p:cNvSpPr txBox="1"/>
          <p:nvPr/>
        </p:nvSpPr>
        <p:spPr>
          <a:xfrm>
            <a:off x="8458200" y="4983480"/>
            <a:ext cx="3139135" cy="594360"/>
          </a:xfrm>
          <a:prstGeom prst="rect">
            <a:avLst/>
          </a:prstGeom>
          <a:noFill/>
          <a:ln/>
        </p:spPr>
        <p:txBody>
          <a:bodyPr wrap="square" lIns="0" tIns="0" rIns="0" bIns="0" rtlCol="0" anchor="t"/>
          <a:lstStyle/>
          <a:p>
            <a:pPr indent="0" marL="0">
              <a:buNone/>
            </a:pPr>
            <a:r>
              <a:rPr lang="en-US" sz="1250" i="1" dirty="0">
                <a:solidFill>
                  <a:srgbClr val="77858E"/>
                </a:solidFill>
                <a:latin typeface="Calibri" pitchFamily="34" charset="0"/>
                <a:ea typeface="Calibri" pitchFamily="34" charset="-122"/>
                <a:cs typeface="Calibri" pitchFamily="34" charset="-120"/>
              </a:rPr>
              <a:t>Chỉ so hệ sạch. bkai đạt cao hơn nhưng đã học tập test.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CH1  ·  CÂU CÓ DẤU  ·  11</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BM25 chỉ cứu thêm 3 câu, nhưng nhanh hơn khoảng 700 lần</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11 / 16</a:t>
            </a:r>
            <a:endParaRPr lang="en-US" sz="1000" dirty="0"/>
          </a:p>
        </p:txBody>
      </p:sp>
      <p:sp>
        <p:nvSpPr>
          <p:cNvPr id="7" name="Shape 4"/>
          <p:cNvSpPr/>
          <p:nvPr/>
        </p:nvSpPr>
        <p:spPr>
          <a:xfrm>
            <a:off x="1417320" y="2011680"/>
            <a:ext cx="3383280" cy="3383280"/>
          </a:xfrm>
          <a:prstGeom prst="ellipse">
            <a:avLst/>
          </a:prstGeom>
          <a:solidFill>
            <a:srgbClr val="2C5F8A">
              <a:alpha val="28000"/>
            </a:srgbClr>
          </a:solidFill>
          <a:ln w="19050">
            <a:solidFill>
              <a:srgbClr val="2C5F8A"/>
            </a:solidFill>
            <a:prstDash val="solid"/>
          </a:ln>
        </p:spPr>
      </p:sp>
      <p:sp>
        <p:nvSpPr>
          <p:cNvPr id="8" name="Shape 5"/>
          <p:cNvSpPr/>
          <p:nvPr/>
        </p:nvSpPr>
        <p:spPr>
          <a:xfrm>
            <a:off x="3611880" y="2011680"/>
            <a:ext cx="3383280" cy="3383280"/>
          </a:xfrm>
          <a:prstGeom prst="ellipse">
            <a:avLst/>
          </a:prstGeom>
          <a:solidFill>
            <a:srgbClr val="B7791F">
              <a:alpha val="28000"/>
            </a:srgbClr>
          </a:solidFill>
          <a:ln w="19050">
            <a:solidFill>
              <a:srgbClr val="B7791F"/>
            </a:solidFill>
            <a:prstDash val="solid"/>
          </a:ln>
        </p:spPr>
      </p:sp>
      <p:sp>
        <p:nvSpPr>
          <p:cNvPr id="9" name="Text 6"/>
          <p:cNvSpPr txBox="1"/>
          <p:nvPr/>
        </p:nvSpPr>
        <p:spPr>
          <a:xfrm>
            <a:off x="1417320" y="1600200"/>
            <a:ext cx="2011680" cy="320040"/>
          </a:xfrm>
          <a:prstGeom prst="rect">
            <a:avLst/>
          </a:prstGeom>
          <a:noFill/>
          <a:ln/>
        </p:spPr>
        <p:txBody>
          <a:bodyPr wrap="square" lIns="0" tIns="0" rIns="0" bIns="0" rtlCol="0" anchor="ctr"/>
          <a:lstStyle/>
          <a:p>
            <a:pPr indent="0" marL="0">
              <a:buNone/>
            </a:pPr>
            <a:r>
              <a:rPr lang="en-US" sz="1500" b="1" dirty="0">
                <a:solidFill>
                  <a:srgbClr val="2C5F8A"/>
                </a:solidFill>
                <a:latin typeface="Calibri" pitchFamily="34" charset="0"/>
                <a:ea typeface="Calibri" pitchFamily="34" charset="-122"/>
                <a:cs typeface="Calibri" pitchFamily="34" charset="-120"/>
              </a:rPr>
              <a:t>BM25 đúng</a:t>
            </a:r>
            <a:endParaRPr lang="en-US" sz="1500" dirty="0"/>
          </a:p>
        </p:txBody>
      </p:sp>
      <p:sp>
        <p:nvSpPr>
          <p:cNvPr id="10" name="Text 7"/>
          <p:cNvSpPr txBox="1"/>
          <p:nvPr/>
        </p:nvSpPr>
        <p:spPr>
          <a:xfrm>
            <a:off x="4800600" y="1600200"/>
            <a:ext cx="2194560" cy="320040"/>
          </a:xfrm>
          <a:prstGeom prst="rect">
            <a:avLst/>
          </a:prstGeom>
          <a:noFill/>
          <a:ln/>
        </p:spPr>
        <p:txBody>
          <a:bodyPr wrap="square" lIns="0" tIns="0" rIns="0" bIns="0" rtlCol="0" anchor="ctr"/>
          <a:lstStyle/>
          <a:p>
            <a:pPr algn="r" indent="0" marL="0">
              <a:buNone/>
            </a:pPr>
            <a:r>
              <a:rPr lang="en-US" sz="1500" b="1" dirty="0">
                <a:solidFill>
                  <a:srgbClr val="B7791F"/>
                </a:solidFill>
                <a:latin typeface="Calibri" pitchFamily="34" charset="0"/>
                <a:ea typeface="Calibri" pitchFamily="34" charset="-122"/>
                <a:cs typeface="Calibri" pitchFamily="34" charset="-120"/>
              </a:rPr>
              <a:t>Ngữ nghĩa đúng</a:t>
            </a:r>
            <a:endParaRPr lang="en-US" sz="1500" dirty="0"/>
          </a:p>
        </p:txBody>
      </p:sp>
      <p:sp>
        <p:nvSpPr>
          <p:cNvPr id="11" name="Text 8"/>
          <p:cNvSpPr txBox="1"/>
          <p:nvPr/>
        </p:nvSpPr>
        <p:spPr>
          <a:xfrm>
            <a:off x="1645920" y="3337560"/>
            <a:ext cx="1280160" cy="731520"/>
          </a:xfrm>
          <a:prstGeom prst="rect">
            <a:avLst/>
          </a:prstGeom>
          <a:noFill/>
          <a:ln/>
        </p:spPr>
        <p:txBody>
          <a:bodyPr wrap="square" lIns="0" tIns="0" rIns="0" bIns="0" rtlCol="0" anchor="ctr"/>
          <a:lstStyle/>
          <a:p>
            <a:pPr algn="ctr" indent="0" marL="0">
              <a:buNone/>
            </a:pPr>
            <a:r>
              <a:rPr lang="en-US" sz="4000" b="1" dirty="0">
                <a:solidFill>
                  <a:srgbClr val="A8202B"/>
                </a:solidFill>
                <a:latin typeface="Cambria" pitchFamily="34" charset="0"/>
                <a:ea typeface="Cambria" pitchFamily="34" charset="-122"/>
                <a:cs typeface="Cambria" pitchFamily="34" charset="-120"/>
              </a:rPr>
              <a:t>3</a:t>
            </a:r>
            <a:endParaRPr lang="en-US" sz="4000" dirty="0"/>
          </a:p>
        </p:txBody>
      </p:sp>
      <p:sp>
        <p:nvSpPr>
          <p:cNvPr id="12" name="Text 9"/>
          <p:cNvSpPr txBox="1"/>
          <p:nvPr/>
        </p:nvSpPr>
        <p:spPr>
          <a:xfrm>
            <a:off x="3611880" y="3337560"/>
            <a:ext cx="1188720" cy="731520"/>
          </a:xfrm>
          <a:prstGeom prst="rect">
            <a:avLst/>
          </a:prstGeom>
          <a:noFill/>
          <a:ln/>
        </p:spPr>
        <p:txBody>
          <a:bodyPr wrap="square" lIns="0" tIns="0" rIns="0" bIns="0" rtlCol="0" anchor="ctr"/>
          <a:lstStyle/>
          <a:p>
            <a:pPr algn="ctr" indent="0" marL="0">
              <a:buNone/>
            </a:pPr>
            <a:r>
              <a:rPr lang="en-US" sz="3400" b="1" dirty="0">
                <a:solidFill>
                  <a:srgbClr val="16222C"/>
                </a:solidFill>
                <a:latin typeface="Cambria" pitchFamily="34" charset="0"/>
                <a:ea typeface="Cambria" pitchFamily="34" charset="-122"/>
                <a:cs typeface="Cambria" pitchFamily="34" charset="-120"/>
              </a:rPr>
              <a:t>669</a:t>
            </a:r>
            <a:endParaRPr lang="en-US" sz="3400" dirty="0"/>
          </a:p>
        </p:txBody>
      </p:sp>
      <p:sp>
        <p:nvSpPr>
          <p:cNvPr id="13" name="Text 10"/>
          <p:cNvSpPr txBox="1"/>
          <p:nvPr/>
        </p:nvSpPr>
        <p:spPr>
          <a:xfrm>
            <a:off x="4846320" y="3337560"/>
            <a:ext cx="2011680" cy="731520"/>
          </a:xfrm>
          <a:prstGeom prst="rect">
            <a:avLst/>
          </a:prstGeom>
          <a:noFill/>
          <a:ln/>
        </p:spPr>
        <p:txBody>
          <a:bodyPr wrap="square" lIns="0" tIns="0" rIns="0" bIns="0" rtlCol="0" anchor="ctr"/>
          <a:lstStyle/>
          <a:p>
            <a:pPr algn="ctr" indent="0" marL="0">
              <a:buNone/>
            </a:pPr>
            <a:r>
              <a:rPr lang="en-US" sz="3400" b="1" dirty="0">
                <a:solidFill>
                  <a:srgbClr val="16222C"/>
                </a:solidFill>
                <a:latin typeface="Cambria" pitchFamily="34" charset="0"/>
                <a:ea typeface="Cambria" pitchFamily="34" charset="-122"/>
                <a:cs typeface="Cambria" pitchFamily="34" charset="-120"/>
              </a:rPr>
              <a:t>98</a:t>
            </a:r>
            <a:endParaRPr lang="en-US" sz="3400" dirty="0"/>
          </a:p>
        </p:txBody>
      </p:sp>
      <p:sp>
        <p:nvSpPr>
          <p:cNvPr id="14" name="Text 11"/>
          <p:cNvSpPr txBox="1"/>
          <p:nvPr/>
        </p:nvSpPr>
        <p:spPr>
          <a:xfrm>
            <a:off x="1417320" y="5532120"/>
            <a:ext cx="5669280" cy="320040"/>
          </a:xfrm>
          <a:prstGeom prst="rect">
            <a:avLst/>
          </a:prstGeom>
          <a:noFill/>
          <a:ln/>
        </p:spPr>
        <p:txBody>
          <a:bodyPr wrap="square" lIns="0" tIns="0" rIns="0" bIns="0" rtlCol="0" anchor="ctr"/>
          <a:lstStyle/>
          <a:p>
            <a:pPr indent="0" marL="0">
              <a:buNone/>
            </a:pPr>
            <a:r>
              <a:rPr lang="en-US" sz="1300" dirty="0">
                <a:solidFill>
                  <a:srgbClr val="77858E"/>
                </a:solidFill>
                <a:latin typeface="Calibri" pitchFamily="34" charset="0"/>
                <a:ea typeface="Calibri" pitchFamily="34" charset="-122"/>
                <a:cs typeface="Calibri" pitchFamily="34" charset="-120"/>
              </a:rPr>
              <a:t>Cả hai sai: 18 câu. Tính ở top-10, 788 câu test.</a:t>
            </a:r>
            <a:endParaRPr lang="en-US" sz="1300" dirty="0"/>
          </a:p>
        </p:txBody>
      </p:sp>
      <p:sp>
        <p:nvSpPr>
          <p:cNvPr id="15" name="Text 12"/>
          <p:cNvSpPr txBox="1"/>
          <p:nvPr/>
        </p:nvSpPr>
        <p:spPr>
          <a:xfrm>
            <a:off x="7955280" y="1783080"/>
            <a:ext cx="3642055"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MỖI TRUY VẤN</a:t>
            </a:r>
            <a:endParaRPr lang="en-US" sz="1200" dirty="0"/>
          </a:p>
        </p:txBody>
      </p:sp>
      <p:sp>
        <p:nvSpPr>
          <p:cNvPr id="16" name="Text 13"/>
          <p:cNvSpPr txBox="1"/>
          <p:nvPr/>
        </p:nvSpPr>
        <p:spPr>
          <a:xfrm>
            <a:off x="7955280" y="2103120"/>
            <a:ext cx="1821028" cy="518160"/>
          </a:xfrm>
          <a:prstGeom prst="rect">
            <a:avLst/>
          </a:prstGeom>
          <a:noFill/>
          <a:ln/>
        </p:spPr>
        <p:txBody>
          <a:bodyPr wrap="square" lIns="0" tIns="0" rIns="0" bIns="0" rtlCol="0" anchor="ctr"/>
          <a:lstStyle/>
          <a:p>
            <a:pPr indent="0" marL="0">
              <a:buNone/>
            </a:pPr>
            <a:r>
              <a:rPr lang="en-US" sz="3400" b="1" dirty="0">
                <a:solidFill>
                  <a:srgbClr val="2C5F8A"/>
                </a:solidFill>
                <a:latin typeface="Cambria" pitchFamily="34" charset="0"/>
                <a:ea typeface="Cambria" pitchFamily="34" charset="-122"/>
                <a:cs typeface="Cambria" pitchFamily="34" charset="-120"/>
              </a:rPr>
              <a:t>0,5 ms</a:t>
            </a:r>
            <a:endParaRPr lang="en-US" sz="3400" dirty="0"/>
          </a:p>
        </p:txBody>
      </p:sp>
      <p:sp>
        <p:nvSpPr>
          <p:cNvPr id="17" name="Text 14"/>
          <p:cNvSpPr txBox="1"/>
          <p:nvPr/>
        </p:nvSpPr>
        <p:spPr>
          <a:xfrm>
            <a:off x="7955280" y="267614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18" name="Text 15"/>
          <p:cNvSpPr txBox="1"/>
          <p:nvPr/>
        </p:nvSpPr>
        <p:spPr>
          <a:xfrm>
            <a:off x="9776308" y="2103120"/>
            <a:ext cx="1821028" cy="518160"/>
          </a:xfrm>
          <a:prstGeom prst="rect">
            <a:avLst/>
          </a:prstGeom>
          <a:noFill/>
          <a:ln/>
        </p:spPr>
        <p:txBody>
          <a:bodyPr wrap="square" lIns="0" tIns="0" rIns="0" bIns="0" rtlCol="0" anchor="ctr"/>
          <a:lstStyle/>
          <a:p>
            <a:pPr indent="0" marL="0">
              <a:buNone/>
            </a:pPr>
            <a:r>
              <a:rPr lang="en-US" sz="3400" b="1" dirty="0">
                <a:solidFill>
                  <a:srgbClr val="B7791F"/>
                </a:solidFill>
                <a:latin typeface="Cambria" pitchFamily="34" charset="0"/>
                <a:ea typeface="Cambria" pitchFamily="34" charset="-122"/>
                <a:cs typeface="Cambria" pitchFamily="34" charset="-120"/>
              </a:rPr>
              <a:t>352 ms</a:t>
            </a:r>
            <a:endParaRPr lang="en-US" sz="3400" dirty="0"/>
          </a:p>
        </p:txBody>
      </p:sp>
      <p:sp>
        <p:nvSpPr>
          <p:cNvPr id="19" name="Text 16"/>
          <p:cNvSpPr txBox="1"/>
          <p:nvPr/>
        </p:nvSpPr>
        <p:spPr>
          <a:xfrm>
            <a:off x="9776308" y="267614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0" name="Text 17"/>
          <p:cNvSpPr txBox="1"/>
          <p:nvPr/>
        </p:nvSpPr>
        <p:spPr>
          <a:xfrm>
            <a:off x="7955280" y="3429000"/>
            <a:ext cx="3642055"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CHỈ MỤC</a:t>
            </a:r>
            <a:endParaRPr lang="en-US" sz="1200" dirty="0"/>
          </a:p>
        </p:txBody>
      </p:sp>
      <p:sp>
        <p:nvSpPr>
          <p:cNvPr id="21" name="Text 18"/>
          <p:cNvSpPr txBox="1"/>
          <p:nvPr/>
        </p:nvSpPr>
        <p:spPr>
          <a:xfrm>
            <a:off x="7955280" y="3749040"/>
            <a:ext cx="1821028" cy="518160"/>
          </a:xfrm>
          <a:prstGeom prst="rect">
            <a:avLst/>
          </a:prstGeom>
          <a:noFill/>
          <a:ln/>
        </p:spPr>
        <p:txBody>
          <a:bodyPr wrap="square" lIns="0" tIns="0" rIns="0" bIns="0" rtlCol="0" anchor="ctr"/>
          <a:lstStyle/>
          <a:p>
            <a:pPr indent="0" marL="0">
              <a:buNone/>
            </a:pPr>
            <a:r>
              <a:rPr lang="en-US" sz="3400" b="1" dirty="0">
                <a:solidFill>
                  <a:srgbClr val="2C5F8A"/>
                </a:solidFill>
                <a:latin typeface="Cambria" pitchFamily="34" charset="0"/>
                <a:ea typeface="Cambria" pitchFamily="34" charset="-122"/>
                <a:cs typeface="Cambria" pitchFamily="34" charset="-120"/>
              </a:rPr>
              <a:t>35 MB</a:t>
            </a:r>
            <a:endParaRPr lang="en-US" sz="3400" dirty="0"/>
          </a:p>
        </p:txBody>
      </p:sp>
      <p:sp>
        <p:nvSpPr>
          <p:cNvPr id="22" name="Text 19"/>
          <p:cNvSpPr txBox="1"/>
          <p:nvPr/>
        </p:nvSpPr>
        <p:spPr>
          <a:xfrm>
            <a:off x="7955280" y="432206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BM25</a:t>
            </a:r>
            <a:endParaRPr lang="en-US" sz="1300" dirty="0"/>
          </a:p>
        </p:txBody>
      </p:sp>
      <p:sp>
        <p:nvSpPr>
          <p:cNvPr id="23" name="Text 20"/>
          <p:cNvSpPr txBox="1"/>
          <p:nvPr/>
        </p:nvSpPr>
        <p:spPr>
          <a:xfrm>
            <a:off x="9776308" y="3749040"/>
            <a:ext cx="1821028" cy="518160"/>
          </a:xfrm>
          <a:prstGeom prst="rect">
            <a:avLst/>
          </a:prstGeom>
          <a:noFill/>
          <a:ln/>
        </p:spPr>
        <p:txBody>
          <a:bodyPr wrap="square" lIns="0" tIns="0" rIns="0" bIns="0" rtlCol="0" anchor="ctr"/>
          <a:lstStyle/>
          <a:p>
            <a:pPr indent="0" marL="0">
              <a:buNone/>
            </a:pPr>
            <a:r>
              <a:rPr lang="en-US" sz="3400" b="1" dirty="0">
                <a:solidFill>
                  <a:srgbClr val="B7791F"/>
                </a:solidFill>
                <a:latin typeface="Cambria" pitchFamily="34" charset="0"/>
                <a:ea typeface="Cambria" pitchFamily="34" charset="-122"/>
                <a:cs typeface="Cambria" pitchFamily="34" charset="-120"/>
              </a:rPr>
              <a:t>319 MB</a:t>
            </a:r>
            <a:endParaRPr lang="en-US" sz="3400" dirty="0"/>
          </a:p>
        </p:txBody>
      </p:sp>
      <p:sp>
        <p:nvSpPr>
          <p:cNvPr id="24" name="Text 21"/>
          <p:cNvSpPr txBox="1"/>
          <p:nvPr/>
        </p:nvSpPr>
        <p:spPr>
          <a:xfrm>
            <a:off x="9776308" y="4322064"/>
            <a:ext cx="1821028" cy="566928"/>
          </a:xfrm>
          <a:prstGeom prst="rect">
            <a:avLst/>
          </a:prstGeom>
          <a:noFill/>
          <a:ln/>
        </p:spPr>
        <p:txBody>
          <a:bodyPr wrap="square" lIns="0" tIns="0" rIns="0" bIns="0" rtlCol="0" anchor="t"/>
          <a:lstStyle/>
          <a:p>
            <a:pPr indent="0" marL="0">
              <a:buNone/>
            </a:pPr>
            <a:r>
              <a:rPr lang="en-US" sz="1300" dirty="0">
                <a:solidFill>
                  <a:srgbClr val="46545F"/>
                </a:solidFill>
                <a:latin typeface="Calibri" pitchFamily="34" charset="0"/>
                <a:ea typeface="Calibri" pitchFamily="34" charset="-122"/>
                <a:cs typeface="Calibri" pitchFamily="34" charset="-120"/>
              </a:rPr>
              <a:t>ngữ nghĩa</a:t>
            </a:r>
            <a:endParaRPr lang="en-US" sz="1300" dirty="0"/>
          </a:p>
        </p:txBody>
      </p:sp>
      <p:sp>
        <p:nvSpPr>
          <p:cNvPr id="25" name="Text 22"/>
          <p:cNvSpPr txBox="1"/>
          <p:nvPr/>
        </p:nvSpPr>
        <p:spPr>
          <a:xfrm>
            <a:off x="7955280" y="5120640"/>
            <a:ext cx="3642055" cy="457200"/>
          </a:xfrm>
          <a:prstGeom prst="rect">
            <a:avLst/>
          </a:prstGeom>
          <a:noFill/>
          <a:ln/>
        </p:spPr>
        <p:txBody>
          <a:bodyPr wrap="square" lIns="0" tIns="0" rIns="0" bIns="0" rtlCol="0" anchor="ctr"/>
          <a:lstStyle/>
          <a:p>
            <a:pPr indent="0" marL="0">
              <a:buNone/>
            </a:pPr>
            <a:r>
              <a:rPr lang="en-US" sz="1400" b="1" dirty="0">
                <a:solidFill>
                  <a:srgbClr val="16222C"/>
                </a:solidFill>
                <a:latin typeface="Calibri" pitchFamily="34" charset="0"/>
                <a:ea typeface="Calibri" pitchFamily="34" charset="-122"/>
                <a:cs typeface="Calibri" pitchFamily="34" charset="-120"/>
              </a:rPr>
              <a:t>BM25 còn chỉ ra được từ nào đã khớp.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CH2  ·  CÂU MẤT DẤU  ·  12</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Mất dấu, mô hình ngữ nghĩa tốt nhất tụt từ 97% còn 12%</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12 / 16</a:t>
            </a:r>
            <a:endParaRPr lang="en-US" sz="1000" dirty="0"/>
          </a:p>
        </p:txBody>
      </p:sp>
      <p:graphicFrame>
        <p:nvGraphicFramePr>
          <p:cNvPr id="7" name="Chart 0" descr=""/>
          <p:cNvGraphicFramePr/>
          <p:nvPr/>
        </p:nvGraphicFramePr>
        <p:xfrm>
          <a:off x="594360" y="1645920"/>
          <a:ext cx="7406640" cy="43434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458200" y="1828800"/>
            <a:ext cx="3139135" cy="274320"/>
          </a:xfrm>
          <a:prstGeom prst="rect">
            <a:avLst/>
          </a:prstGeom>
          <a:noFill/>
          <a:ln/>
        </p:spPr>
        <p:txBody>
          <a:bodyPr wrap="square" lIns="0" tIns="0" rIns="0" bIns="0" rtlCol="0" anchor="ctr"/>
          <a:lstStyle/>
          <a:p>
            <a:pPr indent="0" marL="0">
              <a:buNone/>
            </a:pPr>
            <a:r>
              <a:rPr lang="en-US" sz="1200" b="1" dirty="0">
                <a:solidFill>
                  <a:srgbClr val="A8202B"/>
                </a:solidFill>
                <a:latin typeface="Consolas" pitchFamily="34" charset="0"/>
                <a:ea typeface="Consolas" pitchFamily="34" charset="-122"/>
                <a:cs typeface="Consolas" pitchFamily="34" charset="-120"/>
              </a:rPr>
              <a:t>VÌ SAO</a:t>
            </a:r>
            <a:endParaRPr lang="en-US" sz="1200" dirty="0"/>
          </a:p>
        </p:txBody>
      </p:sp>
      <p:sp>
        <p:nvSpPr>
          <p:cNvPr id="9" name="Text 5"/>
          <p:cNvSpPr txBox="1"/>
          <p:nvPr/>
        </p:nvSpPr>
        <p:spPr>
          <a:xfrm>
            <a:off x="8458200" y="2148840"/>
            <a:ext cx="3139135" cy="2011680"/>
          </a:xfrm>
          <a:prstGeom prst="rect">
            <a:avLst/>
          </a:prstGeom>
          <a:noFill/>
          <a:ln/>
        </p:spPr>
        <p:txBody>
          <a:bodyPr wrap="square" lIns="0" tIns="0" rIns="0" bIns="0" rtlCol="0" anchor="t"/>
          <a:lstStyle/>
          <a:p>
            <a:pPr indent="0" marL="0">
              <a:buNone/>
            </a:pPr>
            <a:r>
              <a:rPr lang="en-US" sz="1500" b="1" dirty="0">
                <a:solidFill>
                  <a:srgbClr val="16222C"/>
                </a:solidFill>
                <a:latin typeface="Calibri" pitchFamily="34" charset="0"/>
                <a:ea typeface="Calibri" pitchFamily="34" charset="-122"/>
                <a:cs typeface="Calibri" pitchFamily="34" charset="-120"/>
              </a:rPr>
              <a:t>BM25: </a:t>
            </a:r>
            <a:pPr indent="0" marL="0">
              <a:buNone/>
            </a:pPr>
            <a:r>
              <a:rPr lang="en-US" sz="1500" dirty="0">
                <a:solidFill>
                  <a:srgbClr val="16222C"/>
                </a:solidFill>
                <a:latin typeface="Calibri" pitchFamily="34" charset="0"/>
                <a:ea typeface="Calibri" pitchFamily="34" charset="-122"/>
                <a:cs typeface="Calibri" pitchFamily="34" charset="-120"/>
              </a:rPr>
              <a:t>“phat” và “phạt” là hai chữ khác nhau, không khớp gì.</a:t>
            </a:r>
            <a:endParaRPr lang="en-US" sz="1500" dirty="0"/>
          </a:p>
          <a:p>
            <a:pPr indent="0" marL="0">
              <a:buNone/>
            </a:pPr>
            <a:r>
              <a:rPr lang="en-US" sz="800" dirty="0">
                <a:solidFill>
                  <a:srgbClr val="16222C"/>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6222C"/>
                </a:solidFill>
                <a:latin typeface="Calibri" pitchFamily="34" charset="0"/>
                <a:ea typeface="Calibri" pitchFamily="34" charset="-122"/>
                <a:cs typeface="Calibri" pitchFamily="34" charset="-120"/>
              </a:rPr>
              <a:t>Ngữ nghĩa: </a:t>
            </a:r>
            <a:pPr indent="0" marL="0">
              <a:buNone/>
            </a:pPr>
            <a:r>
              <a:rPr lang="en-US" sz="1500" dirty="0">
                <a:solidFill>
                  <a:srgbClr val="16222C"/>
                </a:solidFill>
                <a:latin typeface="Calibri" pitchFamily="34" charset="0"/>
                <a:ea typeface="Calibri" pitchFamily="34" charset="-122"/>
                <a:cs typeface="Calibri" pitchFamily="34" charset="-120"/>
              </a:rPr>
              <a:t>giả thuyết là mô hình học chủ yếu văn bản có dấu. Chưa kiểm chứng.</a:t>
            </a:r>
            <a:endParaRPr lang="en-US" sz="1500" dirty="0"/>
          </a:p>
        </p:txBody>
      </p:sp>
      <p:sp>
        <p:nvSpPr>
          <p:cNvPr id="10" name="Shape 6"/>
          <p:cNvSpPr/>
          <p:nvPr/>
        </p:nvSpPr>
        <p:spPr>
          <a:xfrm>
            <a:off x="8458200" y="4343400"/>
            <a:ext cx="3139135" cy="1234440"/>
          </a:xfrm>
          <a:prstGeom prst="rect">
            <a:avLst/>
          </a:prstGeom>
          <a:solidFill>
            <a:srgbClr val="F3F5F2"/>
          </a:solidFill>
          <a:ln/>
        </p:spPr>
      </p:sp>
      <p:sp>
        <p:nvSpPr>
          <p:cNvPr id="11" name="Text 7"/>
          <p:cNvSpPr txBox="1"/>
          <p:nvPr/>
        </p:nvSpPr>
        <p:spPr>
          <a:xfrm>
            <a:off x="8686800" y="4343400"/>
            <a:ext cx="2681935" cy="1234440"/>
          </a:xfrm>
          <a:prstGeom prst="rect">
            <a:avLst/>
          </a:prstGeom>
          <a:noFill/>
          <a:ln/>
        </p:spPr>
        <p:txBody>
          <a:bodyPr wrap="square" lIns="0" tIns="0" rIns="0" bIns="0" rtlCol="0" anchor="ctr"/>
          <a:lstStyle/>
          <a:p>
            <a:pPr indent="0" marL="0">
              <a:buNone/>
            </a:pPr>
            <a:r>
              <a:rPr lang="en-US" sz="1400" dirty="0">
                <a:solidFill>
                  <a:srgbClr val="16222C"/>
                </a:solidFill>
                <a:latin typeface="Calibri" pitchFamily="34" charset="0"/>
                <a:ea typeface="Calibri" pitchFamily="34" charset="-122"/>
                <a:cs typeface="Calibri" pitchFamily="34" charset="-120"/>
              </a:rPr>
              <a:t>Chỉ mục BM25 trên văn bản bỏ dấu lên lại 74,30%, không cần mô hình.</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CH2  ·  CÂU MẤT DẤU  ·  13</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Phục hồi dấu bằng bigram kéo hệ về 96,7%, không cần GPU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13 / 16</a:t>
            </a:r>
            <a:endParaRPr lang="en-US" sz="1000" dirty="0"/>
          </a:p>
        </p:txBody>
      </p:sp>
      <p:sp>
        <p:nvSpPr>
          <p:cNvPr id="7" name="Text 4"/>
          <p:cNvSpPr txBox="1"/>
          <p:nvPr/>
        </p:nvSpPr>
        <p:spPr>
          <a:xfrm>
            <a:off x="594360" y="1783080"/>
            <a:ext cx="5120640" cy="274320"/>
          </a:xfrm>
          <a:prstGeom prst="rect">
            <a:avLst/>
          </a:prstGeom>
          <a:noFill/>
          <a:ln/>
        </p:spPr>
        <p:txBody>
          <a:bodyPr wrap="square" lIns="0" tIns="0" rIns="0" bIns="0" rtlCol="0" anchor="ctr"/>
          <a:lstStyle/>
          <a:p>
            <a:pPr indent="0" marL="0">
              <a:buNone/>
            </a:pPr>
            <a:r>
              <a:rPr lang="en-US" sz="1200" b="1" dirty="0">
                <a:solidFill>
                  <a:srgbClr val="2C5F8A"/>
                </a:solidFill>
                <a:latin typeface="Consolas" pitchFamily="34" charset="0"/>
                <a:ea typeface="Consolas" pitchFamily="34" charset="-122"/>
                <a:cs typeface="Consolas" pitchFamily="34" charset="-120"/>
              </a:rPr>
              <a:t>VÍ DỤ</a:t>
            </a:r>
            <a:endParaRPr lang="en-US" sz="1200" dirty="0"/>
          </a:p>
        </p:txBody>
      </p:sp>
      <p:sp>
        <p:nvSpPr>
          <p:cNvPr id="8" name="Text 5"/>
          <p:cNvSpPr txBox="1"/>
          <p:nvPr/>
        </p:nvSpPr>
        <p:spPr>
          <a:xfrm>
            <a:off x="594360" y="2103120"/>
            <a:ext cx="5120640" cy="411480"/>
          </a:xfrm>
          <a:prstGeom prst="rect">
            <a:avLst/>
          </a:prstGeom>
          <a:noFill/>
          <a:ln/>
        </p:spPr>
        <p:txBody>
          <a:bodyPr wrap="square" lIns="0" tIns="0" rIns="0" bIns="0" rtlCol="0" anchor="ctr"/>
          <a:lstStyle/>
          <a:p>
            <a:pPr indent="0" marL="0">
              <a:buNone/>
            </a:pPr>
            <a:r>
              <a:rPr lang="en-US" sz="2000" dirty="0">
                <a:solidFill>
                  <a:srgbClr val="A8202B"/>
                </a:solidFill>
                <a:latin typeface="Consolas" pitchFamily="34" charset="0"/>
                <a:ea typeface="Consolas" pitchFamily="34" charset="-122"/>
                <a:cs typeface="Consolas" pitchFamily="34" charset="-120"/>
              </a:rPr>
              <a:t>nguoi lao dong nghi viec</a:t>
            </a:r>
            <a:endParaRPr lang="en-US" sz="2000" dirty="0"/>
          </a:p>
        </p:txBody>
      </p:sp>
      <p:sp>
        <p:nvSpPr>
          <p:cNvPr id="9" name="Text 6"/>
          <p:cNvSpPr txBox="1"/>
          <p:nvPr/>
        </p:nvSpPr>
        <p:spPr>
          <a:xfrm>
            <a:off x="594360" y="2606040"/>
            <a:ext cx="5120640" cy="411480"/>
          </a:xfrm>
          <a:prstGeom prst="rect">
            <a:avLst/>
          </a:prstGeom>
          <a:noFill/>
          <a:ln/>
        </p:spPr>
        <p:txBody>
          <a:bodyPr wrap="square" lIns="0" tIns="0" rIns="0" bIns="0" rtlCol="0" anchor="ctr"/>
          <a:lstStyle/>
          <a:p>
            <a:pPr indent="0" marL="0">
              <a:buNone/>
            </a:pPr>
            <a:r>
              <a:rPr lang="en-US" sz="1800" dirty="0">
                <a:solidFill>
                  <a:srgbClr val="77858E"/>
                </a:solidFill>
                <a:latin typeface="Consolas" pitchFamily="34" charset="0"/>
                <a:ea typeface="Consolas" pitchFamily="34" charset="-122"/>
                <a:cs typeface="Consolas" pitchFamily="34" charset="-120"/>
              </a:rPr>
              <a:t>nghi  →  </a:t>
            </a:r>
            <a:pPr indent="0" marL="0">
              <a:buNone/>
            </a:pPr>
            <a:r>
              <a:rPr lang="en-US" sz="1800" b="1" dirty="0">
                <a:solidFill>
                  <a:srgbClr val="1B6E5A"/>
                </a:solidFill>
                <a:latin typeface="Calibri" pitchFamily="34" charset="0"/>
                <a:ea typeface="Calibri" pitchFamily="34" charset="-122"/>
                <a:cs typeface="Calibri" pitchFamily="34" charset="-120"/>
              </a:rPr>
              <a:t>nghỉ</a:t>
            </a:r>
            <a:pPr indent="0" marL="0">
              <a:buNone/>
            </a:pPr>
            <a:r>
              <a:rPr lang="en-US" sz="1800" dirty="0">
                <a:solidFill>
                  <a:srgbClr val="77858E"/>
                </a:solidFill>
                <a:latin typeface="Calibri" pitchFamily="34" charset="0"/>
                <a:ea typeface="Calibri" pitchFamily="34" charset="-122"/>
                <a:cs typeface="Calibri" pitchFamily="34" charset="-120"/>
              </a:rPr>
              <a:t>   nghị   nghĩ   nghi</a:t>
            </a:r>
            <a:endParaRPr lang="en-US" sz="1800" dirty="0"/>
          </a:p>
        </p:txBody>
      </p:sp>
      <p:sp>
        <p:nvSpPr>
          <p:cNvPr id="10" name="Text 7"/>
          <p:cNvSpPr txBox="1"/>
          <p:nvPr/>
        </p:nvSpPr>
        <p:spPr>
          <a:xfrm>
            <a:off x="594360" y="3108960"/>
            <a:ext cx="512064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người lao động nghỉ việc</a:t>
            </a:r>
            <a:endParaRPr lang="en-US" sz="2200" dirty="0"/>
          </a:p>
        </p:txBody>
      </p:sp>
      <p:sp>
        <p:nvSpPr>
          <p:cNvPr id="11" name="Text 8"/>
          <p:cNvSpPr txBox="1"/>
          <p:nvPr/>
        </p:nvSpPr>
        <p:spPr>
          <a:xfrm>
            <a:off x="594360" y="3794760"/>
            <a:ext cx="5120640" cy="1463040"/>
          </a:xfrm>
          <a:prstGeom prst="rect">
            <a:avLst/>
          </a:prstGeom>
          <a:noFill/>
          <a:ln/>
        </p:spPr>
        <p:txBody>
          <a:bodyPr wrap="square" lIns="0" tIns="0" rIns="0" bIns="0" rtlCol="0" anchor="t"/>
          <a:lstStyle/>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1.  Đếm bigram trên 18,6 triệu âm tiết của kho luật</a:t>
            </a:r>
            <a:endParaRPr lang="en-US" sz="1500" dirty="0"/>
          </a:p>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2.  Sinh ứng viên có dấu cho mỗi âm tiết</a:t>
            </a:r>
            <a:endParaRPr lang="en-US" sz="1500" dirty="0"/>
          </a:p>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3.  Viterbi chọn chuỗi xác suất cao nhất, lambda = 0,9</a:t>
            </a:r>
            <a:endParaRPr lang="en-US" sz="1500" dirty="0"/>
          </a:p>
          <a:p>
            <a:pPr indent="0" marL="0">
              <a:spcAft>
                <a:spcPts val="500"/>
              </a:spcAft>
              <a:buNone/>
            </a:pPr>
            <a:r>
              <a:rPr lang="en-US" sz="1500" dirty="0">
                <a:solidFill>
                  <a:srgbClr val="46545F"/>
                </a:solidFill>
                <a:latin typeface="Calibri" pitchFamily="34" charset="0"/>
                <a:ea typeface="Calibri" pitchFamily="34" charset="-122"/>
                <a:cs typeface="Calibri" pitchFamily="34" charset="-120"/>
              </a:rPr>
              <a:t>4.  Âm tiết đã có dấu thì giữ nguyên</a:t>
            </a:r>
            <a:endParaRPr lang="en-US" sz="1500" dirty="0"/>
          </a:p>
        </p:txBody>
      </p:sp>
      <p:graphicFrame>
        <p:nvGraphicFramePr>
          <p:cNvPr id="12" name="Chart 0" descr=""/>
          <p:cNvGraphicFramePr/>
          <p:nvPr/>
        </p:nvGraphicFramePr>
        <p:xfrm>
          <a:off x="5989320" y="1645920"/>
          <a:ext cx="5608015" cy="35204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6126480" y="5120640"/>
            <a:ext cx="3657600" cy="237744"/>
          </a:xfrm>
          <a:prstGeom prst="rect">
            <a:avLst/>
          </a:prstGeom>
          <a:noFill/>
          <a:ln/>
        </p:spPr>
        <p:txBody>
          <a:bodyPr wrap="square" lIns="0" tIns="0" rIns="0" bIns="0" rtlCol="0" anchor="ctr"/>
          <a:lstStyle/>
          <a:p>
            <a:pPr indent="0" marL="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
        <p:nvSpPr>
          <p:cNvPr id="14" name="Text 10"/>
          <p:cNvSpPr txBox="1"/>
          <p:nvPr/>
        </p:nvSpPr>
        <p:spPr>
          <a:xfrm>
            <a:off x="6126480" y="5440680"/>
            <a:ext cx="1783080" cy="384048"/>
          </a:xfrm>
          <a:prstGeom prst="rect">
            <a:avLst/>
          </a:prstGeom>
          <a:noFill/>
          <a:ln/>
        </p:spPr>
        <p:txBody>
          <a:bodyPr wrap="square" lIns="0" tIns="0" rIns="0" bIns="0" rtlCol="0" anchor="ctr"/>
          <a:lstStyle/>
          <a:p>
            <a:pPr indent="0" marL="0">
              <a:buNone/>
            </a:pPr>
            <a:r>
              <a:rPr lang="en-US" sz="2000" b="1" dirty="0">
                <a:solidFill>
                  <a:srgbClr val="1B6E5A"/>
                </a:solidFill>
                <a:latin typeface="Cambria" pitchFamily="34" charset="0"/>
                <a:ea typeface="Cambria" pitchFamily="34" charset="-122"/>
                <a:cs typeface="Cambria" pitchFamily="34" charset="-120"/>
              </a:rPr>
              <a:t>98,45%</a:t>
            </a:r>
            <a:endParaRPr lang="en-US" sz="2000" dirty="0"/>
          </a:p>
        </p:txBody>
      </p:sp>
      <p:sp>
        <p:nvSpPr>
          <p:cNvPr id="15" name="Text 11"/>
          <p:cNvSpPr txBox="1"/>
          <p:nvPr/>
        </p:nvSpPr>
        <p:spPr>
          <a:xfrm>
            <a:off x="6126480" y="5824728"/>
            <a:ext cx="1783080" cy="274320"/>
          </a:xfrm>
          <a:prstGeom prst="rect">
            <a:avLst/>
          </a:prstGeom>
          <a:noFill/>
          <a:ln/>
        </p:spPr>
        <p:txBody>
          <a:bodyPr wrap="square" lIns="0" tIns="0" rIns="0" bIns="0" rtlCol="0" anchor="ctr"/>
          <a:lstStyle/>
          <a:p>
            <a:pPr indent="0" marL="0">
              <a:buNone/>
            </a:pPr>
            <a:r>
              <a:rPr lang="en-US" sz="1150" dirty="0">
                <a:solidFill>
                  <a:srgbClr val="46545F"/>
                </a:solidFill>
                <a:latin typeface="Calibri" pitchFamily="34" charset="0"/>
                <a:ea typeface="Calibri" pitchFamily="34" charset="-122"/>
                <a:cs typeface="Calibri" pitchFamily="34" charset="-120"/>
              </a:rPr>
              <a:t>âm tiết phục hồi đúng</a:t>
            </a:r>
            <a:endParaRPr lang="en-US" sz="1150" dirty="0"/>
          </a:p>
        </p:txBody>
      </p:sp>
      <p:sp>
        <p:nvSpPr>
          <p:cNvPr id="16" name="Text 12"/>
          <p:cNvSpPr txBox="1"/>
          <p:nvPr/>
        </p:nvSpPr>
        <p:spPr>
          <a:xfrm>
            <a:off x="7955280" y="5440680"/>
            <a:ext cx="1783080" cy="384048"/>
          </a:xfrm>
          <a:prstGeom prst="rect">
            <a:avLst/>
          </a:prstGeom>
          <a:noFill/>
          <a:ln/>
        </p:spPr>
        <p:txBody>
          <a:bodyPr wrap="square" lIns="0" tIns="0" rIns="0" bIns="0" rtlCol="0" anchor="ctr"/>
          <a:lstStyle/>
          <a:p>
            <a:pPr indent="0" marL="0">
              <a:buNone/>
            </a:pPr>
            <a:r>
              <a:rPr lang="en-US" sz="2000" b="1" dirty="0">
                <a:solidFill>
                  <a:srgbClr val="1B6E5A"/>
                </a:solidFill>
                <a:latin typeface="Cambria" pitchFamily="34" charset="0"/>
                <a:ea typeface="Cambria" pitchFamily="34" charset="-122"/>
                <a:cs typeface="Cambria" pitchFamily="34" charset="-120"/>
              </a:rPr>
              <a:t>0,88 ms</a:t>
            </a:r>
            <a:endParaRPr lang="en-US" sz="2000" dirty="0"/>
          </a:p>
        </p:txBody>
      </p:sp>
      <p:sp>
        <p:nvSpPr>
          <p:cNvPr id="17" name="Text 13"/>
          <p:cNvSpPr txBox="1"/>
          <p:nvPr/>
        </p:nvSpPr>
        <p:spPr>
          <a:xfrm>
            <a:off x="7955280" y="5824728"/>
            <a:ext cx="1783080" cy="274320"/>
          </a:xfrm>
          <a:prstGeom prst="rect">
            <a:avLst/>
          </a:prstGeom>
          <a:noFill/>
          <a:ln/>
        </p:spPr>
        <p:txBody>
          <a:bodyPr wrap="square" lIns="0" tIns="0" rIns="0" bIns="0" rtlCol="0" anchor="ctr"/>
          <a:lstStyle/>
          <a:p>
            <a:pPr indent="0" marL="0">
              <a:buNone/>
            </a:pPr>
            <a:r>
              <a:rPr lang="en-US" sz="1150" dirty="0">
                <a:solidFill>
                  <a:srgbClr val="46545F"/>
                </a:solidFill>
                <a:latin typeface="Calibri" pitchFamily="34" charset="0"/>
                <a:ea typeface="Calibri" pitchFamily="34" charset="-122"/>
                <a:cs typeface="Calibri" pitchFamily="34" charset="-120"/>
              </a:rPr>
              <a:t>mỗi câu hỏi</a:t>
            </a:r>
            <a:endParaRPr lang="en-US" sz="1150" dirty="0"/>
          </a:p>
        </p:txBody>
      </p:sp>
      <p:sp>
        <p:nvSpPr>
          <p:cNvPr id="18" name="Text 14"/>
          <p:cNvSpPr txBox="1"/>
          <p:nvPr/>
        </p:nvSpPr>
        <p:spPr>
          <a:xfrm>
            <a:off x="9784080" y="5440680"/>
            <a:ext cx="1783080" cy="384048"/>
          </a:xfrm>
          <a:prstGeom prst="rect">
            <a:avLst/>
          </a:prstGeom>
          <a:noFill/>
          <a:ln/>
        </p:spPr>
        <p:txBody>
          <a:bodyPr wrap="square" lIns="0" tIns="0" rIns="0" bIns="0" rtlCol="0" anchor="ctr"/>
          <a:lstStyle/>
          <a:p>
            <a:pPr indent="0" marL="0">
              <a:buNone/>
            </a:pPr>
            <a:r>
              <a:rPr lang="en-US" sz="2000" b="1" dirty="0">
                <a:solidFill>
                  <a:srgbClr val="1B6E5A"/>
                </a:solidFill>
                <a:latin typeface="Cambria" pitchFamily="34" charset="0"/>
                <a:ea typeface="Cambria" pitchFamily="34" charset="-122"/>
                <a:cs typeface="Cambria" pitchFamily="34" charset="-120"/>
              </a:rPr>
              <a:t>15 giây</a:t>
            </a:r>
            <a:endParaRPr lang="en-US" sz="2000" dirty="0"/>
          </a:p>
        </p:txBody>
      </p:sp>
      <p:sp>
        <p:nvSpPr>
          <p:cNvPr id="19" name="Text 15"/>
          <p:cNvSpPr txBox="1"/>
          <p:nvPr/>
        </p:nvSpPr>
        <p:spPr>
          <a:xfrm>
            <a:off x="9784080" y="5824728"/>
            <a:ext cx="1783080" cy="274320"/>
          </a:xfrm>
          <a:prstGeom prst="rect">
            <a:avLst/>
          </a:prstGeom>
          <a:noFill/>
          <a:ln/>
        </p:spPr>
        <p:txBody>
          <a:bodyPr wrap="square" lIns="0" tIns="0" rIns="0" bIns="0" rtlCol="0" anchor="ctr"/>
          <a:lstStyle/>
          <a:p>
            <a:pPr indent="0" marL="0">
              <a:buNone/>
            </a:pPr>
            <a:r>
              <a:rPr lang="en-US" sz="1150" dirty="0">
                <a:solidFill>
                  <a:srgbClr val="46545F"/>
                </a:solidFill>
                <a:latin typeface="Calibri" pitchFamily="34" charset="0"/>
                <a:ea typeface="Calibri" pitchFamily="34" charset="-122"/>
                <a:cs typeface="Calibri" pitchFamily="34" charset="-120"/>
              </a:rPr>
              <a:t>để học, chạy trên CPU</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CH2  ·  CÂU MẤT DẤU  ·  14</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Phục hồi sai ở từ nói thường, nhưng sửa được cả câu gõ nửa dấu</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14 / 16</a:t>
            </a:r>
            <a:endParaRPr lang="en-US" sz="1000" dirty="0"/>
          </a:p>
        </p:txBody>
      </p:sp>
      <p:sp>
        <p:nvSpPr>
          <p:cNvPr id="7" name="Text 4"/>
          <p:cNvSpPr txBox="1"/>
          <p:nvPr/>
        </p:nvSpPr>
        <p:spPr>
          <a:xfrm>
            <a:off x="594360" y="1783080"/>
            <a:ext cx="5029200" cy="274320"/>
          </a:xfrm>
          <a:prstGeom prst="rect">
            <a:avLst/>
          </a:prstGeom>
          <a:noFill/>
          <a:ln/>
        </p:spPr>
        <p:txBody>
          <a:bodyPr wrap="square" lIns="0" tIns="0" rIns="0" bIns="0" rtlCol="0" anchor="ctr"/>
          <a:lstStyle/>
          <a:p>
            <a:pPr indent="0" marL="0">
              <a:buNone/>
            </a:pPr>
            <a:r>
              <a:rPr lang="en-US" sz="1200" b="1" dirty="0">
                <a:solidFill>
                  <a:srgbClr val="A8202B"/>
                </a:solidFill>
                <a:latin typeface="Consolas" pitchFamily="34" charset="0"/>
                <a:ea typeface="Consolas" pitchFamily="34" charset="-122"/>
                <a:cs typeface="Consolas" pitchFamily="34" charset="-120"/>
              </a:rPr>
              <a:t>PHỤC HỒI SAI</a:t>
            </a:r>
            <a:endParaRPr lang="en-US" sz="1200" dirty="0"/>
          </a:p>
        </p:txBody>
      </p:sp>
      <p:sp>
        <p:nvSpPr>
          <p:cNvPr id="8" name="Text 5"/>
          <p:cNvSpPr txBox="1"/>
          <p:nvPr/>
        </p:nvSpPr>
        <p:spPr>
          <a:xfrm>
            <a:off x="594360" y="2194560"/>
            <a:ext cx="164592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tài xế</a:t>
            </a:r>
            <a:endParaRPr lang="en-US" sz="2200" dirty="0"/>
          </a:p>
        </p:txBody>
      </p:sp>
      <p:sp>
        <p:nvSpPr>
          <p:cNvPr id="9" name="Text 6"/>
          <p:cNvSpPr txBox="1"/>
          <p:nvPr/>
        </p:nvSpPr>
        <p:spPr>
          <a:xfrm>
            <a:off x="2331720" y="2194560"/>
            <a:ext cx="457200" cy="457200"/>
          </a:xfrm>
          <a:prstGeom prst="rect">
            <a:avLst/>
          </a:prstGeom>
          <a:noFill/>
          <a:ln/>
        </p:spPr>
        <p:txBody>
          <a:bodyPr wrap="square" lIns="0" tIns="0" rIns="0" bIns="0" rtlCol="0" anchor="ctr"/>
          <a:lstStyle/>
          <a:p>
            <a:pPr indent="0" marL="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2880360" y="2194560"/>
            <a:ext cx="1828800" cy="457200"/>
          </a:xfrm>
          <a:prstGeom prst="rect">
            <a:avLst/>
          </a:prstGeom>
          <a:noFill/>
          <a:ln/>
        </p:spPr>
        <p:txBody>
          <a:bodyPr wrap="square" lIns="0" tIns="0" rIns="0" bIns="0" rtlCol="0" anchor="ctr"/>
          <a:lstStyle/>
          <a:p>
            <a:pPr indent="0" marL="0">
              <a:buNone/>
            </a:pPr>
            <a:r>
              <a:rPr lang="en-US" sz="2200" b="1" dirty="0">
                <a:solidFill>
                  <a:srgbClr val="A8202B"/>
                </a:solidFill>
                <a:latin typeface="Cambria" pitchFamily="34" charset="0"/>
                <a:ea typeface="Cambria" pitchFamily="34" charset="-122"/>
                <a:cs typeface="Cambria" pitchFamily="34" charset="-120"/>
              </a:rPr>
              <a:t>tải xe</a:t>
            </a:r>
            <a:endParaRPr lang="en-US" sz="2200" dirty="0"/>
          </a:p>
        </p:txBody>
      </p:sp>
      <p:sp>
        <p:nvSpPr>
          <p:cNvPr id="11" name="Text 8"/>
          <p:cNvSpPr txBox="1"/>
          <p:nvPr/>
        </p:nvSpPr>
        <p:spPr>
          <a:xfrm>
            <a:off x="594360" y="2761488"/>
            <a:ext cx="164592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máu</a:t>
            </a:r>
            <a:endParaRPr lang="en-US" sz="2200" dirty="0"/>
          </a:p>
        </p:txBody>
      </p:sp>
      <p:sp>
        <p:nvSpPr>
          <p:cNvPr id="12" name="Text 9"/>
          <p:cNvSpPr txBox="1"/>
          <p:nvPr/>
        </p:nvSpPr>
        <p:spPr>
          <a:xfrm>
            <a:off x="2331720" y="2761488"/>
            <a:ext cx="457200" cy="457200"/>
          </a:xfrm>
          <a:prstGeom prst="rect">
            <a:avLst/>
          </a:prstGeom>
          <a:noFill/>
          <a:ln/>
        </p:spPr>
        <p:txBody>
          <a:bodyPr wrap="square" lIns="0" tIns="0" rIns="0" bIns="0" rtlCol="0" anchor="ctr"/>
          <a:lstStyle/>
          <a:p>
            <a:pPr indent="0" marL="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2880360" y="2761488"/>
            <a:ext cx="1828800" cy="457200"/>
          </a:xfrm>
          <a:prstGeom prst="rect">
            <a:avLst/>
          </a:prstGeom>
          <a:noFill/>
          <a:ln/>
        </p:spPr>
        <p:txBody>
          <a:bodyPr wrap="square" lIns="0" tIns="0" rIns="0" bIns="0" rtlCol="0" anchor="ctr"/>
          <a:lstStyle/>
          <a:p>
            <a:pPr indent="0" marL="0">
              <a:buNone/>
            </a:pPr>
            <a:r>
              <a:rPr lang="en-US" sz="2200" b="1" dirty="0">
                <a:solidFill>
                  <a:srgbClr val="A8202B"/>
                </a:solidFill>
                <a:latin typeface="Cambria" pitchFamily="34" charset="0"/>
                <a:ea typeface="Cambria" pitchFamily="34" charset="-122"/>
                <a:cs typeface="Cambria" pitchFamily="34" charset="-120"/>
              </a:rPr>
              <a:t>mẫu</a:t>
            </a:r>
            <a:endParaRPr lang="en-US" sz="2200" dirty="0"/>
          </a:p>
        </p:txBody>
      </p:sp>
      <p:sp>
        <p:nvSpPr>
          <p:cNvPr id="14" name="Text 11"/>
          <p:cNvSpPr txBox="1"/>
          <p:nvPr/>
        </p:nvSpPr>
        <p:spPr>
          <a:xfrm>
            <a:off x="594360" y="3328416"/>
            <a:ext cx="1645920" cy="457200"/>
          </a:xfrm>
          <a:prstGeom prst="rect">
            <a:avLst/>
          </a:prstGeom>
          <a:noFill/>
          <a:ln/>
        </p:spPr>
        <p:txBody>
          <a:bodyPr wrap="square" lIns="0" tIns="0" rIns="0" bIns="0" rtlCol="0" anchor="ctr"/>
          <a:lstStyle/>
          <a:p>
            <a:pPr indent="0" marL="0">
              <a:buNone/>
            </a:pPr>
            <a:r>
              <a:rPr lang="en-US" sz="2200" b="1" dirty="0">
                <a:solidFill>
                  <a:srgbClr val="1B6E5A"/>
                </a:solidFill>
                <a:latin typeface="Cambria" pitchFamily="34" charset="0"/>
                <a:ea typeface="Cambria" pitchFamily="34" charset="-122"/>
                <a:cs typeface="Cambria" pitchFamily="34" charset="-120"/>
              </a:rPr>
              <a:t>đi bộ</a:t>
            </a:r>
            <a:endParaRPr lang="en-US" sz="2200" dirty="0"/>
          </a:p>
        </p:txBody>
      </p:sp>
      <p:sp>
        <p:nvSpPr>
          <p:cNvPr id="15" name="Text 12"/>
          <p:cNvSpPr txBox="1"/>
          <p:nvPr/>
        </p:nvSpPr>
        <p:spPr>
          <a:xfrm>
            <a:off x="2331720" y="3328416"/>
            <a:ext cx="457200" cy="457200"/>
          </a:xfrm>
          <a:prstGeom prst="rect">
            <a:avLst/>
          </a:prstGeom>
          <a:noFill/>
          <a:ln/>
        </p:spPr>
        <p:txBody>
          <a:bodyPr wrap="square" lIns="0" tIns="0" rIns="0" bIns="0" rtlCol="0" anchor="ctr"/>
          <a:lstStyle/>
          <a:p>
            <a:pPr indent="0" marL="0">
              <a:buNone/>
            </a:pPr>
            <a:r>
              <a:rPr lang="en-US" sz="2000" dirty="0">
                <a:solidFill>
                  <a:srgbClr val="77858E"/>
                </a:solidFill>
                <a:latin typeface="Calibri" pitchFamily="34" charset="0"/>
                <a:ea typeface="Calibri" pitchFamily="34" charset="-122"/>
                <a:cs typeface="Calibri" pitchFamily="34" charset="-120"/>
              </a:rPr>
              <a:t>→</a:t>
            </a:r>
            <a:endParaRPr lang="en-US" sz="2000" dirty="0"/>
          </a:p>
        </p:txBody>
      </p:sp>
      <p:sp>
        <p:nvSpPr>
          <p:cNvPr id="16" name="Text 13"/>
          <p:cNvSpPr txBox="1"/>
          <p:nvPr/>
        </p:nvSpPr>
        <p:spPr>
          <a:xfrm>
            <a:off x="2880360" y="3328416"/>
            <a:ext cx="1828800" cy="457200"/>
          </a:xfrm>
          <a:prstGeom prst="rect">
            <a:avLst/>
          </a:prstGeom>
          <a:noFill/>
          <a:ln/>
        </p:spPr>
        <p:txBody>
          <a:bodyPr wrap="square" lIns="0" tIns="0" rIns="0" bIns="0" rtlCol="0" anchor="ctr"/>
          <a:lstStyle/>
          <a:p>
            <a:pPr indent="0" marL="0">
              <a:buNone/>
            </a:pPr>
            <a:r>
              <a:rPr lang="en-US" sz="2200" b="1" dirty="0">
                <a:solidFill>
                  <a:srgbClr val="A8202B"/>
                </a:solidFill>
                <a:latin typeface="Cambria" pitchFamily="34" charset="0"/>
                <a:ea typeface="Cambria" pitchFamily="34" charset="-122"/>
                <a:cs typeface="Cambria" pitchFamily="34" charset="-120"/>
              </a:rPr>
              <a:t>đi bờ</a:t>
            </a:r>
            <a:endParaRPr lang="en-US" sz="2200" dirty="0"/>
          </a:p>
        </p:txBody>
      </p:sp>
      <p:sp>
        <p:nvSpPr>
          <p:cNvPr id="17" name="Text 14"/>
          <p:cNvSpPr txBox="1"/>
          <p:nvPr/>
        </p:nvSpPr>
        <p:spPr>
          <a:xfrm>
            <a:off x="594360" y="4069080"/>
            <a:ext cx="5029200" cy="1097280"/>
          </a:xfrm>
          <a:prstGeom prst="rect">
            <a:avLst/>
          </a:prstGeom>
          <a:noFill/>
          <a:ln/>
        </p:spPr>
        <p:txBody>
          <a:bodyPr wrap="square" lIns="0" tIns="0" rIns="0" bIns="0" rtlCol="0" anchor="t"/>
          <a:lstStyle/>
          <a:p>
            <a:pPr indent="0" marL="0">
              <a:buNone/>
            </a:pPr>
            <a:r>
              <a:rPr lang="en-US" sz="1500" dirty="0">
                <a:solidFill>
                  <a:srgbClr val="46545F"/>
                </a:solidFill>
                <a:latin typeface="Calibri" pitchFamily="34" charset="0"/>
                <a:ea typeface="Calibri" pitchFamily="34" charset="-122"/>
                <a:cs typeface="Calibri" pitchFamily="34" charset="-120"/>
              </a:rPr>
              <a:t>166 câu sai ít nhất một âm tiết. Trong nhóm này, tỷ lệ tìm đúng ở top-10 tụt từ 94,58% xuống 89,76%: mất 9 câu, được 1 câu.</a:t>
            </a:r>
            <a:endParaRPr lang="en-US" sz="1500" dirty="0"/>
          </a:p>
        </p:txBody>
      </p:sp>
      <p:sp>
        <p:nvSpPr>
          <p:cNvPr id="18" name="Text 15"/>
          <p:cNvSpPr txBox="1"/>
          <p:nvPr/>
        </p:nvSpPr>
        <p:spPr>
          <a:xfrm>
            <a:off x="5989320" y="1783080"/>
            <a:ext cx="4572000" cy="274320"/>
          </a:xfrm>
          <a:prstGeom prst="rect">
            <a:avLst/>
          </a:prstGeom>
          <a:noFill/>
          <a:ln/>
        </p:spPr>
        <p:txBody>
          <a:bodyPr wrap="square" lIns="0" tIns="0" rIns="0" bIns="0" rtlCol="0" anchor="ctr"/>
          <a:lstStyle/>
          <a:p>
            <a:pPr indent="0" marL="0">
              <a:buNone/>
            </a:pPr>
            <a:r>
              <a:rPr lang="en-US" sz="1200" b="1" dirty="0">
                <a:solidFill>
                  <a:srgbClr val="1B6E5A"/>
                </a:solidFill>
                <a:latin typeface="Consolas" pitchFamily="34" charset="0"/>
                <a:ea typeface="Consolas" pitchFamily="34" charset="-122"/>
                <a:cs typeface="Consolas" pitchFamily="34" charset="-120"/>
              </a:rPr>
              <a:t>CÂU GÕ NỬA DẤU</a:t>
            </a:r>
            <a:endParaRPr lang="en-US" sz="1200" dirty="0"/>
          </a:p>
        </p:txBody>
      </p:sp>
      <p:graphicFrame>
        <p:nvGraphicFramePr>
          <p:cNvPr id="19" name="Chart 0" descr=""/>
          <p:cNvGraphicFramePr/>
          <p:nvPr/>
        </p:nvGraphicFramePr>
        <p:xfrm>
          <a:off x="5989320" y="2103120"/>
          <a:ext cx="5608015" cy="3520440"/>
        </p:xfrm>
        <a:graphic xmlns:a="http://schemas.openxmlformats.org/drawingml/2006/main">
          <a:graphicData uri="http://schemas.openxmlformats.org/drawingml/2006/chart">
            <c:chart xmlns:c="http://schemas.openxmlformats.org/drawingml/2006/chart" r:id="rId1"/>
          </a:graphicData>
        </a:graphic>
      </p:graphicFrame>
      <p:sp>
        <p:nvSpPr>
          <p:cNvPr id="20" name="Text 16"/>
          <p:cNvSpPr txBox="1"/>
          <p:nvPr/>
        </p:nvSpPr>
        <p:spPr>
          <a:xfrm>
            <a:off x="6126480" y="5623560"/>
            <a:ext cx="3657600" cy="237744"/>
          </a:xfrm>
          <a:prstGeom prst="rect">
            <a:avLst/>
          </a:prstGeom>
          <a:noFill/>
          <a:ln/>
        </p:spPr>
        <p:txBody>
          <a:bodyPr wrap="square" lIns="0" tIns="0" rIns="0" bIns="0" rtlCol="0" anchor="ctr"/>
          <a:lstStyle/>
          <a:p>
            <a:pPr indent="0" marL="0">
              <a:buNone/>
            </a:pPr>
            <a:r>
              <a:rPr lang="en-US" sz="1100" i="1" dirty="0">
                <a:solidFill>
                  <a:srgbClr val="77858E"/>
                </a:solidFill>
                <a:latin typeface="Calibri" pitchFamily="34" charset="0"/>
                <a:ea typeface="Calibri" pitchFamily="34" charset="-122"/>
                <a:cs typeface="Calibri" pitchFamily="34" charset="-120"/>
              </a:rPr>
              <a:t>Recall@10 của hệ hợp nhất (%)</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22C"/>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9FC2DB"/>
                </a:solidFill>
                <a:latin typeface="Consolas" pitchFamily="34" charset="0"/>
                <a:ea typeface="Consolas" pitchFamily="34" charset="-122"/>
                <a:cs typeface="Consolas" pitchFamily="34" charset="-120"/>
              </a:rPr>
              <a:t>KẾT LUẬN  ·  15</a:t>
            </a:r>
            <a:endParaRPr lang="en-US" sz="1100" dirty="0"/>
          </a:p>
        </p:txBody>
      </p:sp>
      <p:sp>
        <p:nvSpPr>
          <p:cNvPr id="3" name="Text 1"/>
          <p:cNvSpPr txBox="1"/>
          <p:nvPr/>
        </p:nvSpPr>
        <p:spPr>
          <a:xfrm>
            <a:off x="594360" y="585216"/>
            <a:ext cx="11002975"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Ba điều nhóm rút ra</a:t>
            </a:r>
            <a:endParaRPr lang="en-US" sz="3200" dirty="0"/>
          </a:p>
        </p:txBody>
      </p:sp>
      <p:sp>
        <p:nvSpPr>
          <p:cNvPr id="4" name="Text 2"/>
          <p:cNvSpPr txBox="1"/>
          <p:nvPr/>
        </p:nvSpPr>
        <p:spPr>
          <a:xfrm>
            <a:off x="594360" y="1783080"/>
            <a:ext cx="3423818" cy="914400"/>
          </a:xfrm>
          <a:prstGeom prst="rect">
            <a:avLst/>
          </a:prstGeom>
          <a:noFill/>
          <a:ln/>
        </p:spPr>
        <p:txBody>
          <a:bodyPr wrap="square" lIns="0" tIns="0" rIns="0" bIns="0" rtlCol="0" anchor="ctr"/>
          <a:lstStyle/>
          <a:p>
            <a:pPr indent="0" marL="0">
              <a:buNone/>
            </a:pPr>
            <a:r>
              <a:rPr lang="en-US" sz="4800" b="1" dirty="0">
                <a:solidFill>
                  <a:srgbClr val="9FC2DB"/>
                </a:solidFill>
                <a:latin typeface="Cambria" pitchFamily="34" charset="0"/>
                <a:ea typeface="Cambria" pitchFamily="34" charset="-122"/>
                <a:cs typeface="Cambria" pitchFamily="34" charset="-120"/>
              </a:rPr>
              <a:t>+0,51</a:t>
            </a:r>
            <a:endParaRPr lang="en-US" sz="4800" dirty="0"/>
          </a:p>
        </p:txBody>
      </p:sp>
      <p:sp>
        <p:nvSpPr>
          <p:cNvPr id="5" name="Text 3"/>
          <p:cNvSpPr txBox="1"/>
          <p:nvPr/>
        </p:nvSpPr>
        <p:spPr>
          <a:xfrm>
            <a:off x="594360" y="2788920"/>
            <a:ext cx="3423818" cy="274320"/>
          </a:xfrm>
          <a:prstGeom prst="rect">
            <a:avLst/>
          </a:prstGeom>
          <a:noFill/>
          <a:ln/>
        </p:spPr>
        <p:txBody>
          <a:bodyPr wrap="square" lIns="0" tIns="0" rIns="0" bIns="0" rtlCol="0" anchor="ctr"/>
          <a:lstStyle/>
          <a:p>
            <a:pPr indent="0" marL="0">
              <a:buNone/>
            </a:pPr>
            <a:r>
              <a:rPr lang="en-US" sz="1200" b="1" dirty="0">
                <a:solidFill>
                  <a:srgbClr val="C9D6DF"/>
                </a:solidFill>
                <a:latin typeface="Consolas" pitchFamily="34" charset="0"/>
                <a:ea typeface="Consolas" pitchFamily="34" charset="-122"/>
                <a:cs typeface="Consolas" pitchFamily="34" charset="-120"/>
              </a:rPr>
              <a:t>CH1  ·  CÂU CÓ DẤU</a:t>
            </a:r>
            <a:endParaRPr lang="en-US" sz="1200" dirty="0"/>
          </a:p>
        </p:txBody>
      </p:sp>
      <p:sp>
        <p:nvSpPr>
          <p:cNvPr id="6" name="Text 4"/>
          <p:cNvSpPr txBox="1"/>
          <p:nvPr/>
        </p:nvSpPr>
        <p:spPr>
          <a:xfrm>
            <a:off x="594360" y="3154680"/>
            <a:ext cx="3423818"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Hợp nhất chỉ hơn ngữ nghĩa 4 câu trên 788. BM25 vẫn đáng giữ vì nhanh và giải thích được.</a:t>
            </a:r>
            <a:endParaRPr lang="en-US" sz="1600" dirty="0"/>
          </a:p>
        </p:txBody>
      </p:sp>
      <p:sp>
        <p:nvSpPr>
          <p:cNvPr id="7" name="Text 5"/>
          <p:cNvSpPr txBox="1"/>
          <p:nvPr/>
        </p:nvSpPr>
        <p:spPr>
          <a:xfrm>
            <a:off x="4383938" y="1783080"/>
            <a:ext cx="3423818" cy="914400"/>
          </a:xfrm>
          <a:prstGeom prst="rect">
            <a:avLst/>
          </a:prstGeom>
          <a:noFill/>
          <a:ln/>
        </p:spPr>
        <p:txBody>
          <a:bodyPr wrap="square" lIns="0" tIns="0" rIns="0" bIns="0" rtlCol="0" anchor="ctr"/>
          <a:lstStyle/>
          <a:p>
            <a:pPr indent="0" marL="0">
              <a:buNone/>
            </a:pPr>
            <a:r>
              <a:rPr lang="en-US" sz="4800" b="1" dirty="0">
                <a:solidFill>
                  <a:srgbClr val="7FD1B0"/>
                </a:solidFill>
                <a:latin typeface="Cambria" pitchFamily="34" charset="0"/>
                <a:ea typeface="Cambria" pitchFamily="34" charset="-122"/>
                <a:cs typeface="Cambria" pitchFamily="34" charset="-120"/>
              </a:rPr>
              <a:t>14 → 97</a:t>
            </a:r>
            <a:endParaRPr lang="en-US" sz="4800" dirty="0"/>
          </a:p>
        </p:txBody>
      </p:sp>
      <p:sp>
        <p:nvSpPr>
          <p:cNvPr id="8" name="Text 6"/>
          <p:cNvSpPr txBox="1"/>
          <p:nvPr/>
        </p:nvSpPr>
        <p:spPr>
          <a:xfrm>
            <a:off x="4383938" y="2788920"/>
            <a:ext cx="3423818" cy="274320"/>
          </a:xfrm>
          <a:prstGeom prst="rect">
            <a:avLst/>
          </a:prstGeom>
          <a:noFill/>
          <a:ln/>
        </p:spPr>
        <p:txBody>
          <a:bodyPr wrap="square" lIns="0" tIns="0" rIns="0" bIns="0" rtlCol="0" anchor="ctr"/>
          <a:lstStyle/>
          <a:p>
            <a:pPr indent="0" marL="0">
              <a:buNone/>
            </a:pPr>
            <a:r>
              <a:rPr lang="en-US" sz="1200" b="1" dirty="0">
                <a:solidFill>
                  <a:srgbClr val="C9D6DF"/>
                </a:solidFill>
                <a:latin typeface="Consolas" pitchFamily="34" charset="0"/>
                <a:ea typeface="Consolas" pitchFamily="34" charset="-122"/>
                <a:cs typeface="Consolas" pitchFamily="34" charset="-120"/>
              </a:rPr>
              <a:t>CH2  ·  CÂU MẤT DẤU</a:t>
            </a:r>
            <a:endParaRPr lang="en-US" sz="1200" dirty="0"/>
          </a:p>
        </p:txBody>
      </p:sp>
      <p:sp>
        <p:nvSpPr>
          <p:cNvPr id="9" name="Text 7"/>
          <p:cNvSpPr txBox="1"/>
          <p:nvPr/>
        </p:nvSpPr>
        <p:spPr>
          <a:xfrm>
            <a:off x="4383938" y="3154680"/>
            <a:ext cx="3423818"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Mất dấu thì hệ sụp. Bigram học từ chính kho luật kéo lại gần hết, 0,88 ms mỗi câu.</a:t>
            </a:r>
            <a:endParaRPr lang="en-US" sz="1600" dirty="0"/>
          </a:p>
        </p:txBody>
      </p:sp>
      <p:sp>
        <p:nvSpPr>
          <p:cNvPr id="10" name="Text 8"/>
          <p:cNvSpPr txBox="1"/>
          <p:nvPr/>
        </p:nvSpPr>
        <p:spPr>
          <a:xfrm>
            <a:off x="8173517" y="1783080"/>
            <a:ext cx="3423818" cy="914400"/>
          </a:xfrm>
          <a:prstGeom prst="rect">
            <a:avLst/>
          </a:prstGeom>
          <a:noFill/>
          <a:ln/>
        </p:spPr>
        <p:txBody>
          <a:bodyPr wrap="square" lIns="0" tIns="0" rIns="0" bIns="0" rtlCol="0" anchor="ctr"/>
          <a:lstStyle/>
          <a:p>
            <a:pPr indent="0" marL="0">
              <a:buNone/>
            </a:pPr>
            <a:r>
              <a:rPr lang="en-US" sz="4800" b="1" dirty="0">
                <a:solidFill>
                  <a:srgbClr val="F0A0A6"/>
                </a:solidFill>
                <a:latin typeface="Cambria" pitchFamily="34" charset="0"/>
                <a:ea typeface="Cambria" pitchFamily="34" charset="-122"/>
                <a:cs typeface="Cambria" pitchFamily="34" charset="-120"/>
              </a:rPr>
              <a:t>80%</a:t>
            </a:r>
            <a:endParaRPr lang="en-US" sz="4800" dirty="0"/>
          </a:p>
        </p:txBody>
      </p:sp>
      <p:sp>
        <p:nvSpPr>
          <p:cNvPr id="11" name="Text 9"/>
          <p:cNvSpPr txBox="1"/>
          <p:nvPr/>
        </p:nvSpPr>
        <p:spPr>
          <a:xfrm>
            <a:off x="8173517" y="2788920"/>
            <a:ext cx="3423818" cy="274320"/>
          </a:xfrm>
          <a:prstGeom prst="rect">
            <a:avLst/>
          </a:prstGeom>
          <a:noFill/>
          <a:ln/>
        </p:spPr>
        <p:txBody>
          <a:bodyPr wrap="square" lIns="0" tIns="0" rIns="0" bIns="0" rtlCol="0" anchor="ctr"/>
          <a:lstStyle/>
          <a:p>
            <a:pPr indent="0" marL="0">
              <a:buNone/>
            </a:pPr>
            <a:r>
              <a:rPr lang="en-US" sz="1200" b="1" dirty="0">
                <a:solidFill>
                  <a:srgbClr val="C9D6DF"/>
                </a:solidFill>
                <a:latin typeface="Consolas" pitchFamily="34" charset="0"/>
                <a:ea typeface="Consolas" pitchFamily="34" charset="-122"/>
                <a:cs typeface="Consolas" pitchFamily="34" charset="-120"/>
              </a:rPr>
              <a:t>RÒ RỈ DỮ LIỆU</a:t>
            </a:r>
            <a:endParaRPr lang="en-US" sz="1200" dirty="0"/>
          </a:p>
        </p:txBody>
      </p:sp>
      <p:sp>
        <p:nvSpPr>
          <p:cNvPr id="12" name="Text 10"/>
          <p:cNvSpPr txBox="1"/>
          <p:nvPr/>
        </p:nvSpPr>
        <p:spPr>
          <a:xfrm>
            <a:off x="8173517" y="3154680"/>
            <a:ext cx="3423818" cy="13716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Mô hình phổ biến nhất đã học tập train Zalo. Đọc model card trước khi tin một con số benchmark.</a:t>
            </a:r>
            <a:endParaRPr lang="en-US" sz="1600" dirty="0"/>
          </a:p>
        </p:txBody>
      </p:sp>
      <p:sp>
        <p:nvSpPr>
          <p:cNvPr id="13" name="Text 11"/>
          <p:cNvSpPr txBox="1"/>
          <p:nvPr/>
        </p:nvSpPr>
        <p:spPr>
          <a:xfrm>
            <a:off x="594360" y="4892040"/>
            <a:ext cx="11002975" cy="548640"/>
          </a:xfrm>
          <a:prstGeom prst="rect">
            <a:avLst/>
          </a:prstGeom>
          <a:noFill/>
          <a:ln/>
        </p:spPr>
        <p:txBody>
          <a:bodyPr wrap="square" lIns="0" tIns="0" rIns="0" bIns="0" rtlCol="0" anchor="t"/>
          <a:lstStyle/>
          <a:p>
            <a:pPr indent="0" marL="0">
              <a:buNone/>
            </a:pPr>
            <a:r>
              <a:rPr lang="en-US" sz="1300" dirty="0">
                <a:solidFill>
                  <a:srgbClr val="9AA8B2"/>
                </a:solidFill>
                <a:latin typeface="Calibri" pitchFamily="34" charset="0"/>
                <a:ea typeface="Calibri" pitchFamily="34" charset="-122"/>
                <a:cs typeface="Calibri" pitchFamily="34" charset="-120"/>
              </a:rPr>
              <a:t>Giới hạn: câu không dấu và nửa dấu do máy tạo, chưa có câu người thật gõ  ·  nhãn không đầy đủ nên Recall là cận dưới  ·  mỗi cấu hình một seed</a:t>
            </a:r>
            <a:endParaRPr lang="en-US" sz="1300" dirty="0"/>
          </a:p>
        </p:txBody>
      </p:sp>
      <p:sp>
        <p:nvSpPr>
          <p:cNvPr id="14" name="Text 12"/>
          <p:cNvSpPr txBox="1"/>
          <p:nvPr/>
        </p:nvSpPr>
        <p:spPr>
          <a:xfrm>
            <a:off x="594360" y="5715000"/>
            <a:ext cx="11002975" cy="411480"/>
          </a:xfrm>
          <a:prstGeom prst="rect">
            <a:avLst/>
          </a:prstGeom>
          <a:noFill/>
          <a:ln/>
        </p:spPr>
        <p:txBody>
          <a:bodyPr wrap="square" lIns="0" tIns="0" rIns="0" bIns="0" rtlCol="0" anchor="ctr"/>
          <a:lstStyle/>
          <a:p>
            <a:pPr algn="r" indent="0" marL="0">
              <a:buNone/>
            </a:pPr>
            <a:r>
              <a:rPr lang="en-US" sz="1800" b="1" dirty="0">
                <a:solidFill>
                  <a:srgbClr val="FFFFFF"/>
                </a:solidFill>
                <a:latin typeface="Calibri" pitchFamily="34" charset="0"/>
                <a:ea typeface="Calibri" pitchFamily="34" charset="-122"/>
                <a:cs typeface="Calibri" pitchFamily="34" charset="-120"/>
              </a:rPr>
              <a:t>Tiếp theo: demo trên Kaggle  →</a:t>
            </a:r>
            <a:endParaRPr lang="en-US" sz="1800" dirty="0"/>
          </a:p>
        </p:txBody>
      </p:sp>
      <p:sp>
        <p:nvSpPr>
          <p:cNvPr id="15" name="Text 1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9AA8B2"/>
                </a:solidFill>
                <a:latin typeface="Consolas" pitchFamily="34" charset="0"/>
                <a:ea typeface="Consolas" pitchFamily="34" charset="-122"/>
                <a:cs typeface="Consolas" pitchFamily="34" charset="-120"/>
              </a:rPr>
              <a:t>15 / 16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9184"/>
            <a:ext cx="5486400" cy="237744"/>
          </a:xfrm>
          <a:prstGeom prst="rect">
            <a:avLst/>
          </a:prstGeom>
          <a:noFill/>
          <a:ln/>
        </p:spPr>
        <p:txBody>
          <a:bodyPr wrap="square" lIns="0" tIns="0" rIns="0" bIns="0" rtlCol="0" anchor="ctr"/>
          <a:lstStyle/>
          <a:p>
            <a:pPr indent="0" marL="0">
              <a:buNone/>
            </a:pPr>
            <a:r>
              <a:rPr lang="en-US" sz="1100" spc="100" kern="0" dirty="0">
                <a:solidFill>
                  <a:srgbClr val="2C5F8A"/>
                </a:solidFill>
                <a:latin typeface="Consolas" pitchFamily="34" charset="0"/>
                <a:ea typeface="Consolas" pitchFamily="34" charset="-122"/>
                <a:cs typeface="Consolas" pitchFamily="34" charset="-120"/>
              </a:rPr>
              <a:t>PHỤ LỤC  ·  16</a:t>
            </a:r>
            <a:endParaRPr lang="en-US" sz="1100" dirty="0"/>
          </a:p>
        </p:txBody>
      </p:sp>
      <p:sp>
        <p:nvSpPr>
          <p:cNvPr id="3" name="Text 1"/>
          <p:cNvSpPr txBox="1"/>
          <p:nvPr/>
        </p:nvSpPr>
        <p:spPr>
          <a:xfrm>
            <a:off x="594360" y="585216"/>
            <a:ext cx="11002975" cy="868680"/>
          </a:xfrm>
          <a:prstGeom prst="rect">
            <a:avLst/>
          </a:prstGeom>
          <a:noFill/>
          <a:ln/>
        </p:spPr>
        <p:txBody>
          <a:bodyPr wrap="square" lIns="0" tIns="0" rIns="0" bIns="0" rtlCol="0" anchor="t"/>
          <a:lstStyle/>
          <a:p>
            <a:pPr indent="0" marL="0">
              <a:lnSpc>
                <a:spcPct val="95000"/>
              </a:lnSpc>
              <a:buNone/>
            </a:pPr>
            <a:r>
              <a:rPr lang="en-US" sz="2800" b="1" dirty="0">
                <a:solidFill>
                  <a:srgbClr val="16222C"/>
                </a:solidFill>
                <a:latin typeface="Cambria" pitchFamily="34" charset="0"/>
                <a:ea typeface="Cambria" pitchFamily="34" charset="-122"/>
                <a:cs typeface="Cambria" pitchFamily="34" charset="-120"/>
              </a:rPr>
              <a:t>Tài liệu tham khảo</a:t>
            </a:r>
            <a:endParaRPr lang="en-US" sz="2800" dirty="0"/>
          </a:p>
        </p:txBody>
      </p:sp>
      <p:sp>
        <p:nvSpPr>
          <p:cNvPr id="4" name="Text 2"/>
          <p:cNvSpPr txBox="1"/>
          <p:nvPr/>
        </p:nvSpPr>
        <p:spPr>
          <a:xfrm>
            <a:off x="594360" y="6473952"/>
            <a:ext cx="7315200" cy="219456"/>
          </a:xfrm>
          <a:prstGeom prst="rect">
            <a:avLst/>
          </a:prstGeom>
          <a:noFill/>
          <a:ln/>
        </p:spPr>
        <p:txBody>
          <a:bodyPr wrap="square" lIns="0" tIns="0" rIns="0" bIns="0" rtlCol="0" anchor="ctr"/>
          <a:lstStyle/>
          <a:p>
            <a:pPr indent="0" marL="0">
              <a:buNone/>
            </a:pPr>
            <a:r>
              <a:rPr lang="en-US" sz="1000" dirty="0">
                <a:solidFill>
                  <a:srgbClr val="77858E"/>
                </a:solidFill>
                <a:latin typeface="Calibri" pitchFamily="34" charset="0"/>
                <a:ea typeface="Calibri" pitchFamily="34" charset="-122"/>
                <a:cs typeface="Calibri" pitchFamily="34" charset="-120"/>
              </a:rPr>
              <a:t>Nhóm 09  ·  Tìm kiếm điều luật tiếng Việt cho câu hỏi gõ thiếu dấu</a:t>
            </a:r>
            <a:endParaRPr lang="en-US" sz="1000" dirty="0"/>
          </a:p>
        </p:txBody>
      </p:sp>
      <p:sp>
        <p:nvSpPr>
          <p:cNvPr id="5" name="Text 3"/>
          <p:cNvSpPr txBox="1"/>
          <p:nvPr/>
        </p:nvSpPr>
        <p:spPr>
          <a:xfrm>
            <a:off x="10225735" y="6473952"/>
            <a:ext cx="1371600" cy="219456"/>
          </a:xfrm>
          <a:prstGeom prst="rect">
            <a:avLst/>
          </a:prstGeom>
          <a:noFill/>
          <a:ln/>
        </p:spPr>
        <p:txBody>
          <a:bodyPr wrap="square" lIns="0" tIns="0" rIns="0" bIns="0" rtlCol="0" anchor="ctr"/>
          <a:lstStyle/>
          <a:p>
            <a:pPr algn="r" indent="0" marL="0">
              <a:buNone/>
            </a:pPr>
            <a:r>
              <a:rPr lang="en-US" sz="1000" dirty="0">
                <a:solidFill>
                  <a:srgbClr val="77858E"/>
                </a:solidFill>
                <a:latin typeface="Consolas" pitchFamily="34" charset="0"/>
                <a:ea typeface="Consolas" pitchFamily="34" charset="-122"/>
                <a:cs typeface="Consolas" pitchFamily="34" charset="-120"/>
              </a:rPr>
              <a:t>16 / 16</a:t>
            </a:r>
            <a:endParaRPr lang="en-US" sz="1000" dirty="0"/>
          </a:p>
        </p:txBody>
      </p:sp>
      <p:sp>
        <p:nvSpPr>
          <p:cNvPr id="7" name="Text 4"/>
          <p:cNvSpPr txBox="1"/>
          <p:nvPr/>
        </p:nvSpPr>
        <p:spPr>
          <a:xfrm>
            <a:off x="594360" y="1417320"/>
            <a:ext cx="5410048" cy="4937760"/>
          </a:xfrm>
          <a:prstGeom prst="rect">
            <a:avLst/>
          </a:prstGeom>
          <a:noFill/>
          <a:ln/>
        </p:spPr>
        <p:txBody>
          <a:bodyPr wrap="square" lIns="0" tIns="0" rIns="0" bIns="0" rtlCol="0" anchor="t"/>
          <a:lstStyle/>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 Robertson, S., &amp; Zaragoza, H. (2009). The Probabilistic Relevance Framework: BM25 and Beyond. Foundations and Trends in Information Retrieval, 3(4).</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 Cormack, G. V., Clarke, C. L. A., &amp; Büttcher, S. (2009). Reciprocal Rank Fusion Outperforms Condorcet and Individual Rank Learning Methods. SIGIR 2009.</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[3] Karpukhin, V., et al. (2020). Dense Passage Retrieval for Open-Domain Question Answering. EMNLP 2020.</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[4] Nguyen, D. Q., &amp; Nguyen, A. T. (2020). PhoBERT: Pre-trained Language Models for Vietnamese. Findings of EMNLP 2020.</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[5] Gao, L., Zhang, Y., Han, J., &amp; Callan, J. (2021). Scaling Deep Contrastive Learning Batch Size under Memory Limited Setup. RepL4NLP 2021.</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[6] Chen, J., Xiao, S., Zhang, P., Luo, K., Lian, D., &amp; Liu, Z. (2024). BGE M3-Embedding: Multi-Lingual, Multi-Functionality, Multi-Granularity Text Embeddings Through Self-Knowledge Distillation. arXiv:2402.03216.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[7] Bruch, S., Gai, S., &amp; Ingber, A. (2023). An Analysis of Fusion Functions for Hybrid Retrieval. ACM Transactions on Information Systems, 42(1).</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[8] Rosa, G. M., Rodrigues, R. C., Lotufo, R., &amp; Nogueira, R. (2021). Yes, BM25 is a Strong Baseline for Legal Case Retrieval. arXiv:2105.05686.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[9] Pham, N.-M., Nguyen, H.-T., &amp; Do, T.-H. (2022). Multi-stage Information Retrieval for Vietnamese Legal Texts. PKAW 2022. arXiv:2209.14494.</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[10] Nguyen Hoang Gia Khang, Nguyen Minh Nhat, Trung Nguyen Quoc, &amp; Vinh Truong Hoang (2024). Vietnamese Legal Text Retrieval based on Sparse and Dense Retrieval approaches. Procedia Computer Science.</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[11] Nguyen Ba, T., Doan The, V., Pham Quang, T., &amp; Tran Van, T. (2024). Vietnamese Legal Information Retrieval in Question-Answering System. arXiv:2409.13699.</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[12] Pham Tien, S., Nguyen Doan, H., Nguyen Dai, A., &amp; Dinh Viet, S. (2024). Improving Vietnamese Legal Document Retrieval using Synthetic Data. arXiv:2412.00657.</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[13] Le, V.-H., Nguyen, D.-V., Nguyen, K. V., &amp; Nguyen, N. L.-T. (2025). Optimizing Legal Document Retrieval in Vietnamese with Semi-Hard Negative Mining. ICCCI 2025. arXiv:2507.14619.</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[14] Giang, N. T., Duc, T. M., Dang, N. M., &amp; Trang, N. T. M. (2026). Optimizing Retrieval Strategies for Vietnamese Legal RAG Systems. CIT&amp;DS 2025, CCIS vol. 2803, Springer.</a:t>
            </a:r>
            <a:endParaRPr lang="en-US" sz="950" dirty="0"/>
          </a:p>
        </p:txBody>
      </p:sp>
      <p:sp>
        <p:nvSpPr>
          <p:cNvPr id="8" name="Text 5"/>
          <p:cNvSpPr txBox="1"/>
          <p:nvPr/>
        </p:nvSpPr>
        <p:spPr>
          <a:xfrm>
            <a:off x="6187288" y="1417320"/>
            <a:ext cx="5410048" cy="4937760"/>
          </a:xfrm>
          <a:prstGeom prst="rect">
            <a:avLst/>
          </a:prstGeom>
          <a:noFill/>
          <a:ln/>
        </p:spPr>
        <p:txBody>
          <a:bodyPr wrap="square" lIns="0" tIns="0" rIns="0" bIns="0" rtlCol="0" anchor="t"/>
          <a:lstStyle/>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[15] Tran, D. X., Truong, T. D., &amp; Nguyen, K. C. (2025). ViDRILL: A Multi-Stage Retrieval Framework for Vietnamese Legal Document Search. VLSP 2025, tr. 120-126.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[16] Nguyen, C., et al. (2023). A Summary of the ALQAC 2023 Competition. KSE 2023.</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[17] Nguyen, L. S. T., &amp; Quan, T. T. (2026). Which Works Best for Vietnamese? A Practical Study of Information Retrieval Methods across Domains. Findings of EACL 2026.</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[18] Enevoldsen, K., et al. (2025). MMTEB: Massive Multilingual Text Embedding Benchmark. ICLR 2025.</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[19] Chung, I., Kerboua, I., Kardos, M., Solomatin, R., &amp; Enevoldsen, K. (2025). Maintaining MTEB: Towards Long Term Usability and Reproducibility of Embedding Benchmarks. arXiv:2506.21182.</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[20] CuongNN218. zalo_ltr_2021: Source code for Zalo AI 2021 submission. https://github.com/CuongNN218/zalo_ltr_2021</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[21] hieudx149. ZaloAI2021_LTR. https://github.com/hieudx149/ZaloAI2021_LTR</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[22] BKAI Foundation Models. vietnamese-bi-encoder (model card). https://huggingface.co/bkai-foundation-models/vietnamese-bi-encoder</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[23] darklethelong. vnlegal-lal (model card). https://huggingface.co/darklethelong/vnlegal-lal</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[24] AITeamVN. Vietnamese_Embedding (model card). https://huggingface.co/AITeamVN/Vietnamese_Embedding</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[25] Pham, T.-H., Pham, X.-K., &amp; Le-Hong, P. (2017). On the Use of Machine Translation-Based Approaches for Vietnamese Diacritic Restoration. IALP 2017. arXiv:1709.07104.</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[26] Le-Hong, P. (2021). Diacritics Generation and Application in Hate Speech Detection on Vietnamese Social Networks. Knowledge-Based Systems, 233.</a:t>
            </a:r>
            <a:endParaRPr lang="en-US" sz="950" dirty="0"/>
          </a:p>
          <a:p>
            <a:pPr indent="0" marL="0">
              <a:spcAft>
                <a:spcPts val="250"/>
              </a:spcAft>
              <a:buNone/>
            </a:pPr>
            <a:r>
              <a:rPr lang="en-US" sz="950" dirty="0">
                <a:solidFill>
                  <a:srgbClr val="46545F"/>
                </a:solidFill>
                <a:latin typeface="Calibri" pitchFamily="34" charset="0"/>
                <a:ea typeface="Calibri" pitchFamily="34" charset="-122"/>
                <a:cs typeface="Calibri" pitchFamily="34" charset="-120"/>
              </a:rPr>
              <a:t>[27] GreenNode. zalo-ai-legal-text-retrieval-vn (dataset card). https://huggingface.co/datasets/GreenNode/zalo-ai-legal-text-retrieval-vn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tieng Viet cho cau hoi go thieu dau</dc:title>
  <dc:subject>PptxGenJS Presentation</dc:subject>
  <dc:creator>Nhom 09</dc:creator>
  <cp:lastModifiedBy>Nhom 09</cp:lastModifiedBy>
  <cp:revision>1</cp:revision>
  <dcterms:created xsi:type="dcterms:W3CDTF">2026-09-22T02:27:58Z</dcterms:created>
  <dcterms:modified xsi:type="dcterms:W3CDTF">2026-09-22T02:27:58Z</dcterms:modified>
</cp:coreProperties>
</file>